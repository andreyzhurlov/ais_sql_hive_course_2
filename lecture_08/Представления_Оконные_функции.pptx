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453" r:id="rId3"/>
    <p:sldId id="455" r:id="rId4"/>
    <p:sldId id="456" r:id="rId5"/>
    <p:sldId id="444" r:id="rId6"/>
    <p:sldId id="445" r:id="rId7"/>
    <p:sldId id="446" r:id="rId8"/>
    <p:sldId id="458" r:id="rId9"/>
    <p:sldId id="447" r:id="rId10"/>
    <p:sldId id="448" r:id="rId11"/>
    <p:sldId id="449" r:id="rId12"/>
    <p:sldId id="450" r:id="rId13"/>
    <p:sldId id="451" r:id="rId14"/>
    <p:sldId id="452" r:id="rId15"/>
    <p:sldId id="457" r:id="rId16"/>
    <p:sldId id="425" r:id="rId17"/>
    <p:sldId id="429" r:id="rId18"/>
    <p:sldId id="430" r:id="rId19"/>
    <p:sldId id="431" r:id="rId20"/>
    <p:sldId id="432" r:id="rId21"/>
    <p:sldId id="433" r:id="rId22"/>
    <p:sldId id="434" r:id="rId23"/>
    <p:sldId id="435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59" r:id="rId33"/>
    <p:sldId id="463" r:id="rId34"/>
    <p:sldId id="460" r:id="rId35"/>
    <p:sldId id="461" r:id="rId36"/>
    <p:sldId id="464" r:id="rId37"/>
    <p:sldId id="462" r:id="rId38"/>
    <p:sldId id="465" r:id="rId39"/>
    <p:sldId id="469" r:id="rId40"/>
    <p:sldId id="466" r:id="rId41"/>
    <p:sldId id="467" r:id="rId42"/>
    <p:sldId id="468" r:id="rId43"/>
    <p:sldId id="470" r:id="rId44"/>
    <p:sldId id="471" r:id="rId45"/>
    <p:sldId id="472" r:id="rId46"/>
    <p:sldId id="473" r:id="rId47"/>
    <p:sldId id="474" r:id="rId48"/>
    <p:sldId id="475" r:id="rId49"/>
    <p:sldId id="476" r:id="rId50"/>
    <p:sldId id="477" r:id="rId51"/>
    <p:sldId id="478" r:id="rId52"/>
    <p:sldId id="479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831" autoAdjust="0"/>
    <p:restoredTop sz="94660"/>
  </p:normalViewPr>
  <p:slideViewPr>
    <p:cSldViewPr snapToGrid="0">
      <p:cViewPr>
        <p:scale>
          <a:sx n="75" d="100"/>
          <a:sy n="75" d="100"/>
        </p:scale>
        <p:origin x="-1471" y="-52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postgrespro.ru/docs/postgresql/16/sql-select" TargetMode="External"/><Relationship Id="rId2" Type="http://schemas.openxmlformats.org/officeDocument/2006/relationships/hyperlink" Target="https://postgrespro.ru/docs/postgresql/16/tutorial-window" TargetMode="External"/><Relationship Id="rId1" Type="http://schemas.openxmlformats.org/officeDocument/2006/relationships/image" Target="../media/image15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7.jpeg"/><Relationship Id="rId1" Type="http://schemas.openxmlformats.org/officeDocument/2006/relationships/image" Target="../media/image16.jpe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image" Target="../media/image17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jpe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image" Target="../media/image21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image" Target="../media/image24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8.jpeg"/><Relationship Id="rId1" Type="http://schemas.openxmlformats.org/officeDocument/2006/relationships/image" Target="../media/image27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858000"/>
            <a:chOff x="0" y="0"/>
            <a:chExt cx="9144000" cy="514350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4415" y="1028700"/>
              <a:ext cx="1028699" cy="1008041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2206171" y="3199648"/>
            <a:ext cx="486228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600" b="1" dirty="0" smtClean="0">
                <a:solidFill>
                  <a:srgbClr val="FFFFFF"/>
                </a:solidFill>
                <a:latin typeface="Times New Roman" panose="02020603050405020304"/>
                <a:cs typeface="Times New Roman" panose="02020603050405020304"/>
              </a:rPr>
              <a:t>Представления - </a:t>
            </a:r>
            <a:r>
              <a:rPr lang="en-US" sz="3600" b="1" dirty="0" smtClean="0">
                <a:solidFill>
                  <a:srgbClr val="FFFFFF"/>
                </a:solidFill>
                <a:latin typeface="Times New Roman" panose="02020603050405020304"/>
                <a:cs typeface="Times New Roman" panose="02020603050405020304"/>
              </a:rPr>
              <a:t>View</a:t>
            </a:r>
            <a:endParaRPr sz="36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9790" y="1688015"/>
            <a:ext cx="123111" cy="2407919"/>
          </a:xfrm>
          <a:prstGeom prst="rect">
            <a:avLst/>
          </a:prstGeom>
        </p:spPr>
        <p:txBody>
          <a:bodyPr vert="vert270" wrap="square" lIns="0" tIns="1968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55"/>
              </a:spcBef>
            </a:pPr>
            <a:r>
              <a:rPr sz="800" spc="-4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СМОТРИ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В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1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БУДУЩЕЕ.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2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ИНВЕСТИРУЙ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5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В</a:t>
            </a:r>
            <a:r>
              <a:rPr sz="800" spc="-1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ЗНАНИЯ.</a:t>
            </a:r>
            <a:endParaRPr sz="800">
              <a:latin typeface="Microsoft JhengHei Light" panose="020B0304030504040204" charset="-120"/>
              <a:cs typeface="Microsoft JhengHei Light" panose="020B030403050404020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6078" y="118384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97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Представления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3587" y="276351"/>
            <a:ext cx="33528" cy="44500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32232" y="1110487"/>
            <a:ext cx="6787515" cy="472244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9565" marR="398780" indent="-317500">
              <a:lnSpc>
                <a:spcPct val="100000"/>
              </a:lnSpc>
              <a:spcBef>
                <a:spcPts val="600"/>
              </a:spcBef>
              <a:buFont typeface="Microsoft Sans Serif" panose="020B0604020202020204"/>
              <a:buChar char="●"/>
              <a:tabLst>
                <a:tab pos="329565" algn="l"/>
              </a:tabLst>
            </a:pPr>
            <a:r>
              <a:rPr sz="1400" b="1" spc="-10" dirty="0">
                <a:latin typeface="Arial" panose="020B0604020202020204"/>
                <a:cs typeface="Arial" panose="020B0604020202020204"/>
              </a:rPr>
              <a:t>Представление</a:t>
            </a:r>
            <a:r>
              <a:rPr sz="14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для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пользователей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базы</a:t>
            </a:r>
            <a:r>
              <a:rPr sz="1400" spc="-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данных выглядит</a:t>
            </a:r>
            <a:r>
              <a:rPr sz="1400" spc="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как</a:t>
            </a:r>
            <a:r>
              <a:rPr sz="1400" spc="-1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таблица, однако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на</a:t>
            </a:r>
            <a:r>
              <a:rPr sz="1400" spc="-1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самом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деле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его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содержимое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формируется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>
                <a:latin typeface="Microsoft Sans Serif" panose="020B0604020202020204"/>
                <a:cs typeface="Microsoft Sans Serif" panose="020B0604020202020204"/>
              </a:rPr>
              <a:t>запросом</a:t>
            </a:r>
            <a:r>
              <a:rPr sz="1400" spc="-10" smtClean="0">
                <a:latin typeface="Microsoft Sans Serif" panose="020B0604020202020204"/>
                <a:cs typeface="Microsoft Sans Serif" panose="020B0604020202020204"/>
              </a:rPr>
              <a:t>.</a:t>
            </a:r>
            <a:br>
              <a:rPr lang="en-US" sz="1400" spc="-10" dirty="0" smtClean="0">
                <a:latin typeface="Microsoft Sans Serif" panose="020B0604020202020204"/>
                <a:cs typeface="Microsoft Sans Serif" panose="020B0604020202020204"/>
              </a:rPr>
            </a:b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 indent="-316865">
              <a:lnSpc>
                <a:spcPct val="100000"/>
              </a:lnSpc>
              <a:spcBef>
                <a:spcPts val="600"/>
              </a:spcBef>
              <a:buChar char="●"/>
              <a:tabLst>
                <a:tab pos="329565" algn="l"/>
              </a:tabLst>
            </a:pP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Физически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данные,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виртуально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принадлежащие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представлению,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находятся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в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>
              <a:lnSpc>
                <a:spcPct val="100000"/>
              </a:lnSpc>
              <a:spcBef>
                <a:spcPts val="600"/>
              </a:spcBef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таблицах,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к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которым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обращается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этот</a:t>
            </a:r>
            <a:r>
              <a:rPr sz="1400" spc="-5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>
                <a:latin typeface="Microsoft Sans Serif" panose="020B0604020202020204"/>
                <a:cs typeface="Microsoft Sans Serif" panose="020B0604020202020204"/>
              </a:rPr>
              <a:t>запрос</a:t>
            </a:r>
            <a:r>
              <a:rPr sz="1400" spc="-10" smtClean="0">
                <a:latin typeface="Microsoft Sans Serif" panose="020B0604020202020204"/>
                <a:cs typeface="Microsoft Sans Serif" panose="020B0604020202020204"/>
              </a:rPr>
              <a:t>.</a:t>
            </a:r>
            <a:br>
              <a:rPr lang="en-US" sz="1400" spc="-10" dirty="0" smtClean="0">
                <a:latin typeface="Microsoft Sans Serif" panose="020B0604020202020204"/>
                <a:cs typeface="Microsoft Sans Serif" panose="020B0604020202020204"/>
              </a:rPr>
            </a:b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 marR="177800" indent="-317500">
              <a:lnSpc>
                <a:spcPct val="100000"/>
              </a:lnSpc>
              <a:spcBef>
                <a:spcPts val="600"/>
              </a:spcBef>
              <a:buChar char="●"/>
              <a:tabLst>
                <a:tab pos="329565" algn="l"/>
              </a:tabLst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Имя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представления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должно</a:t>
            </a:r>
            <a:r>
              <a:rPr sz="1400" spc="-6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отличаться</a:t>
            </a:r>
            <a:r>
              <a:rPr sz="1400" spc="-6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от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имён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других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представлений,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таблиц,</a:t>
            </a:r>
            <a:r>
              <a:rPr sz="1400" spc="-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последовательностей, индексов</a:t>
            </a:r>
            <a:r>
              <a:rPr sz="1400" spc="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или</a:t>
            </a:r>
            <a:r>
              <a:rPr sz="1400" spc="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сторонних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таблиц</a:t>
            </a:r>
            <a:r>
              <a:rPr sz="1400" spc="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в</a:t>
            </a:r>
            <a:r>
              <a:rPr sz="1400" spc="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той</a:t>
            </a:r>
            <a:r>
              <a:rPr sz="1400" spc="1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схеме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данных,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где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оно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>
                <a:latin typeface="Microsoft Sans Serif" panose="020B0604020202020204"/>
                <a:cs typeface="Microsoft Sans Serif" panose="020B0604020202020204"/>
              </a:rPr>
              <a:t>создаётся</a:t>
            </a:r>
            <a:r>
              <a:rPr sz="1400" spc="-10" smtClean="0">
                <a:latin typeface="Microsoft Sans Serif" panose="020B0604020202020204"/>
                <a:cs typeface="Microsoft Sans Serif" panose="020B0604020202020204"/>
              </a:rPr>
              <a:t>.</a:t>
            </a:r>
            <a:br>
              <a:rPr lang="en-US" sz="1400" spc="-10" dirty="0" smtClean="0">
                <a:latin typeface="Microsoft Sans Serif" panose="020B0604020202020204"/>
                <a:cs typeface="Microsoft Sans Serif" panose="020B0604020202020204"/>
              </a:rPr>
            </a:b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 indent="-316865">
              <a:lnSpc>
                <a:spcPct val="100000"/>
              </a:lnSpc>
              <a:spcBef>
                <a:spcPts val="600"/>
              </a:spcBef>
              <a:buChar char="●"/>
              <a:tabLst>
                <a:tab pos="329565" algn="l"/>
              </a:tabLst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При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анализе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запроса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нет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абсолютно</a:t>
            </a:r>
            <a:r>
              <a:rPr sz="1400" spc="-5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никакой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разницы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между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таблицами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50" dirty="0">
                <a:latin typeface="Microsoft Sans Serif" panose="020B0604020202020204"/>
                <a:cs typeface="Microsoft Sans Serif" panose="020B0604020202020204"/>
              </a:rPr>
              <a:t>и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>
              <a:lnSpc>
                <a:spcPct val="100000"/>
              </a:lnSpc>
              <a:spcBef>
                <a:spcPts val="600"/>
              </a:spcBef>
            </a:pPr>
            <a:r>
              <a:rPr sz="1400" spc="-10">
                <a:latin typeface="Microsoft Sans Serif" panose="020B0604020202020204"/>
                <a:cs typeface="Microsoft Sans Serif" panose="020B0604020202020204"/>
              </a:rPr>
              <a:t>представлениями</a:t>
            </a:r>
            <a:r>
              <a:rPr sz="1400" spc="-10" smtClean="0">
                <a:latin typeface="Microsoft Sans Serif" panose="020B0604020202020204"/>
                <a:cs typeface="Microsoft Sans Serif" panose="020B0604020202020204"/>
              </a:rPr>
              <a:t>.</a:t>
            </a:r>
            <a:br>
              <a:rPr lang="en-US" sz="1400" spc="-10" dirty="0" smtClean="0">
                <a:latin typeface="Microsoft Sans Serif" panose="020B0604020202020204"/>
                <a:cs typeface="Microsoft Sans Serif" panose="020B0604020202020204"/>
              </a:rPr>
            </a:b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 marR="393065" indent="-317500">
              <a:lnSpc>
                <a:spcPct val="100000"/>
              </a:lnSpc>
              <a:spcBef>
                <a:spcPts val="600"/>
              </a:spcBef>
              <a:buChar char="●"/>
              <a:tabLst>
                <a:tab pos="329565" algn="l"/>
              </a:tabLst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Столбец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представления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будет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изменяемым,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 если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это</a:t>
            </a:r>
            <a:r>
              <a:rPr sz="1400" spc="-1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простая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ссылка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на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изменяемый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столбец</a:t>
            </a:r>
            <a:r>
              <a:rPr sz="1400" spc="-5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нижележащего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базового</a:t>
            </a:r>
            <a:r>
              <a:rPr sz="1400" spc="-6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отношения;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в</a:t>
            </a:r>
            <a:r>
              <a:rPr sz="1400" spc="-1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противном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случае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этот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столбец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будет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доступен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только</a:t>
            </a:r>
            <a:r>
              <a:rPr sz="1400" spc="-4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для</a:t>
            </a:r>
            <a:r>
              <a:rPr sz="1400" spc="-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>
                <a:latin typeface="Microsoft Sans Serif" panose="020B0604020202020204"/>
                <a:cs typeface="Microsoft Sans Serif" panose="020B0604020202020204"/>
              </a:rPr>
              <a:t>чтения</a:t>
            </a:r>
            <a:r>
              <a:rPr sz="1400" spc="-10" smtClean="0">
                <a:latin typeface="Microsoft Sans Serif" panose="020B0604020202020204"/>
                <a:cs typeface="Microsoft Sans Serif" panose="020B0604020202020204"/>
              </a:rPr>
              <a:t>.</a:t>
            </a:r>
            <a:br>
              <a:rPr lang="en-US" sz="1400" spc="-10" dirty="0" smtClean="0">
                <a:latin typeface="Microsoft Sans Serif" panose="020B0604020202020204"/>
                <a:cs typeface="Microsoft Sans Serif" panose="020B0604020202020204"/>
              </a:rPr>
            </a:b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 indent="-316865">
              <a:lnSpc>
                <a:spcPct val="100000"/>
              </a:lnSpc>
              <a:spcBef>
                <a:spcPts val="600"/>
              </a:spcBef>
              <a:buChar char="●"/>
              <a:tabLst>
                <a:tab pos="329565" algn="l"/>
              </a:tabLst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Представления,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выбирающие</a:t>
            </a:r>
            <a:r>
              <a:rPr sz="1400" spc="-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данные</a:t>
            </a:r>
            <a:r>
              <a:rPr sz="1400" spc="-4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не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из</a:t>
            </a:r>
            <a:r>
              <a:rPr sz="1400" spc="-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одной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таблицы,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недоступны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для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  <a:p>
            <a:pPr marL="329565">
              <a:lnSpc>
                <a:spcPct val="100000"/>
              </a:lnSpc>
              <a:spcBef>
                <a:spcPts val="600"/>
              </a:spcBef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добавления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или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 изменения</a:t>
            </a:r>
            <a:r>
              <a:rPr sz="1400" spc="-3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данных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92364" y="256269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97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Представления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3587" y="276351"/>
            <a:ext cx="33528" cy="44500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83908" y="1628939"/>
            <a:ext cx="6686891" cy="387862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DROP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VIEW</a:t>
            </a:r>
            <a:r>
              <a:rPr sz="1600" spc="-3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IF</a:t>
            </a:r>
            <a:r>
              <a:rPr sz="1600" spc="-3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EXISTS</a:t>
            </a:r>
            <a:r>
              <a:rPr sz="1600" spc="-3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latin typeface="Courier New" panose="02070309020205020404"/>
                <a:cs typeface="Courier New" panose="02070309020205020404"/>
              </a:rPr>
              <a:t>publications;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600">
              <a:latin typeface="Courier New" panose="02070309020205020404"/>
              <a:cs typeface="Courier New" panose="020703090202050204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CREATE</a:t>
            </a:r>
            <a:r>
              <a:rPr sz="1600" spc="-7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VIEW</a:t>
            </a:r>
            <a:r>
              <a:rPr sz="1600" spc="-8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publications</a:t>
            </a:r>
            <a:r>
              <a:rPr sz="1600" spc="-7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25" dirty="0">
                <a:latin typeface="Courier New" panose="02070309020205020404"/>
                <a:cs typeface="Courier New" panose="02070309020205020404"/>
              </a:rPr>
              <a:t>AS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latin typeface="Courier New" panose="02070309020205020404"/>
                <a:cs typeface="Courier New" panose="02070309020205020404"/>
              </a:rPr>
              <a:t>SELECT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 marL="927100" marR="1431290">
              <a:lnSpc>
                <a:spcPct val="100000"/>
              </a:lnSpc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a.au_lname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AS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solidFill>
                  <a:srgbClr val="9F0F0F"/>
                </a:solidFill>
                <a:latin typeface="Courier New" panose="02070309020205020404"/>
                <a:cs typeface="Courier New" panose="02070309020205020404"/>
              </a:rPr>
              <a:t>"Фамилия"</a:t>
            </a:r>
            <a:r>
              <a:rPr sz="1600" spc="-10" dirty="0">
                <a:latin typeface="Courier New" panose="02070309020205020404"/>
                <a:cs typeface="Courier New" panose="02070309020205020404"/>
              </a:rPr>
              <a:t>,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a.au_fname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AS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solidFill>
                  <a:srgbClr val="9F0F0F"/>
                </a:solidFill>
                <a:latin typeface="Courier New" panose="02070309020205020404"/>
                <a:cs typeface="Courier New" panose="02070309020205020404"/>
              </a:rPr>
              <a:t>"Имя"</a:t>
            </a:r>
            <a:r>
              <a:rPr sz="1600" spc="-10" dirty="0">
                <a:latin typeface="Courier New" panose="02070309020205020404"/>
                <a:cs typeface="Courier New" panose="02070309020205020404"/>
              </a:rPr>
              <a:t>,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t.title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AS</a:t>
            </a:r>
            <a:r>
              <a:rPr sz="1600" spc="-3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solidFill>
                  <a:srgbClr val="9F0F0F"/>
                </a:solidFill>
                <a:latin typeface="Courier New" panose="02070309020205020404"/>
                <a:cs typeface="Courier New" panose="02070309020205020404"/>
              </a:rPr>
              <a:t>"Название</a:t>
            </a:r>
            <a:r>
              <a:rPr sz="1600" spc="-50" dirty="0">
                <a:solidFill>
                  <a:srgbClr val="9F0F0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solidFill>
                  <a:srgbClr val="9F0F0F"/>
                </a:solidFill>
                <a:latin typeface="Courier New" panose="02070309020205020404"/>
                <a:cs typeface="Courier New" panose="02070309020205020404"/>
              </a:rPr>
              <a:t>книги"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 marL="469900">
              <a:lnSpc>
                <a:spcPct val="100000"/>
              </a:lnSpc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FROM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authors</a:t>
            </a:r>
            <a:r>
              <a:rPr sz="1600" spc="-6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50" dirty="0">
                <a:latin typeface="Courier New" panose="02070309020205020404"/>
                <a:cs typeface="Courier New" panose="02070309020205020404"/>
              </a:rPr>
              <a:t>a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 marL="469900" marR="291465">
              <a:lnSpc>
                <a:spcPct val="100000"/>
              </a:lnSpc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JOIN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titleauthor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>
                <a:latin typeface="Courier New" panose="02070309020205020404"/>
                <a:cs typeface="Courier New" panose="02070309020205020404"/>
              </a:rPr>
              <a:t>ta</a:t>
            </a:r>
            <a:r>
              <a:rPr sz="1600" spc="-25">
                <a:latin typeface="Courier New" panose="02070309020205020404"/>
                <a:cs typeface="Courier New" panose="02070309020205020404"/>
              </a:rPr>
              <a:t> </a:t>
            </a:r>
            <a:endParaRPr lang="en-US" sz="1600" spc="-25" dirty="0" smtClean="0">
              <a:latin typeface="Courier New" panose="02070309020205020404"/>
              <a:cs typeface="Courier New" panose="02070309020205020404"/>
            </a:endParaRPr>
          </a:p>
          <a:p>
            <a:pPr marL="469900" marR="291465">
              <a:lnSpc>
                <a:spcPct val="100000"/>
              </a:lnSpc>
            </a:pPr>
            <a:r>
              <a:rPr sz="1600" smtClean="0">
                <a:latin typeface="Courier New" panose="02070309020205020404"/>
                <a:cs typeface="Courier New" panose="02070309020205020404"/>
              </a:rPr>
              <a:t>ON</a:t>
            </a:r>
            <a:r>
              <a:rPr sz="1600" spc="-30" smtClean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a.au_id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b="1" dirty="0">
                <a:solidFill>
                  <a:srgbClr val="ED11FF"/>
                </a:solidFill>
                <a:latin typeface="Courier New" panose="02070309020205020404"/>
                <a:cs typeface="Courier New" panose="02070309020205020404"/>
              </a:rPr>
              <a:t>=</a:t>
            </a:r>
            <a:r>
              <a:rPr sz="1600" b="1" spc="-30" dirty="0">
                <a:solidFill>
                  <a:srgbClr val="ED11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>
                <a:latin typeface="Courier New" panose="02070309020205020404"/>
                <a:cs typeface="Courier New" panose="02070309020205020404"/>
              </a:rPr>
              <a:t>ta.au_id </a:t>
            </a:r>
            <a:endParaRPr lang="en-US" sz="1600" spc="-10" dirty="0" smtClean="0">
              <a:latin typeface="Courier New" panose="02070309020205020404"/>
              <a:cs typeface="Courier New" panose="02070309020205020404"/>
            </a:endParaRPr>
          </a:p>
          <a:p>
            <a:pPr marL="469900" marR="291465">
              <a:lnSpc>
                <a:spcPct val="100000"/>
              </a:lnSpc>
            </a:pPr>
            <a:r>
              <a:rPr sz="1600" smtClean="0">
                <a:latin typeface="Courier New" panose="02070309020205020404"/>
                <a:cs typeface="Courier New" panose="02070309020205020404"/>
              </a:rPr>
              <a:t>JOIN</a:t>
            </a:r>
            <a:r>
              <a:rPr sz="1600" spc="-40" smtClean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titles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>
                <a:latin typeface="Courier New" panose="02070309020205020404"/>
                <a:cs typeface="Courier New" panose="02070309020205020404"/>
              </a:rPr>
              <a:t>t</a:t>
            </a:r>
            <a:r>
              <a:rPr sz="1600" spc="-20">
                <a:latin typeface="Courier New" panose="02070309020205020404"/>
                <a:cs typeface="Courier New" panose="02070309020205020404"/>
              </a:rPr>
              <a:t> </a:t>
            </a:r>
            <a:endParaRPr lang="en-US" sz="1600" spc="-20" dirty="0" smtClean="0">
              <a:latin typeface="Courier New" panose="02070309020205020404"/>
              <a:cs typeface="Courier New" panose="02070309020205020404"/>
            </a:endParaRPr>
          </a:p>
          <a:p>
            <a:pPr marL="469900" marR="291465">
              <a:lnSpc>
                <a:spcPct val="100000"/>
              </a:lnSpc>
            </a:pPr>
            <a:r>
              <a:rPr sz="1600" smtClean="0">
                <a:latin typeface="Courier New" panose="02070309020205020404"/>
                <a:cs typeface="Courier New" panose="02070309020205020404"/>
              </a:rPr>
              <a:t>ON</a:t>
            </a:r>
            <a:r>
              <a:rPr sz="1600" spc="-35" smtClean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ta.title_id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b="1" dirty="0">
                <a:solidFill>
                  <a:srgbClr val="ED11FF"/>
                </a:solidFill>
                <a:latin typeface="Courier New" panose="02070309020205020404"/>
                <a:cs typeface="Courier New" panose="02070309020205020404"/>
              </a:rPr>
              <a:t>=</a:t>
            </a:r>
            <a:r>
              <a:rPr sz="1600" b="1" spc="-20" dirty="0">
                <a:solidFill>
                  <a:srgbClr val="ED11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latin typeface="Courier New" panose="02070309020205020404"/>
                <a:cs typeface="Courier New" panose="02070309020205020404"/>
              </a:rPr>
              <a:t>t.title_id;</a:t>
            </a:r>
            <a:endParaRPr sz="1600">
              <a:latin typeface="Courier New" panose="02070309020205020404"/>
              <a:cs typeface="Courier New" panose="02070309020205020404"/>
            </a:endParaRPr>
          </a:p>
          <a:p>
            <a:pPr marL="12700" marR="5080">
              <a:lnSpc>
                <a:spcPts val="3360"/>
              </a:lnSpc>
              <a:spcBef>
                <a:spcPts val="195"/>
              </a:spcBef>
            </a:pPr>
            <a:r>
              <a:rPr sz="1600" dirty="0">
                <a:latin typeface="Courier New" panose="02070309020205020404"/>
                <a:cs typeface="Courier New" panose="02070309020205020404"/>
              </a:rPr>
              <a:t>SELECT</a:t>
            </a:r>
            <a:r>
              <a:rPr sz="1600" spc="-5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*</a:t>
            </a:r>
            <a:r>
              <a:rPr sz="1600" spc="-3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FROM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publications</a:t>
            </a:r>
            <a:r>
              <a:rPr sz="1600" spc="-6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ORDER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BY</a:t>
            </a:r>
            <a:r>
              <a:rPr sz="1600" spc="-2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Фамилия,</a:t>
            </a:r>
            <a:r>
              <a:rPr sz="1600" spc="-5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20" dirty="0">
                <a:latin typeface="Courier New" panose="02070309020205020404"/>
                <a:cs typeface="Courier New" panose="02070309020205020404"/>
              </a:rPr>
              <a:t>Имя;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ALTER</a:t>
            </a:r>
            <a:r>
              <a:rPr sz="1600" spc="-5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VIEW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publications</a:t>
            </a:r>
            <a:r>
              <a:rPr sz="1600" spc="-6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RENAME</a:t>
            </a:r>
            <a:r>
              <a:rPr sz="1600" spc="-45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dirty="0">
                <a:latin typeface="Courier New" panose="02070309020205020404"/>
                <a:cs typeface="Courier New" panose="02070309020205020404"/>
              </a:rPr>
              <a:t>TO</a:t>
            </a:r>
            <a:r>
              <a:rPr sz="1600" spc="-4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1600" spc="-10" dirty="0">
                <a:latin typeface="Courier New" panose="02070309020205020404"/>
                <a:cs typeface="Courier New" panose="02070309020205020404"/>
              </a:rPr>
              <a:t>summary1;</a:t>
            </a:r>
            <a:endParaRPr sz="1600"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059" descr="C:\salome_official\projects\11gR2_SQL 1\screenshots\les11_5s_a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677988"/>
            <a:ext cx="6489700" cy="40370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2062"/>
          <p:cNvSpPr>
            <a:spLocks noGrp="1" noChangeArrowheads="1"/>
          </p:cNvSpPr>
          <p:nvPr>
            <p:ph type="title"/>
          </p:nvPr>
        </p:nvSpPr>
        <p:spPr>
          <a:xfrm>
            <a:off x="986972" y="330881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Подробнее о представлениях</a:t>
            </a:r>
            <a:endParaRPr lang="en-US" altLang="en-US" sz="3600" dirty="0"/>
          </a:p>
        </p:txBody>
      </p:sp>
      <p:sp>
        <p:nvSpPr>
          <p:cNvPr id="12" name="Rectangle 2063"/>
          <p:cNvSpPr txBox="1">
            <a:spLocks noChangeArrowheads="1"/>
          </p:cNvSpPr>
          <p:nvPr/>
        </p:nvSpPr>
        <p:spPr>
          <a:xfrm>
            <a:off x="1566636" y="1284515"/>
            <a:ext cx="7918450" cy="769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buFontTx/>
              <a:buNone/>
            </a:pPr>
            <a:r>
              <a:rPr lang="en-US" altLang="en-US" sz="2000" b="1" dirty="0" smtClean="0">
                <a:latin typeface="Courier New" panose="02070309020205020404" pitchFamily="49" charset="0"/>
              </a:rPr>
              <a:t>EMPLOYEES</a:t>
            </a:r>
            <a:endParaRPr lang="en-US" altLang="en-US" sz="2000" b="1" dirty="0"/>
          </a:p>
          <a:p>
            <a:pPr marL="0" indent="0"/>
            <a:endParaRPr lang="en-US" altLang="en-US" dirty="0"/>
          </a:p>
        </p:txBody>
      </p:sp>
      <p:sp>
        <p:nvSpPr>
          <p:cNvPr id="13" name="Freeform 2054"/>
          <p:cNvSpPr/>
          <p:nvPr/>
        </p:nvSpPr>
        <p:spPr bwMode="gray">
          <a:xfrm>
            <a:off x="1287463" y="2584450"/>
            <a:ext cx="5732462" cy="1303338"/>
          </a:xfrm>
          <a:custGeom>
            <a:avLst/>
            <a:gdLst>
              <a:gd name="T0" fmla="*/ 0 w 3733"/>
              <a:gd name="T1" fmla="*/ 2147483647 h 821"/>
              <a:gd name="T2" fmla="*/ 2147483647 w 3733"/>
              <a:gd name="T3" fmla="*/ 2147483647 h 821"/>
              <a:gd name="T4" fmla="*/ 2147483647 w 3733"/>
              <a:gd name="T5" fmla="*/ 0 h 821"/>
              <a:gd name="T6" fmla="*/ 2147483647 w 3733"/>
              <a:gd name="T7" fmla="*/ 2147483647 h 821"/>
              <a:gd name="T8" fmla="*/ 0 w 3733"/>
              <a:gd name="T9" fmla="*/ 2147483647 h 82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733"/>
              <a:gd name="T16" fmla="*/ 0 h 821"/>
              <a:gd name="T17" fmla="*/ 3733 w 3733"/>
              <a:gd name="T18" fmla="*/ 821 h 821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733" h="821">
                <a:moveTo>
                  <a:pt x="0" y="821"/>
                </a:moveTo>
                <a:lnTo>
                  <a:pt x="1016" y="5"/>
                </a:lnTo>
                <a:lnTo>
                  <a:pt x="3733" y="0"/>
                </a:lnTo>
                <a:lnTo>
                  <a:pt x="2716" y="821"/>
                </a:lnTo>
                <a:lnTo>
                  <a:pt x="0" y="821"/>
                </a:lnTo>
                <a:close/>
              </a:path>
            </a:pathLst>
          </a:custGeom>
          <a:solidFill>
            <a:srgbClr val="99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Freeform 2055"/>
          <p:cNvSpPr/>
          <p:nvPr/>
        </p:nvSpPr>
        <p:spPr bwMode="gray">
          <a:xfrm>
            <a:off x="5313321" y="2602089"/>
            <a:ext cx="1728216" cy="2668588"/>
          </a:xfrm>
          <a:custGeom>
            <a:avLst/>
            <a:gdLst>
              <a:gd name="T0" fmla="*/ 2147483647 w 1056"/>
              <a:gd name="T1" fmla="*/ 2147483647 h 1745"/>
              <a:gd name="T2" fmla="*/ 0 w 1056"/>
              <a:gd name="T3" fmla="*/ 2147483647 h 1745"/>
              <a:gd name="T4" fmla="*/ 2147483647 w 1056"/>
              <a:gd name="T5" fmla="*/ 0 h 1745"/>
              <a:gd name="T6" fmla="*/ 2147483647 w 1056"/>
              <a:gd name="T7" fmla="*/ 2147483647 h 1745"/>
              <a:gd name="T8" fmla="*/ 2147483647 w 1056"/>
              <a:gd name="T9" fmla="*/ 2147483647 h 174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56"/>
              <a:gd name="T16" fmla="*/ 0 h 1745"/>
              <a:gd name="T17" fmla="*/ 1056 w 1056"/>
              <a:gd name="T18" fmla="*/ 1745 h 174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56" h="1745">
                <a:moveTo>
                  <a:pt x="16" y="1745"/>
                </a:moveTo>
                <a:lnTo>
                  <a:pt x="0" y="817"/>
                </a:lnTo>
                <a:lnTo>
                  <a:pt x="1056" y="0"/>
                </a:lnTo>
                <a:lnTo>
                  <a:pt x="1053" y="922"/>
                </a:lnTo>
                <a:lnTo>
                  <a:pt x="16" y="1745"/>
                </a:lnTo>
                <a:close/>
              </a:path>
            </a:pathLst>
          </a:custGeom>
          <a:solidFill>
            <a:srgbClr val="3399FF"/>
          </a:solidFill>
          <a:ln w="9525">
            <a:noFill/>
            <a:round/>
          </a:ln>
          <a:scene3d>
            <a:camera prst="orthographicFront">
              <a:rot lat="0" lon="1200000" rev="0"/>
            </a:camera>
            <a:lightRig rig="threePt" dir="t"/>
          </a:scene3d>
        </p:spPr>
        <p:txBody>
          <a:bodyPr/>
          <a:lstStyle/>
          <a:p>
            <a:pPr>
              <a:defRPr/>
            </a:pPr>
            <a:endParaRPr lang="en-US" dirty="0"/>
          </a:p>
        </p:txBody>
      </p:sp>
      <p:pic>
        <p:nvPicPr>
          <p:cNvPr id="15" name="Picture 2060" descr="C:\salome_official\projects\11gR2_SQL 1\screenshots\les11_5s_b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325" y="3865563"/>
            <a:ext cx="4035425" cy="1371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/>
          <a:lstStyle/>
          <a:p>
            <a:r>
              <a:rPr lang="ru-RU" altLang="en-US" dirty="0" smtClean="0"/>
              <a:t>Преимущества представлений</a:t>
            </a:r>
            <a:endParaRPr lang="en-US" altLang="en-US" dirty="0"/>
          </a:p>
        </p:txBody>
      </p:sp>
      <p:pic>
        <p:nvPicPr>
          <p:cNvPr id="5" name="Picture 3" descr="C:\Projects\4021-Nancy\Gifs\SQL-Enhan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2471738" y="2706688"/>
            <a:ext cx="4076700" cy="198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4"/>
          <p:cNvSpPr txBox="1">
            <a:spLocks noChangeArrowheads="1"/>
          </p:cNvSpPr>
          <p:nvPr/>
        </p:nvSpPr>
        <p:spPr bwMode="blackWhite">
          <a:xfrm>
            <a:off x="732971" y="1819275"/>
            <a:ext cx="1772104" cy="746125"/>
          </a:xfrm>
          <a:prstGeom prst="rect">
            <a:avLst/>
          </a:prstGeom>
          <a:solidFill>
            <a:srgbClr val="99CCFF"/>
          </a:solidFill>
          <a:ln w="28575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/>
          <a:lstStyle>
            <a:lvl1pPr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en-US" sz="1600" dirty="0" smtClean="0"/>
              <a:t>Ограничить доступ к данным</a:t>
            </a:r>
            <a:endParaRPr lang="en-US" altLang="en-US" sz="1600" dirty="0"/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blackWhite">
          <a:xfrm>
            <a:off x="5730875" y="1819275"/>
            <a:ext cx="2403475" cy="752475"/>
          </a:xfrm>
          <a:prstGeom prst="rect">
            <a:avLst/>
          </a:prstGeom>
          <a:solidFill>
            <a:srgbClr val="99CCFF"/>
          </a:solidFill>
          <a:ln w="28575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/>
          <a:lstStyle>
            <a:lvl1pPr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en-US" dirty="0" smtClean="0"/>
              <a:t>Упростить сложные запросы</a:t>
            </a:r>
            <a:endParaRPr lang="en-US" altLang="en-US" dirty="0"/>
          </a:p>
        </p:txBody>
      </p:sp>
      <p:sp>
        <p:nvSpPr>
          <p:cNvPr id="8" name="Text Box 6"/>
          <p:cNvSpPr txBox="1">
            <a:spLocks noChangeArrowheads="1"/>
          </p:cNvSpPr>
          <p:nvPr/>
        </p:nvSpPr>
        <p:spPr bwMode="blackWhite">
          <a:xfrm>
            <a:off x="885825" y="4633913"/>
            <a:ext cx="1790700" cy="949325"/>
          </a:xfrm>
          <a:prstGeom prst="rect">
            <a:avLst/>
          </a:prstGeom>
          <a:solidFill>
            <a:srgbClr val="99CCFF"/>
          </a:solidFill>
          <a:ln w="28575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/>
          <a:lstStyle>
            <a:lvl1pPr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en-US" dirty="0" smtClean="0"/>
              <a:t>Обеспечить независимость данных</a:t>
            </a:r>
            <a:endParaRPr lang="en-US" altLang="en-US" dirty="0"/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blackWhite">
          <a:xfrm>
            <a:off x="5845175" y="4556125"/>
            <a:ext cx="2435225" cy="1027113"/>
          </a:xfrm>
          <a:prstGeom prst="rect">
            <a:avLst/>
          </a:prstGeom>
          <a:solidFill>
            <a:srgbClr val="99CCFF"/>
          </a:solidFill>
          <a:ln w="28575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/>
          <a:lstStyle>
            <a:lvl1pPr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en-US" sz="1600" dirty="0" smtClean="0"/>
              <a:t>Представить различные взгляды на одни и те же данные</a:t>
            </a:r>
            <a:endParaRPr lang="en-US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Заголовок 31"/>
          <p:cNvSpPr>
            <a:spLocks noGrp="1"/>
          </p:cNvSpPr>
          <p:nvPr>
            <p:ph type="title"/>
          </p:nvPr>
        </p:nvSpPr>
        <p:spPr>
          <a:xfrm>
            <a:off x="722993" y="0"/>
            <a:ext cx="7886700" cy="926645"/>
          </a:xfrm>
        </p:spPr>
        <p:txBody>
          <a:bodyPr>
            <a:normAutofit/>
          </a:bodyPr>
          <a:lstStyle/>
          <a:p>
            <a:r>
              <a:rPr lang="en-US" sz="3200" b="1" dirty="0" smtClean="0"/>
              <a:t>Virtual View</a:t>
            </a:r>
            <a:r>
              <a:rPr lang="en-US" sz="3200" dirty="0" smtClean="0"/>
              <a:t> (</a:t>
            </a:r>
            <a:r>
              <a:rPr lang="ru-RU" sz="3200" dirty="0" smtClean="0"/>
              <a:t>Обычное представление)</a:t>
            </a:r>
            <a:endParaRPr lang="ru-RU" sz="3200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508000" y="2605312"/>
            <a:ext cx="7358743" cy="2693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1600" dirty="0" smtClean="0"/>
          </a:p>
          <a:p>
            <a:r>
              <a:rPr lang="ru-RU" sz="1600" b="1" dirty="0" smtClean="0"/>
              <a:t>Характеристики:</a:t>
            </a:r>
            <a:endParaRPr lang="ru-RU" sz="1600" b="1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 smtClean="0"/>
              <a:t> </a:t>
            </a:r>
            <a:r>
              <a:rPr lang="ru-RU" sz="1600" b="1" dirty="0" smtClean="0"/>
              <a:t>Не хранит данные</a:t>
            </a:r>
            <a:r>
              <a:rPr lang="ru-RU" sz="1600" dirty="0" smtClean="0"/>
              <a:t> — только SQL-запрос.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 smtClean="0"/>
              <a:t> </a:t>
            </a:r>
            <a:r>
              <a:rPr lang="ru-RU" sz="1600" dirty="0" smtClean="0"/>
              <a:t>Выполняется каждый раз при обращении.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 smtClean="0"/>
              <a:t> </a:t>
            </a:r>
            <a:r>
              <a:rPr lang="ru-RU" sz="1600" dirty="0" smtClean="0"/>
              <a:t>Всегда использует </a:t>
            </a:r>
            <a:r>
              <a:rPr lang="ru-RU" sz="1600" b="1" dirty="0" smtClean="0"/>
              <a:t>актуальные данные</a:t>
            </a:r>
            <a:r>
              <a:rPr lang="ru-RU" sz="1600" dirty="0" smtClean="0"/>
              <a:t> из базовой таблицы.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 smtClean="0"/>
              <a:t> </a:t>
            </a:r>
            <a:r>
              <a:rPr lang="ru-RU" sz="1600" dirty="0" smtClean="0"/>
              <a:t>Хранится в </a:t>
            </a:r>
            <a:r>
              <a:rPr lang="ru-RU" sz="1600" b="1" dirty="0" err="1" smtClean="0"/>
              <a:t>метасторе</a:t>
            </a:r>
            <a:r>
              <a:rPr lang="ru-RU" sz="1600" b="1" dirty="0" smtClean="0"/>
              <a:t> </a:t>
            </a:r>
            <a:r>
              <a:rPr lang="ru-RU" sz="1600" b="1" dirty="0" err="1" smtClean="0"/>
              <a:t>Hive</a:t>
            </a:r>
            <a:r>
              <a:rPr lang="ru-RU" sz="1600" dirty="0" smtClean="0"/>
              <a:t> как объект с SQL-текстом.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 smtClean="0"/>
              <a:t> </a:t>
            </a:r>
            <a:r>
              <a:rPr lang="ru-RU" sz="1600" dirty="0" smtClean="0"/>
              <a:t>Можно использовать в других SQL-запросах, как обычную таблицу.</a:t>
            </a:r>
            <a:endParaRPr lang="en-US" sz="1600" dirty="0" smtClean="0"/>
          </a:p>
          <a:p>
            <a:endParaRPr lang="ru-RU" sz="1600" dirty="0" smtClean="0"/>
          </a:p>
          <a:p>
            <a:r>
              <a:rPr lang="ru-RU" sz="1600" b="1" dirty="0" smtClean="0"/>
              <a:t>Пример создания:</a:t>
            </a:r>
            <a:endParaRPr lang="ru-RU" sz="1600" b="1" dirty="0"/>
          </a:p>
        </p:txBody>
      </p:sp>
      <p:sp>
        <p:nvSpPr>
          <p:cNvPr id="34" name="Прямоугольник 33"/>
          <p:cNvSpPr/>
          <p:nvPr/>
        </p:nvSpPr>
        <p:spPr>
          <a:xfrm>
            <a:off x="355600" y="1044806"/>
            <a:ext cx="7961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Это стандартный вид представления, аналогичный SQL </a:t>
            </a:r>
            <a:r>
              <a:rPr lang="ru-RU" dirty="0" err="1" smtClean="0"/>
              <a:t>view</a:t>
            </a:r>
            <a:r>
              <a:rPr lang="ru-RU" dirty="0" smtClean="0"/>
              <a:t> в реляционных БД.</a:t>
            </a:r>
            <a:endParaRPr lang="en-US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645683" y="5079545"/>
            <a:ext cx="3451534" cy="1299482"/>
          </a:xfrm>
          <a:prstGeom prst="rect">
            <a:avLst/>
          </a:prstGeom>
          <a:noFill/>
          <a:ln w="9525">
            <a:solidFill>
              <a:srgbClr val="0070C0"/>
            </a:solidFill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9130" y="1517651"/>
            <a:ext cx="5129040" cy="1232805"/>
          </a:xfrm>
          <a:prstGeom prst="rect">
            <a:avLst/>
          </a:prstGeom>
          <a:noFill/>
          <a:ln w="9525">
            <a:solidFill>
              <a:schemeClr val="accent5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Заголовок 31"/>
          <p:cNvSpPr>
            <a:spLocks noGrp="1"/>
          </p:cNvSpPr>
          <p:nvPr>
            <p:ph type="title"/>
          </p:nvPr>
        </p:nvSpPr>
        <p:spPr>
          <a:xfrm>
            <a:off x="370114" y="0"/>
            <a:ext cx="8490857" cy="926645"/>
          </a:xfrm>
        </p:spPr>
        <p:txBody>
          <a:bodyPr>
            <a:normAutofit/>
          </a:bodyPr>
          <a:lstStyle/>
          <a:p>
            <a:r>
              <a:rPr lang="en-US" sz="2800" b="1" dirty="0" smtClean="0"/>
              <a:t>Materialized View</a:t>
            </a:r>
            <a:r>
              <a:rPr lang="en-US" sz="2800" dirty="0" smtClean="0"/>
              <a:t> (</a:t>
            </a:r>
            <a:r>
              <a:rPr lang="ru-RU" sz="2800" dirty="0" smtClean="0"/>
              <a:t>Материализованное представление)</a:t>
            </a:r>
            <a:endParaRPr lang="ru-RU" sz="2800" dirty="0"/>
          </a:p>
        </p:txBody>
      </p:sp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508000" y="1690914"/>
            <a:ext cx="8011886" cy="252376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Характеристики:</a:t>
            </a: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Хранит результат SQL-запроса.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Не обновляется автоматически (по умолчанию).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Поддерживает </a:t>
            </a: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инкрементальное обновление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(REBUILD).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Поддерживает </a:t>
            </a:r>
            <a:r>
              <a:rPr kumimoji="0" lang="ru-RU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Query</a:t>
            </a: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Rewrite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— запросы могут быть автоматически заменены на обращение к 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materialized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ru-RU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view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.</a:t>
            </a:r>
            <a:endParaRPr kumimoji="0" 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Пример создания:</a:t>
            </a:r>
            <a:endParaRPr kumimoji="0" lang="ru-RU" sz="1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86228" y="963136"/>
            <a:ext cx="826588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fontAlgn="base">
              <a:spcBef>
                <a:spcPct val="0"/>
              </a:spcBef>
              <a:spcAft>
                <a:spcPct val="0"/>
              </a:spcAft>
            </a:pPr>
            <a:r>
              <a:rPr lang="ru-RU" sz="1600" dirty="0" smtClean="0">
                <a:cs typeface="Arial" panose="020B0604020202020204" pitchFamily="34" charset="0"/>
              </a:rPr>
              <a:t>Материализованное представление </a:t>
            </a:r>
            <a:r>
              <a:rPr lang="ru-RU" sz="1600" b="1" dirty="0" smtClean="0">
                <a:cs typeface="Arial" panose="020B0604020202020204" pitchFamily="34" charset="0"/>
              </a:rPr>
              <a:t>хранит данные физически</a:t>
            </a:r>
            <a:r>
              <a:rPr lang="ru-RU" sz="1600" dirty="0" smtClean="0">
                <a:cs typeface="Arial" panose="020B0604020202020204" pitchFamily="34" charset="0"/>
              </a:rPr>
              <a:t>, как таблица. Это позволяет повысить производительность, особенно при агрегатах и </a:t>
            </a:r>
            <a:r>
              <a:rPr lang="ru-RU" sz="1600" dirty="0" err="1" smtClean="0">
                <a:cs typeface="Arial" panose="020B0604020202020204" pitchFamily="34" charset="0"/>
              </a:rPr>
              <a:t>join'ах</a:t>
            </a:r>
            <a:r>
              <a:rPr lang="ru-RU" sz="1600" dirty="0" smtClean="0">
                <a:cs typeface="Arial" panose="020B0604020202020204" pitchFamily="34" charset="0"/>
              </a:rPr>
              <a:t>.</a:t>
            </a:r>
            <a:endParaRPr lang="ru-RU" sz="1600" b="1" dirty="0" smtClean="0">
              <a:cs typeface="Arial" panose="020B0604020202020204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500266" y="3441246"/>
            <a:ext cx="5092192" cy="1987097"/>
          </a:xfrm>
          <a:prstGeom prst="rect">
            <a:avLst/>
          </a:prstGeom>
          <a:noFill/>
          <a:ln w="9525">
            <a:solidFill>
              <a:schemeClr val="accent5">
                <a:lumMod val="75000"/>
              </a:schemeClr>
            </a:solidFill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624910" y="5777077"/>
            <a:ext cx="216899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b="1" dirty="0" smtClean="0"/>
              <a:t>Обновление вручную:</a:t>
            </a:r>
            <a:endParaRPr lang="ru-RU" sz="1600" b="1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481388" y="5657170"/>
            <a:ext cx="4973183" cy="456339"/>
          </a:xfrm>
          <a:prstGeom prst="rect">
            <a:avLst/>
          </a:prstGeom>
          <a:noFill/>
          <a:ln w="9525">
            <a:solidFill>
              <a:srgbClr val="0070C0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Создание представления (</a:t>
            </a:r>
            <a:r>
              <a:rPr lang="en-US" altLang="en-US" sz="3600" dirty="0" err="1" smtClean="0"/>
              <a:t>PostgreSQL</a:t>
            </a:r>
            <a:r>
              <a:rPr lang="ru-RU" altLang="en-US" sz="3600" dirty="0" smtClean="0"/>
              <a:t>)</a:t>
            </a:r>
            <a:endParaRPr lang="en-US" altLang="en-US" sz="3600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609600" y="1447800"/>
            <a:ext cx="7918450" cy="239553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ru-RU" altLang="en-US" dirty="0" smtClean="0"/>
              <a:t>Вы встраиваете подзапрос в оператор CREATE VIEW:</a:t>
            </a:r>
            <a:endParaRPr lang="en-US" altLang="en-US" dirty="0" smtClean="0"/>
          </a:p>
          <a:p>
            <a:pPr lvl="1"/>
            <a:endParaRPr lang="en-US" altLang="en-US" dirty="0" smtClean="0"/>
          </a:p>
          <a:p>
            <a:pPr lvl="1"/>
            <a:endParaRPr lang="en-US" altLang="en-US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altLang="en-US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altLang="en-US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altLang="en-US" dirty="0"/>
          </a:p>
          <a:p>
            <a:pPr lvl="1"/>
            <a:r>
              <a:rPr lang="ru-RU" altLang="en-US" dirty="0" smtClean="0"/>
              <a:t>Подзапрос может содержать сложный синтаксис SELECT.</a:t>
            </a:r>
            <a:endParaRPr lang="en-US" alt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blackGray">
          <a:xfrm>
            <a:off x="685800" y="1893888"/>
            <a:ext cx="7772400" cy="14652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CREATE [ OR REPLACE ] VIEW name [ (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column_name</a:t>
            </a: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[, ...] ) ]</a:t>
            </a:r>
            <a:endParaRPr lang="en-US" altLang="en-US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[ WITH (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view_option_name</a:t>
            </a: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[= </a:t>
            </a:r>
            <a:r>
              <a:rPr lang="en-US" altLang="en-US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view_option_value</a:t>
            </a: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][, ... ])]</a:t>
            </a:r>
            <a:endParaRPr lang="en-US" altLang="en-US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en-US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AS query</a:t>
            </a:r>
            <a:endParaRPr lang="en-US" altLang="en-US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r>
              <a:rPr lang="ru-RU" altLang="en-US" dirty="0" smtClean="0"/>
              <a:t>Создание представления</a:t>
            </a:r>
            <a:endParaRPr lang="en-US" altLang="en-US" dirty="0"/>
          </a:p>
        </p:txBody>
      </p:sp>
      <p:sp>
        <p:nvSpPr>
          <p:cNvPr id="5" name="Rectangle 7"/>
          <p:cNvSpPr>
            <a:spLocks noGrp="1" noChangeArrowheads="1"/>
          </p:cNvSpPr>
          <p:nvPr>
            <p:ph idx="1"/>
          </p:nvPr>
        </p:nvSpPr>
        <p:spPr>
          <a:xfrm>
            <a:off x="609600" y="1447800"/>
            <a:ext cx="7918450" cy="3073400"/>
          </a:xfrm>
        </p:spPr>
        <p:txBody>
          <a:bodyPr/>
          <a:lstStyle/>
          <a:p>
            <a:pPr lvl="1"/>
            <a:r>
              <a:rPr lang="ru-RU" altLang="en-US" dirty="0" smtClean="0"/>
              <a:t>Создайте представление EMPVU80, содержащее сведения о сотрудниках отдела 80: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blackGray">
          <a:xfrm>
            <a:off x="685800" y="2286000"/>
            <a:ext cx="7772400" cy="13811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CREATE VIEW 	empvu80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AS SELECT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employee_id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last_name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salary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FROM    employees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WHERE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= 80;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/>
          <a:lstStyle/>
          <a:p>
            <a:r>
              <a:rPr lang="ru-RU" altLang="en-US" dirty="0" smtClean="0"/>
              <a:t>Создание представления</a:t>
            </a:r>
            <a:endParaRPr lang="en-US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609600" y="1447800"/>
            <a:ext cx="7918450" cy="4002314"/>
          </a:xfrm>
        </p:spPr>
        <p:txBody>
          <a:bodyPr>
            <a:normAutofit/>
          </a:bodyPr>
          <a:lstStyle/>
          <a:p>
            <a:pPr lvl="1"/>
            <a:r>
              <a:rPr lang="ru-RU" altLang="en-US" dirty="0" smtClean="0"/>
              <a:t>Создайте представление, используя псевдонимы столбцов в подзапросе:</a:t>
            </a:r>
            <a:endParaRPr lang="en-US" altLang="en-US" dirty="0" smtClean="0"/>
          </a:p>
          <a:p>
            <a:pPr lvl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/>
            <a:r>
              <a:rPr lang="ru-RU" altLang="en-US" dirty="0" err="1" smtClean="0"/>
              <a:t>Выберайте</a:t>
            </a:r>
            <a:r>
              <a:rPr lang="ru-RU" altLang="en-US" dirty="0" smtClean="0"/>
              <a:t> столбцы из этого представления по заданным псевдонимам.</a:t>
            </a:r>
            <a:endParaRPr lang="en-US" alt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blackGray">
          <a:xfrm>
            <a:off x="584200" y="2256971"/>
            <a:ext cx="7772400" cy="175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CREATE VIEW 	salvu50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AS SELECT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employee_id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ID_NUMBER,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last_name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NAME,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salary*12 ANN_SALARY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FROM    employees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WHERE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= 50;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endParaRPr lang="en-US" altLang="en-US" dirty="0">
              <a:solidFill>
                <a:srgbClr val="FF33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blackGray">
          <a:xfrm>
            <a:off x="685800" y="1905000"/>
            <a:ext cx="7772400" cy="568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SELECT *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FROM   salvu50;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Получение данных из представления</a:t>
            </a:r>
            <a:endParaRPr lang="en-US" altLang="en-US" sz="3600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gray">
          <a:xfrm>
            <a:off x="1662113" y="2192338"/>
            <a:ext cx="1246187" cy="260350"/>
          </a:xfrm>
          <a:prstGeom prst="rect">
            <a:avLst/>
          </a:prstGeom>
          <a:noFill/>
          <a:ln w="28575">
            <a:solidFill>
              <a:schemeClr val="hlink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en-US"/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43200"/>
            <a:ext cx="3257550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457200" y="4572000"/>
            <a:ext cx="1143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b="1"/>
              <a:t>…</a:t>
            </a:r>
            <a:endParaRPr lang="en-US" altLang="en-US"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Изменение представления (</a:t>
            </a:r>
            <a:r>
              <a:rPr lang="en-US" altLang="en-US" sz="3600" dirty="0" err="1" smtClean="0"/>
              <a:t>PostgreSQL</a:t>
            </a:r>
            <a:r>
              <a:rPr lang="ru-RU" altLang="en-US" sz="3600" dirty="0" smtClean="0"/>
              <a:t>)</a:t>
            </a:r>
            <a:endParaRPr lang="en-US" altLang="en-US" sz="3600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609600" y="1447800"/>
            <a:ext cx="7918450" cy="4224338"/>
          </a:xfrm>
        </p:spPr>
        <p:txBody>
          <a:bodyPr>
            <a:normAutofit/>
          </a:bodyPr>
          <a:lstStyle/>
          <a:p>
            <a:pPr lvl="1"/>
            <a:r>
              <a:rPr lang="ru-RU" altLang="en-US" sz="1800" dirty="0" smtClean="0"/>
              <a:t>Измените представление EMPVU80 с помощью предложения CREATE OR REPLACE VIEW. Добавьте псевдоним для каждого имени столбца:</a:t>
            </a:r>
            <a:endParaRPr lang="en-US" altLang="en-US" sz="1800" dirty="0"/>
          </a:p>
          <a:p>
            <a:pPr lvl="1" eaLnBrk="1" hangingPunct="1"/>
            <a:endParaRPr lang="ru-RU" altLang="en-US" sz="1800" dirty="0" smtClean="0"/>
          </a:p>
          <a:p>
            <a:pPr lvl="1" eaLnBrk="1" hangingPunct="1"/>
            <a:endParaRPr lang="ru-RU" altLang="en-US" sz="1800" dirty="0" smtClean="0"/>
          </a:p>
          <a:p>
            <a:pPr lvl="1" eaLnBrk="1" hangingPunct="1"/>
            <a:endParaRPr lang="ru-RU" altLang="en-US" sz="1800" dirty="0" smtClean="0"/>
          </a:p>
          <a:p>
            <a:pPr lvl="1" eaLnBrk="1" hangingPunct="1"/>
            <a:endParaRPr lang="ru-RU" altLang="en-US" sz="1800" dirty="0" smtClean="0"/>
          </a:p>
          <a:p>
            <a:pPr lvl="1" eaLnBrk="1" hangingPunct="1"/>
            <a:endParaRPr lang="en-US" altLang="en-US" sz="1800" dirty="0"/>
          </a:p>
          <a:p>
            <a:pPr lvl="1" eaLnBrk="1" hangingPunct="1"/>
            <a:endParaRPr lang="en-US" altLang="en-US" sz="1800" dirty="0"/>
          </a:p>
          <a:p>
            <a:pPr lvl="1" eaLnBrk="1" hangingPunct="1"/>
            <a:endParaRPr lang="en-US" altLang="en-US" sz="1800" dirty="0"/>
          </a:p>
          <a:p>
            <a:pPr lvl="1" eaLnBrk="1" hangingPunct="1"/>
            <a:endParaRPr lang="en-US" altLang="en-US" sz="1800" dirty="0"/>
          </a:p>
          <a:p>
            <a:pPr lvl="1" eaLnBrk="1" hangingPunct="1"/>
            <a:endParaRPr lang="en-US" altLang="en-US" sz="1800" dirty="0"/>
          </a:p>
          <a:p>
            <a:pPr lvl="1"/>
            <a:r>
              <a:rPr lang="ru-RU" altLang="en-US" sz="1800" dirty="0" smtClean="0"/>
              <a:t>Псевдонимы столбцов в предложении CREATE OR REPLACE VIEW перечислены в том же порядке, что и столбцы в подзапросе.</a:t>
            </a:r>
            <a:endParaRPr lang="en-US" altLang="en-US" sz="1800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blackGray">
          <a:xfrm>
            <a:off x="685800" y="2362200"/>
            <a:ext cx="7772400" cy="2057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CREATE OR REPLACE VIEW empvu80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id_number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name,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sal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AS SELECT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employee_id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first_name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|| ' ' 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||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last_name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salary,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department_id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FROM    employees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WHERE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= 80;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endParaRPr lang="en-US" altLang="en-US" dirty="0">
              <a:solidFill>
                <a:schemeClr val="accent2"/>
              </a:solidFill>
              <a:latin typeface="Courier New" panose="02070309020205020404" pitchFamily="49" charset="0"/>
            </a:endParaRP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263" y="4124325"/>
            <a:ext cx="2057400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Создание сложных представлений</a:t>
            </a:r>
            <a:endParaRPr lang="en-US" altLang="en-US" sz="3600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609600" y="1447800"/>
            <a:ext cx="7918450" cy="70326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altLang="en-US" dirty="0" smtClean="0"/>
              <a:t>Создайте сложное представление, содержащее групповые функции для отображения значений из двух таблиц:</a:t>
            </a:r>
            <a:endParaRPr lang="en-US" alt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blackGray">
          <a:xfrm>
            <a:off x="685800" y="2362200"/>
            <a:ext cx="7772400" cy="2438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CREATE OR REPLACE VIEW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dept_sum_vu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(name,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minsal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maxsal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avgsal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AS SELECT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d.department_name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MIN(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e.salary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), 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MAX(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e.salary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),AVG(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e.salary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FROM     employees e JOIN departments d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ON       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e.department_id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d.department_id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GROUP BY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d.department_name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25" y="4419600"/>
            <a:ext cx="20828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09600" y="439738"/>
            <a:ext cx="7918450" cy="876300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en-US" sz="3600" dirty="0" smtClean="0"/>
              <a:t>Изменение представления (</a:t>
            </a:r>
            <a:r>
              <a:rPr lang="en-US" altLang="en-US" sz="3600" dirty="0" smtClean="0"/>
              <a:t>Hive</a:t>
            </a:r>
            <a:r>
              <a:rPr lang="ru-RU" altLang="en-US" sz="3600" dirty="0" smtClean="0"/>
              <a:t>)</a:t>
            </a:r>
            <a:endParaRPr lang="en-US" altLang="en-US" sz="36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188686" y="1667694"/>
            <a:ext cx="694508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buNone/>
            </a:pPr>
            <a:r>
              <a:rPr lang="ru-RU" altLang="en-US" dirty="0" smtClean="0"/>
              <a:t>Измените представления в </a:t>
            </a:r>
            <a:r>
              <a:rPr lang="en-US" altLang="en-US" dirty="0" smtClean="0"/>
              <a:t>Hive </a:t>
            </a:r>
            <a:r>
              <a:rPr lang="ru-RU" altLang="en-US" dirty="0" smtClean="0"/>
              <a:t>возможно только путём его пересоздания:</a:t>
            </a:r>
            <a:endParaRPr lang="en-US" altLang="en-U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707573" y="2683328"/>
            <a:ext cx="5134427" cy="2123022"/>
          </a:xfrm>
          <a:prstGeom prst="rect">
            <a:avLst/>
          </a:prstGeom>
          <a:noFill/>
          <a:ln w="9525">
            <a:solidFill>
              <a:srgbClr val="0070C0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000" cy="6858000"/>
            <a:chOff x="0" y="0"/>
            <a:chExt cx="9144000" cy="514350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4415" y="1028700"/>
              <a:ext cx="1028699" cy="1008041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091331" y="3177877"/>
            <a:ext cx="2973705" cy="4283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b="1" dirty="0">
                <a:solidFill>
                  <a:srgbClr val="FFFFFF"/>
                </a:solidFill>
                <a:latin typeface="Times New Roman" panose="02020603050405020304"/>
                <a:cs typeface="Times New Roman" panose="02020603050405020304"/>
              </a:rPr>
              <a:t>Оконные</a:t>
            </a:r>
            <a:r>
              <a:rPr sz="2700" b="1" spc="170" dirty="0">
                <a:solidFill>
                  <a:srgbClr val="FFFFFF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2700" b="1" spc="-10" dirty="0">
                <a:solidFill>
                  <a:srgbClr val="FFFFFF"/>
                </a:solidFill>
                <a:latin typeface="Times New Roman" panose="02020603050405020304"/>
                <a:cs typeface="Times New Roman" panose="02020603050405020304"/>
              </a:rPr>
              <a:t>функции</a:t>
            </a:r>
            <a:endParaRPr sz="27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9790" y="1688015"/>
            <a:ext cx="123111" cy="2407919"/>
          </a:xfrm>
          <a:prstGeom prst="rect">
            <a:avLst/>
          </a:prstGeom>
        </p:spPr>
        <p:txBody>
          <a:bodyPr vert="vert270" wrap="square" lIns="0" tIns="1968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55"/>
              </a:spcBef>
            </a:pPr>
            <a:r>
              <a:rPr sz="800" spc="-4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СМОТРИ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В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1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БУДУЩЕЕ.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2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ИНВЕСТИРУЙ</a:t>
            </a:r>
            <a:r>
              <a:rPr sz="800" spc="-5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</a:t>
            </a:r>
            <a:r>
              <a:rPr sz="800" spc="-5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В</a:t>
            </a:r>
            <a:r>
              <a:rPr sz="800" spc="-10" dirty="0">
                <a:solidFill>
                  <a:srgbClr val="FFFFFF"/>
                </a:solidFill>
                <a:latin typeface="Microsoft JhengHei Light" panose="020B0304030504040204" charset="-120"/>
                <a:cs typeface="Microsoft JhengHei Light" panose="020B0304030504040204" charset="-120"/>
              </a:rPr>
              <a:t> ЗНАНИЯ.</a:t>
            </a:r>
            <a:endParaRPr sz="800">
              <a:latin typeface="Microsoft JhengHei Light" panose="020B0304030504040204" charset="-120"/>
              <a:cs typeface="Microsoft JhengHei Light" panose="020B030403050404020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Window</a:t>
            </a:r>
            <a:r>
              <a:rPr sz="3600" spc="-105" dirty="0"/>
              <a:t> </a:t>
            </a:r>
            <a:r>
              <a:rPr sz="3600" spc="-20" dirty="0"/>
              <a:t>functions</a:t>
            </a:r>
            <a:r>
              <a:rPr sz="3600" spc="-100" dirty="0"/>
              <a:t> </a:t>
            </a:r>
            <a:r>
              <a:rPr sz="3600" dirty="0"/>
              <a:t>/</a:t>
            </a:r>
            <a:r>
              <a:rPr sz="3600" spc="-95" dirty="0"/>
              <a:t> </a:t>
            </a:r>
            <a:r>
              <a:rPr sz="3600" dirty="0"/>
              <a:t>оконные</a:t>
            </a:r>
            <a:r>
              <a:rPr sz="3600" spc="-100" dirty="0"/>
              <a:t> </a:t>
            </a:r>
            <a:r>
              <a:rPr sz="3600" spc="-30" dirty="0"/>
              <a:t>функции</a:t>
            </a:r>
            <a:endParaRPr sz="3600" spc="-3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635908" y="1919968"/>
            <a:ext cx="7886700" cy="36353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3270">
              <a:lnSpc>
                <a:spcPct val="120000"/>
              </a:lnSpc>
              <a:spcBef>
                <a:spcPts val="100"/>
              </a:spcBef>
              <a:buNone/>
            </a:pPr>
            <a:r>
              <a:rPr sz="2000" dirty="0"/>
              <a:t>Применение</a:t>
            </a:r>
            <a:r>
              <a:rPr sz="2000" spc="-45" dirty="0"/>
              <a:t> </a:t>
            </a:r>
            <a:r>
              <a:rPr sz="2000" dirty="0"/>
              <a:t>аналитических</a:t>
            </a:r>
            <a:r>
              <a:rPr sz="2000" spc="-40" dirty="0"/>
              <a:t> </a:t>
            </a:r>
            <a:r>
              <a:rPr sz="2000" spc="-45" dirty="0"/>
              <a:t>функций </a:t>
            </a:r>
            <a:r>
              <a:rPr sz="2000" dirty="0"/>
              <a:t>на</a:t>
            </a:r>
            <a:r>
              <a:rPr sz="2000" spc="-40" dirty="0"/>
              <a:t> </a:t>
            </a:r>
            <a:r>
              <a:rPr sz="2000" dirty="0"/>
              <a:t>нескольких</a:t>
            </a:r>
            <a:r>
              <a:rPr sz="2000" spc="-45" dirty="0"/>
              <a:t> </a:t>
            </a:r>
            <a:r>
              <a:rPr sz="2000" spc="-10" dirty="0"/>
              <a:t>строках,</a:t>
            </a:r>
            <a:r>
              <a:rPr sz="2000" spc="-40" dirty="0"/>
              <a:t> </a:t>
            </a:r>
            <a:r>
              <a:rPr sz="2000" dirty="0"/>
              <a:t>в</a:t>
            </a:r>
            <a:r>
              <a:rPr sz="2000" spc="-45" dirty="0"/>
              <a:t> </a:t>
            </a:r>
            <a:r>
              <a:rPr sz="2000" spc="-35" dirty="0"/>
              <a:t>результате</a:t>
            </a:r>
            <a:r>
              <a:rPr sz="2000" spc="-40" dirty="0"/>
              <a:t> </a:t>
            </a:r>
            <a:r>
              <a:rPr sz="2000" spc="-10" dirty="0"/>
              <a:t>которого </a:t>
            </a:r>
            <a:r>
              <a:rPr sz="2000" spc="-25" dirty="0"/>
              <a:t>сохраняются</a:t>
            </a:r>
            <a:r>
              <a:rPr sz="2000" spc="-35" dirty="0"/>
              <a:t> </a:t>
            </a:r>
            <a:r>
              <a:rPr sz="2000" dirty="0"/>
              <a:t>все</a:t>
            </a:r>
            <a:r>
              <a:rPr sz="2000" spc="-35" dirty="0"/>
              <a:t> </a:t>
            </a:r>
            <a:r>
              <a:rPr sz="2000" dirty="0"/>
              <a:t>строки</a:t>
            </a:r>
            <a:r>
              <a:rPr sz="2000" spc="-30" dirty="0"/>
              <a:t> </a:t>
            </a:r>
            <a:r>
              <a:rPr sz="2000" spc="-10" dirty="0"/>
              <a:t>таблицы.</a:t>
            </a:r>
            <a:endParaRPr sz="2000" spc="-10" dirty="0"/>
          </a:p>
          <a:p>
            <a:pPr>
              <a:lnSpc>
                <a:spcPct val="100000"/>
              </a:lnSpc>
              <a:spcBef>
                <a:spcPts val="955"/>
              </a:spcBef>
            </a:pPr>
            <a:endParaRPr sz="2000"/>
          </a:p>
          <a:p>
            <a:pPr marL="469900" marR="5080" indent="-344170">
              <a:lnSpc>
                <a:spcPct val="120000"/>
              </a:lnSpc>
              <a:spcBef>
                <a:spcPts val="5"/>
              </a:spcBef>
              <a:buFont typeface="Microsoft Sans Serif" panose="020B0604020202020204"/>
              <a:buChar char="●"/>
              <a:tabLst>
                <a:tab pos="469900" algn="l"/>
              </a:tabLst>
            </a:pPr>
            <a:r>
              <a:rPr sz="2000" dirty="0"/>
              <a:t>Агрегации</a:t>
            </a:r>
            <a:r>
              <a:rPr sz="2000" spc="-50" dirty="0"/>
              <a:t> </a:t>
            </a:r>
            <a:r>
              <a:rPr sz="2000" spc="-20" dirty="0"/>
              <a:t>вычисляются</a:t>
            </a:r>
            <a:r>
              <a:rPr sz="2000" spc="-40" dirty="0"/>
              <a:t> </a:t>
            </a:r>
            <a:r>
              <a:rPr sz="2000" dirty="0"/>
              <a:t>на</a:t>
            </a:r>
            <a:r>
              <a:rPr sz="2000" spc="-35" dirty="0"/>
              <a:t> </a:t>
            </a:r>
            <a:r>
              <a:rPr sz="2000" spc="-10" dirty="0"/>
              <a:t>строках,</a:t>
            </a:r>
            <a:r>
              <a:rPr sz="2000" spc="-40" dirty="0"/>
              <a:t> </a:t>
            </a:r>
            <a:r>
              <a:rPr sz="2000" spc="-20" dirty="0"/>
              <a:t>которые</a:t>
            </a:r>
            <a:r>
              <a:rPr sz="2000" spc="-35" dirty="0"/>
              <a:t> находятся</a:t>
            </a:r>
            <a:r>
              <a:rPr sz="2000" spc="-40" dirty="0"/>
              <a:t> </a:t>
            </a:r>
            <a:r>
              <a:rPr sz="2000" dirty="0"/>
              <a:t>в</a:t>
            </a:r>
            <a:r>
              <a:rPr sz="2000" spc="-40" dirty="0"/>
              <a:t> </a:t>
            </a:r>
            <a:r>
              <a:rPr sz="2000" spc="-10" dirty="0"/>
              <a:t>“плавающем”</a:t>
            </a:r>
            <a:r>
              <a:rPr sz="2000" spc="-35" dirty="0"/>
              <a:t> </a:t>
            </a:r>
            <a:r>
              <a:rPr sz="2000" dirty="0"/>
              <a:t>окне</a:t>
            </a:r>
            <a:r>
              <a:rPr sz="2000" spc="-40" dirty="0"/>
              <a:t> </a:t>
            </a:r>
            <a:r>
              <a:rPr sz="2000" dirty="0"/>
              <a:t>(window</a:t>
            </a:r>
            <a:r>
              <a:rPr sz="2000" spc="-35" dirty="0"/>
              <a:t> </a:t>
            </a:r>
            <a:r>
              <a:rPr sz="2000" spc="-50" dirty="0"/>
              <a:t>/ </a:t>
            </a:r>
            <a:r>
              <a:rPr sz="2000" spc="-10" dirty="0"/>
              <a:t>frame).</a:t>
            </a:r>
            <a:endParaRPr sz="2000" spc="-10" dirty="0"/>
          </a:p>
          <a:p>
            <a:pPr marL="469900" marR="81280" indent="-344170">
              <a:lnSpc>
                <a:spcPct val="120000"/>
              </a:lnSpc>
              <a:buFont typeface="Microsoft Sans Serif" panose="020B0604020202020204"/>
              <a:buChar char="●"/>
              <a:tabLst>
                <a:tab pos="469900" algn="l"/>
              </a:tabLst>
            </a:pPr>
            <a:r>
              <a:rPr sz="2000" dirty="0"/>
              <a:t>Количество</a:t>
            </a:r>
            <a:r>
              <a:rPr sz="2000" spc="-45" dirty="0"/>
              <a:t> </a:t>
            </a:r>
            <a:r>
              <a:rPr sz="2000" spc="-10" dirty="0"/>
              <a:t>строк</a:t>
            </a:r>
            <a:r>
              <a:rPr sz="2000" spc="-40" dirty="0"/>
              <a:t> </a:t>
            </a:r>
            <a:r>
              <a:rPr sz="2000" dirty="0"/>
              <a:t>в</a:t>
            </a:r>
            <a:r>
              <a:rPr sz="2000" spc="-40" dirty="0"/>
              <a:t> </a:t>
            </a:r>
            <a:r>
              <a:rPr sz="2000" spc="-35" dirty="0"/>
              <a:t>результате</a:t>
            </a:r>
            <a:r>
              <a:rPr sz="2000" spc="-40" dirty="0"/>
              <a:t> </a:t>
            </a:r>
            <a:r>
              <a:rPr sz="2000" dirty="0"/>
              <a:t>=</a:t>
            </a:r>
            <a:r>
              <a:rPr sz="2000" spc="-40" dirty="0"/>
              <a:t> </a:t>
            </a:r>
            <a:r>
              <a:rPr sz="2000" dirty="0"/>
              <a:t>количество</a:t>
            </a:r>
            <a:r>
              <a:rPr sz="2000" spc="-40" dirty="0"/>
              <a:t> </a:t>
            </a:r>
            <a:r>
              <a:rPr sz="2000" spc="-10" dirty="0"/>
              <a:t>строк</a:t>
            </a:r>
            <a:r>
              <a:rPr sz="2000" spc="-40" dirty="0"/>
              <a:t> </a:t>
            </a:r>
            <a:r>
              <a:rPr sz="2000" dirty="0"/>
              <a:t>в</a:t>
            </a:r>
            <a:r>
              <a:rPr sz="2000" spc="-40" dirty="0"/>
              <a:t> </a:t>
            </a:r>
            <a:r>
              <a:rPr sz="2000" dirty="0"/>
              <a:t>изначальной</a:t>
            </a:r>
            <a:r>
              <a:rPr sz="2000" spc="-40" dirty="0"/>
              <a:t> </a:t>
            </a:r>
            <a:r>
              <a:rPr sz="2000" dirty="0"/>
              <a:t>таблице</a:t>
            </a:r>
            <a:r>
              <a:rPr sz="2000" spc="-40" dirty="0"/>
              <a:t> </a:t>
            </a:r>
            <a:r>
              <a:rPr sz="2000" dirty="0"/>
              <a:t>(в</a:t>
            </a:r>
            <a:r>
              <a:rPr sz="2000" spc="-40" dirty="0"/>
              <a:t> </a:t>
            </a:r>
            <a:r>
              <a:rPr sz="2000" spc="-10" dirty="0"/>
              <a:t>отличие </a:t>
            </a:r>
            <a:r>
              <a:rPr sz="2000" dirty="0"/>
              <a:t>от</a:t>
            </a:r>
            <a:r>
              <a:rPr sz="2000" spc="-75" dirty="0"/>
              <a:t> </a:t>
            </a:r>
            <a:r>
              <a:rPr sz="2000" spc="-10" dirty="0"/>
              <a:t>GROUP</a:t>
            </a:r>
            <a:r>
              <a:rPr sz="2000" spc="-70" dirty="0"/>
              <a:t> </a:t>
            </a:r>
            <a:r>
              <a:rPr sz="2000" spc="-25" dirty="0"/>
              <a:t>BY)</a:t>
            </a:r>
            <a:endParaRPr sz="2000" spc="-25" dirty="0"/>
          </a:p>
          <a:p>
            <a:pPr marL="469900" marR="472440" indent="-344170">
              <a:lnSpc>
                <a:spcPct val="120000"/>
              </a:lnSpc>
              <a:buFont typeface="Microsoft Sans Serif" panose="020B0604020202020204"/>
              <a:buChar char="●"/>
              <a:tabLst>
                <a:tab pos="469900" algn="l"/>
              </a:tabLst>
            </a:pPr>
            <a:r>
              <a:rPr sz="2000" dirty="0"/>
              <a:t>Рамки</a:t>
            </a:r>
            <a:r>
              <a:rPr sz="2000" spc="-30" dirty="0"/>
              <a:t> </a:t>
            </a:r>
            <a:r>
              <a:rPr sz="2000" dirty="0"/>
              <a:t>окон</a:t>
            </a:r>
            <a:r>
              <a:rPr sz="2000" spc="-30" dirty="0"/>
              <a:t> </a:t>
            </a:r>
            <a:r>
              <a:rPr sz="2000" dirty="0"/>
              <a:t>можно</a:t>
            </a:r>
            <a:r>
              <a:rPr sz="2000" spc="-25" dirty="0"/>
              <a:t> задавать</a:t>
            </a:r>
            <a:r>
              <a:rPr sz="2000" spc="-30" dirty="0"/>
              <a:t> </a:t>
            </a:r>
            <a:r>
              <a:rPr sz="2000" dirty="0"/>
              <a:t>в</a:t>
            </a:r>
            <a:r>
              <a:rPr sz="2000" spc="-30" dirty="0"/>
              <a:t> </a:t>
            </a:r>
            <a:r>
              <a:rPr sz="2000" spc="-10" dirty="0"/>
              <a:t>зависимости</a:t>
            </a:r>
            <a:r>
              <a:rPr sz="2000" spc="-25" dirty="0"/>
              <a:t> </a:t>
            </a:r>
            <a:r>
              <a:rPr sz="2000" dirty="0"/>
              <a:t>от</a:t>
            </a:r>
            <a:r>
              <a:rPr sz="2000" spc="-30" dirty="0"/>
              <a:t> </a:t>
            </a:r>
            <a:r>
              <a:rPr sz="2000" spc="-10" dirty="0"/>
              <a:t>значений</a:t>
            </a:r>
            <a:r>
              <a:rPr sz="2000" spc="-30" dirty="0"/>
              <a:t> </a:t>
            </a:r>
            <a:r>
              <a:rPr sz="2000" dirty="0"/>
              <a:t>в</a:t>
            </a:r>
            <a:r>
              <a:rPr sz="2000" spc="-25" dirty="0"/>
              <a:t> </a:t>
            </a:r>
            <a:r>
              <a:rPr sz="2000" spc="-10" dirty="0"/>
              <a:t>одном</a:t>
            </a:r>
            <a:r>
              <a:rPr sz="2000" spc="-30" dirty="0"/>
              <a:t> </a:t>
            </a:r>
            <a:r>
              <a:rPr sz="2000" dirty="0"/>
              <a:t>или</a:t>
            </a:r>
            <a:r>
              <a:rPr sz="2000" spc="-25" dirty="0"/>
              <a:t> </a:t>
            </a:r>
            <a:r>
              <a:rPr sz="2000" spc="-10" dirty="0"/>
              <a:t>нескольких столбцах</a:t>
            </a:r>
            <a:endParaRPr sz="2000" spc="-10" dirty="0"/>
          </a:p>
        </p:txBody>
      </p:sp>
      <p:sp>
        <p:nvSpPr>
          <p:cNvPr id="4" name="object 4"/>
          <p:cNvSpPr/>
          <p:nvPr/>
        </p:nvSpPr>
        <p:spPr>
          <a:xfrm>
            <a:off x="401649" y="1963667"/>
            <a:ext cx="99060" cy="789093"/>
          </a:xfrm>
          <a:custGeom>
            <a:avLst/>
            <a:gdLst/>
            <a:ahLst/>
            <a:cxnLst/>
            <a:rect l="l" t="t" r="r" b="b"/>
            <a:pathLst>
              <a:path w="99059" h="591819">
                <a:moveTo>
                  <a:pt x="98999" y="591299"/>
                </a:moveTo>
                <a:lnTo>
                  <a:pt x="0" y="591299"/>
                </a:lnTo>
                <a:lnTo>
                  <a:pt x="0" y="0"/>
                </a:lnTo>
                <a:lnTo>
                  <a:pt x="98999" y="0"/>
                </a:lnTo>
                <a:lnTo>
                  <a:pt x="98999" y="591299"/>
                </a:lnTo>
                <a:close/>
              </a:path>
            </a:pathLst>
          </a:custGeom>
          <a:solidFill>
            <a:srgbClr val="D13368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WINDOW</a:t>
            </a:r>
            <a:r>
              <a:rPr spc="-35" dirty="0"/>
              <a:t> </a:t>
            </a:r>
            <a:r>
              <a:rPr dirty="0"/>
              <a:t>/</a:t>
            </a:r>
            <a:r>
              <a:rPr spc="-30" dirty="0"/>
              <a:t> </a:t>
            </a:r>
            <a:r>
              <a:rPr spc="-20" dirty="0"/>
              <a:t>OVER</a:t>
            </a:r>
            <a:endParaRPr spc="-2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64112" y="1335731"/>
            <a:ext cx="8015764" cy="454943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3575" y="6013784"/>
            <a:ext cx="533273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u="heavy" spc="-10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Microsoft Sans Serif" panose="020B0604020202020204"/>
                <a:cs typeface="Microsoft Sans Serif" panose="020B0604020202020204"/>
                <a:hlinkClick r:id="rId2"/>
              </a:rPr>
              <a:t>https://postgrespro.ru/docs/postgresql/16/tutorial-window</a:t>
            </a:r>
            <a:r>
              <a:rPr sz="1400" spc="-10" dirty="0">
                <a:solidFill>
                  <a:srgbClr val="F06292"/>
                </a:solidFill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u="heavy" spc="-10" dirty="0">
                <a:solidFill>
                  <a:srgbClr val="F06292"/>
                </a:solidFill>
                <a:uFill>
                  <a:solidFill>
                    <a:srgbClr val="F06292"/>
                  </a:solidFill>
                </a:uFill>
                <a:latin typeface="Microsoft Sans Serif" panose="020B0604020202020204"/>
                <a:cs typeface="Microsoft Sans Serif" panose="020B0604020202020204"/>
                <a:hlinkClick r:id="rId3"/>
              </a:rPr>
              <a:t>https://postgrespro.ru/docs/postgresql/16/sql-select#SQL-WINDOW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WINDOW</a:t>
            </a:r>
            <a:r>
              <a:rPr spc="-35" dirty="0"/>
              <a:t> </a:t>
            </a:r>
            <a:r>
              <a:rPr dirty="0"/>
              <a:t>/</a:t>
            </a:r>
            <a:r>
              <a:rPr spc="-30" dirty="0"/>
              <a:t> </a:t>
            </a:r>
            <a:r>
              <a:rPr spc="-20" dirty="0"/>
              <a:t>OVER</a:t>
            </a:r>
            <a:endParaRPr spc="-2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00431" y="1369640"/>
            <a:ext cx="3452285" cy="497128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5975" y="1789233"/>
            <a:ext cx="3851225" cy="278083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WINDOW</a:t>
            </a:r>
            <a:r>
              <a:rPr spc="-35" dirty="0"/>
              <a:t> </a:t>
            </a:r>
            <a:r>
              <a:rPr dirty="0"/>
              <a:t>/</a:t>
            </a:r>
            <a:r>
              <a:rPr spc="-30" dirty="0"/>
              <a:t> </a:t>
            </a:r>
            <a:r>
              <a:rPr spc="-20" dirty="0"/>
              <a:t>OVER</a:t>
            </a:r>
            <a:endParaRPr spc="-2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00549" y="3754568"/>
            <a:ext cx="3331221" cy="235662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0551" y="1541866"/>
            <a:ext cx="3309449" cy="202893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09165" y="1566468"/>
            <a:ext cx="2323750" cy="37685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140" dirty="0"/>
              <a:t> </a:t>
            </a:r>
            <a:r>
              <a:rPr spc="-85" dirty="0"/>
              <a:t>функции</a:t>
            </a:r>
            <a:r>
              <a:rPr spc="-100" dirty="0"/>
              <a:t> </a:t>
            </a:r>
            <a:r>
              <a:rPr dirty="0"/>
              <a:t>вместо</a:t>
            </a:r>
            <a:r>
              <a:rPr spc="-120" dirty="0"/>
              <a:t> </a:t>
            </a:r>
            <a:r>
              <a:rPr spc="-10" dirty="0"/>
              <a:t>группировки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2401" y="1766181"/>
            <a:ext cx="8707695" cy="306455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3575" y="5282916"/>
            <a:ext cx="7673340" cy="659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Если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группировке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исходные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данные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теряются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(группы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"схлапываются"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до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единственной строки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результата),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а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правила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сегментирования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должны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быть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едины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для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всех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агрегатов,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то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оконные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20" dirty="0">
                <a:latin typeface="Microsoft Sans Serif" panose="020B0604020202020204"/>
                <a:cs typeface="Microsoft Sans Serif" panose="020B0604020202020204"/>
              </a:rPr>
              <a:t>функции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исходные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данные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не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трогают,</a:t>
            </a:r>
            <a:r>
              <a:rPr sz="1400" spc="-30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правила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могут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быть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свои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dirty="0">
                <a:latin typeface="Microsoft Sans Serif" panose="020B0604020202020204"/>
                <a:cs typeface="Microsoft Sans Serif" panose="020B0604020202020204"/>
              </a:rPr>
              <a:t>для</a:t>
            </a:r>
            <a:r>
              <a:rPr sz="1400" spc="-25" dirty="0">
                <a:latin typeface="Microsoft Sans Serif" panose="020B0604020202020204"/>
                <a:cs typeface="Microsoft Sans Serif" panose="020B0604020202020204"/>
              </a:rPr>
              <a:t> </a:t>
            </a:r>
            <a:r>
              <a:rPr sz="1400" spc="-10" dirty="0">
                <a:latin typeface="Microsoft Sans Serif" panose="020B0604020202020204"/>
                <a:cs typeface="Microsoft Sans Serif" panose="020B0604020202020204"/>
              </a:rPr>
              <a:t>каждой</a:t>
            </a:r>
            <a:endParaRPr sz="1400">
              <a:latin typeface="Microsoft Sans Serif" panose="020B0604020202020204"/>
              <a:cs typeface="Microsoft Sans Serif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Оконные</a:t>
            </a:r>
            <a:r>
              <a:rPr sz="3200" spc="-140" dirty="0"/>
              <a:t> </a:t>
            </a:r>
            <a:r>
              <a:rPr sz="3200" spc="-85" dirty="0"/>
              <a:t>функции</a:t>
            </a:r>
            <a:r>
              <a:rPr sz="3200" spc="-100" dirty="0"/>
              <a:t> </a:t>
            </a:r>
            <a:r>
              <a:rPr sz="3200" dirty="0"/>
              <a:t>вместо</a:t>
            </a:r>
            <a:r>
              <a:rPr sz="3200" spc="-120" dirty="0"/>
              <a:t> </a:t>
            </a:r>
            <a:r>
              <a:rPr sz="3200" spc="-10" dirty="0"/>
              <a:t>группировки</a:t>
            </a:r>
            <a:endParaRPr sz="3200"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03626" y="1390699"/>
            <a:ext cx="4366699" cy="215703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52276" y="1390699"/>
            <a:ext cx="3332949" cy="31305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3626" y="3817367"/>
            <a:ext cx="2418575" cy="155559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6" y="518011"/>
            <a:ext cx="5587738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Оконные</a:t>
            </a:r>
            <a:r>
              <a:rPr sz="3600" spc="-90" dirty="0"/>
              <a:t> </a:t>
            </a:r>
            <a:r>
              <a:rPr sz="3600" spc="-70" dirty="0"/>
              <a:t>функции:</a:t>
            </a:r>
            <a:r>
              <a:rPr sz="3600" spc="-85" dirty="0"/>
              <a:t> </a:t>
            </a:r>
            <a:r>
              <a:rPr sz="3600" dirty="0"/>
              <a:t>пример</a:t>
            </a:r>
            <a:r>
              <a:rPr sz="3600" spc="-80" dirty="0"/>
              <a:t> </a:t>
            </a:r>
            <a:r>
              <a:rPr sz="3600" spc="-50" dirty="0"/>
              <a:t>1</a:t>
            </a:r>
            <a:endParaRPr sz="3600"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544025" y="1148777"/>
            <a:ext cx="5215890" cy="2144817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20"/>
              </a:spcBef>
            </a:pPr>
            <a:r>
              <a:rPr sz="1400" spc="-25" dirty="0">
                <a:solidFill>
                  <a:srgbClr val="434343"/>
                </a:solidFill>
                <a:latin typeface="Roboto"/>
                <a:cs typeface="Roboto"/>
              </a:rPr>
              <a:t>Подсчитать</a:t>
            </a:r>
            <a:r>
              <a:rPr sz="140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промежуточную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0" dirty="0">
                <a:solidFill>
                  <a:srgbClr val="434343"/>
                </a:solidFill>
                <a:latin typeface="Roboto"/>
                <a:cs typeface="Roboto"/>
              </a:rPr>
              <a:t>сумму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dirty="0">
                <a:solidFill>
                  <a:srgbClr val="434343"/>
                </a:solidFill>
                <a:latin typeface="Roboto"/>
                <a:cs typeface="Roboto"/>
              </a:rPr>
              <a:t>покупок</a:t>
            </a:r>
            <a:r>
              <a:rPr sz="140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0" dirty="0">
                <a:solidFill>
                  <a:srgbClr val="434343"/>
                </a:solidFill>
                <a:latin typeface="Roboto"/>
                <a:cs typeface="Roboto"/>
              </a:rPr>
              <a:t>(running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total)</a:t>
            </a:r>
            <a:endParaRPr sz="14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SELECT</a:t>
            </a:r>
            <a:r>
              <a:rPr sz="1400" spc="4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date</a:t>
            </a:r>
            <a:r>
              <a:rPr sz="1400" spc="-1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,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612775">
              <a:lnSpc>
                <a:spcPct val="100000"/>
              </a:lnSpc>
              <a:spcBef>
                <a:spcPts val="565"/>
              </a:spcBef>
            </a:pPr>
            <a:r>
              <a:rPr sz="1400" spc="-2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sales_amount</a:t>
            </a:r>
            <a:r>
              <a:rPr sz="1400" spc="-375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5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,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784225" marR="3169920" indent="-172085">
              <a:lnSpc>
                <a:spcPct val="143000"/>
              </a:lnSpc>
            </a:pPr>
            <a:r>
              <a:rPr sz="1400" i="1" spc="-10" dirty="0">
                <a:solidFill>
                  <a:srgbClr val="FF00FF"/>
                </a:solidFill>
                <a:latin typeface="Courier New" panose="02070309020205020404"/>
                <a:cs typeface="Courier New" panose="02070309020205020404"/>
              </a:rPr>
              <a:t>Sum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(sales_amount)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OVER</a:t>
            </a:r>
            <a:r>
              <a:rPr sz="1400" spc="3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5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955675">
              <a:lnSpc>
                <a:spcPct val="100000"/>
              </a:lnSpc>
              <a:spcBef>
                <a:spcPts val="565"/>
              </a:spcBef>
            </a:pP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ORDER</a:t>
            </a:r>
            <a:r>
              <a:rPr sz="1400" spc="5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BY</a:t>
            </a:r>
            <a:r>
              <a:rPr sz="1400" spc="1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date)</a:t>
            </a:r>
            <a:r>
              <a:rPr sz="1400" spc="55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AS</a:t>
            </a:r>
            <a:r>
              <a:rPr sz="1400" spc="1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running_total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  <a:tabLst>
                <a:tab pos="612775" algn="l"/>
              </a:tabLst>
            </a:pPr>
            <a:r>
              <a:rPr sz="1400" spc="-2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FROM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	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</a:t>
            </a:r>
            <a:r>
              <a:rPr sz="1400" spc="-1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;</a:t>
            </a:r>
            <a:endParaRPr sz="1400">
              <a:latin typeface="Courier New" panose="02070309020205020404"/>
              <a:cs typeface="Courier New" panose="020703090202050204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95257" y="1374983"/>
          <a:ext cx="3352191" cy="30251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6309"/>
                <a:gridCol w="1498599"/>
                <a:gridCol w="1267283"/>
              </a:tblGrid>
              <a:tr h="52239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b="1" spc="-25" dirty="0">
                          <a:latin typeface="Arial" panose="020B0604020202020204"/>
                          <a:cs typeface="Arial" panose="020B0604020202020204"/>
                        </a:rPr>
                        <a:t>ID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b="1" spc="-10" dirty="0">
                          <a:latin typeface="Arial" panose="020B0604020202020204"/>
                          <a:cs typeface="Arial" panose="020B0604020202020204"/>
                        </a:rPr>
                        <a:t>sales_amount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b="1" spc="-20" dirty="0">
                          <a:latin typeface="Arial" panose="020B0604020202020204"/>
                          <a:cs typeface="Arial" panose="020B0604020202020204"/>
                        </a:rPr>
                        <a:t>date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1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102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23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2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47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27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3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18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6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05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4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20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6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14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5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160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6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2012-12-</a:t>
                      </a:r>
                      <a:r>
                        <a:rPr sz="16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03</a:t>
                      </a:r>
                      <a:endParaRPr sz="16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0833" y="467211"/>
            <a:ext cx="575465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Оконные</a:t>
            </a:r>
            <a:r>
              <a:rPr sz="3600" spc="-90" dirty="0"/>
              <a:t> </a:t>
            </a:r>
            <a:r>
              <a:rPr sz="3600" spc="-70" dirty="0"/>
              <a:t>функции:</a:t>
            </a:r>
            <a:r>
              <a:rPr sz="3600" spc="-85" dirty="0"/>
              <a:t> </a:t>
            </a:r>
            <a:r>
              <a:rPr sz="3600" dirty="0"/>
              <a:t>пример</a:t>
            </a:r>
            <a:r>
              <a:rPr sz="3600" spc="-80" dirty="0"/>
              <a:t> </a:t>
            </a:r>
            <a:r>
              <a:rPr sz="3600" spc="-50" dirty="0"/>
              <a:t>1</a:t>
            </a:r>
            <a:endParaRPr sz="3600"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544025" y="1148777"/>
            <a:ext cx="5215890" cy="2144817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20"/>
              </a:spcBef>
            </a:pPr>
            <a:r>
              <a:rPr sz="1400" spc="-25" dirty="0">
                <a:solidFill>
                  <a:srgbClr val="434343"/>
                </a:solidFill>
                <a:latin typeface="Roboto"/>
                <a:cs typeface="Roboto"/>
              </a:rPr>
              <a:t>Подсчитать</a:t>
            </a:r>
            <a:r>
              <a:rPr sz="140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промежуточную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0" dirty="0">
                <a:solidFill>
                  <a:srgbClr val="434343"/>
                </a:solidFill>
                <a:latin typeface="Roboto"/>
                <a:cs typeface="Roboto"/>
              </a:rPr>
              <a:t>сумму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dirty="0">
                <a:solidFill>
                  <a:srgbClr val="434343"/>
                </a:solidFill>
                <a:latin typeface="Roboto"/>
                <a:cs typeface="Roboto"/>
              </a:rPr>
              <a:t>покупок</a:t>
            </a:r>
            <a:r>
              <a:rPr sz="140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0" dirty="0">
                <a:solidFill>
                  <a:srgbClr val="434343"/>
                </a:solidFill>
                <a:latin typeface="Roboto"/>
                <a:cs typeface="Roboto"/>
              </a:rPr>
              <a:t>(running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total)</a:t>
            </a:r>
            <a:endParaRPr sz="14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SELECT</a:t>
            </a:r>
            <a:r>
              <a:rPr sz="1400" spc="4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date</a:t>
            </a:r>
            <a:r>
              <a:rPr sz="1400" spc="-1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,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612775">
              <a:lnSpc>
                <a:spcPct val="100000"/>
              </a:lnSpc>
              <a:spcBef>
                <a:spcPts val="565"/>
              </a:spcBef>
            </a:pPr>
            <a:r>
              <a:rPr sz="1400" spc="-2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sales_amount</a:t>
            </a:r>
            <a:r>
              <a:rPr sz="1400" spc="-375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5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,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784225" marR="3169920" indent="-172085">
              <a:lnSpc>
                <a:spcPct val="143000"/>
              </a:lnSpc>
            </a:pPr>
            <a:r>
              <a:rPr sz="1400" i="1" spc="-10" dirty="0">
                <a:solidFill>
                  <a:srgbClr val="FF00FF"/>
                </a:solidFill>
                <a:latin typeface="Courier New" panose="02070309020205020404"/>
                <a:cs typeface="Courier New" panose="02070309020205020404"/>
              </a:rPr>
              <a:t>Sum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(sales_amount)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OVER</a:t>
            </a:r>
            <a:r>
              <a:rPr sz="1400" spc="3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5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955675">
              <a:lnSpc>
                <a:spcPct val="100000"/>
              </a:lnSpc>
              <a:spcBef>
                <a:spcPts val="565"/>
              </a:spcBef>
            </a:pP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ORDER</a:t>
            </a:r>
            <a:r>
              <a:rPr sz="1400" spc="5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BY</a:t>
            </a:r>
            <a:r>
              <a:rPr sz="1400" spc="1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date)</a:t>
            </a:r>
            <a:r>
              <a:rPr sz="1400" spc="55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AS</a:t>
            </a:r>
            <a:r>
              <a:rPr sz="1400" spc="1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running_total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  <a:tabLst>
                <a:tab pos="612775" algn="l"/>
              </a:tabLst>
            </a:pPr>
            <a:r>
              <a:rPr sz="1400" spc="-2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FROM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	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</a:t>
            </a:r>
            <a:r>
              <a:rPr sz="1400" spc="-1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;</a:t>
            </a:r>
            <a:endParaRPr sz="1400">
              <a:latin typeface="Courier New" panose="02070309020205020404"/>
              <a:cs typeface="Courier New" panose="020703090202050204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64938" y="3633917"/>
          <a:ext cx="3000775" cy="30251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4845"/>
                <a:gridCol w="1341499"/>
                <a:gridCol w="1134431"/>
              </a:tblGrid>
              <a:tr h="52239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25" dirty="0">
                          <a:latin typeface="Arial" panose="020B0604020202020204"/>
                          <a:cs typeface="Arial" panose="020B0604020202020204"/>
                        </a:rPr>
                        <a:t>ID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sales_amount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20" dirty="0">
                          <a:latin typeface="Arial" panose="020B0604020202020204"/>
                          <a:cs typeface="Arial" panose="020B0604020202020204"/>
                        </a:rPr>
                        <a:t>date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1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102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47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18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05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4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14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0969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5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160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2012-12-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412343" y="3515449"/>
          <a:ext cx="4194628" cy="31089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8530"/>
                <a:gridCol w="1318049"/>
                <a:gridCol w="1318049"/>
              </a:tblGrid>
              <a:tr h="67479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sales_amount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20" dirty="0">
                          <a:latin typeface="Arial" panose="020B0604020202020204"/>
                          <a:cs typeface="Arial" panose="020B0604020202020204"/>
                        </a:rPr>
                        <a:t>date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running_total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102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102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47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149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18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05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167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14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187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486833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160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2012-12-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347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3387037" y="5021883"/>
            <a:ext cx="895350" cy="444500"/>
            <a:chOff x="3387037" y="3766412"/>
            <a:chExt cx="895350" cy="333375"/>
          </a:xfrm>
        </p:grpSpPr>
        <p:sp>
          <p:nvSpPr>
            <p:cNvPr id="7" name="object 7"/>
            <p:cNvSpPr/>
            <p:nvPr/>
          </p:nvSpPr>
          <p:spPr>
            <a:xfrm>
              <a:off x="3391799" y="3771174"/>
              <a:ext cx="885825" cy="323850"/>
            </a:xfrm>
            <a:custGeom>
              <a:avLst/>
              <a:gdLst/>
              <a:ahLst/>
              <a:cxnLst/>
              <a:rect l="l" t="t" r="r" b="b"/>
              <a:pathLst>
                <a:path w="885825" h="323850">
                  <a:moveTo>
                    <a:pt x="723449" y="323699"/>
                  </a:moveTo>
                  <a:lnTo>
                    <a:pt x="723449" y="242774"/>
                  </a:lnTo>
                  <a:lnTo>
                    <a:pt x="0" y="242774"/>
                  </a:lnTo>
                  <a:lnTo>
                    <a:pt x="0" y="80924"/>
                  </a:lnTo>
                  <a:lnTo>
                    <a:pt x="723449" y="80924"/>
                  </a:lnTo>
                  <a:lnTo>
                    <a:pt x="723449" y="0"/>
                  </a:lnTo>
                  <a:lnTo>
                    <a:pt x="885299" y="161849"/>
                  </a:lnTo>
                  <a:lnTo>
                    <a:pt x="723449" y="323699"/>
                  </a:lnTo>
                  <a:close/>
                </a:path>
              </a:pathLst>
            </a:custGeom>
            <a:solidFill>
              <a:srgbClr val="999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391799" y="3771174"/>
              <a:ext cx="885825" cy="323850"/>
            </a:xfrm>
            <a:custGeom>
              <a:avLst/>
              <a:gdLst/>
              <a:ahLst/>
              <a:cxnLst/>
              <a:rect l="l" t="t" r="r" b="b"/>
              <a:pathLst>
                <a:path w="885825" h="323850">
                  <a:moveTo>
                    <a:pt x="0" y="80924"/>
                  </a:moveTo>
                  <a:lnTo>
                    <a:pt x="723449" y="80924"/>
                  </a:lnTo>
                  <a:lnTo>
                    <a:pt x="723449" y="0"/>
                  </a:lnTo>
                  <a:lnTo>
                    <a:pt x="885299" y="161849"/>
                  </a:lnTo>
                  <a:lnTo>
                    <a:pt x="723449" y="323699"/>
                  </a:lnTo>
                  <a:lnTo>
                    <a:pt x="723449" y="242774"/>
                  </a:lnTo>
                  <a:lnTo>
                    <a:pt x="0" y="242774"/>
                  </a:lnTo>
                  <a:lnTo>
                    <a:pt x="0" y="80924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90" dirty="0"/>
              <a:t> </a:t>
            </a:r>
            <a:r>
              <a:rPr spc="-70" dirty="0"/>
              <a:t>функции:</a:t>
            </a:r>
            <a:r>
              <a:rPr spc="-85" dirty="0"/>
              <a:t> </a:t>
            </a:r>
            <a:r>
              <a:rPr dirty="0"/>
              <a:t>пример</a:t>
            </a:r>
            <a:r>
              <a:rPr spc="-80" dirty="0"/>
              <a:t> </a:t>
            </a:r>
            <a:r>
              <a:rPr spc="-50" dirty="0"/>
              <a:t>2</a:t>
            </a:r>
            <a:endParaRPr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372750" y="1928412"/>
            <a:ext cx="3394710" cy="2797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000"/>
              </a:lnSpc>
              <a:spcBef>
                <a:spcPts val="100"/>
              </a:spcBef>
            </a:pPr>
            <a:r>
              <a:rPr sz="1400" spc="-25" dirty="0">
                <a:solidFill>
                  <a:srgbClr val="434343"/>
                </a:solidFill>
                <a:latin typeface="Roboto"/>
                <a:cs typeface="Roboto"/>
              </a:rPr>
              <a:t>Подсчитать</a:t>
            </a:r>
            <a:r>
              <a:rPr sz="14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общую</a:t>
            </a:r>
            <a:r>
              <a:rPr sz="14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0" dirty="0">
                <a:solidFill>
                  <a:srgbClr val="434343"/>
                </a:solidFill>
                <a:latin typeface="Roboto"/>
                <a:cs typeface="Roboto"/>
              </a:rPr>
              <a:t>сумму</a:t>
            </a:r>
            <a:r>
              <a:rPr sz="14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dirty="0">
                <a:solidFill>
                  <a:srgbClr val="434343"/>
                </a:solidFill>
                <a:latin typeface="Roboto"/>
                <a:cs typeface="Roboto"/>
              </a:rPr>
              <a:t>покупок</a:t>
            </a:r>
            <a:r>
              <a:rPr sz="14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25" dirty="0">
                <a:solidFill>
                  <a:srgbClr val="434343"/>
                </a:solidFill>
                <a:latin typeface="Roboto"/>
                <a:cs typeface="Roboto"/>
              </a:rPr>
              <a:t>по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каждому</a:t>
            </a:r>
            <a:r>
              <a:rPr sz="1400" spc="-3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400" spc="-10" dirty="0">
                <a:solidFill>
                  <a:srgbClr val="434343"/>
                </a:solidFill>
                <a:latin typeface="Roboto"/>
                <a:cs typeface="Roboto"/>
              </a:rPr>
              <a:t>клиенту.</a:t>
            </a:r>
            <a:endParaRPr sz="14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14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SELECT</a:t>
            </a:r>
            <a:r>
              <a:rPr sz="1400" spc="4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35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*,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784225" marR="1348740" indent="-172085">
              <a:lnSpc>
                <a:spcPct val="143000"/>
              </a:lnSpc>
            </a:pPr>
            <a:r>
              <a:rPr sz="1400" i="1" spc="-10" dirty="0">
                <a:solidFill>
                  <a:srgbClr val="FF00FF"/>
                </a:solidFill>
                <a:latin typeface="Courier New" panose="02070309020205020404"/>
                <a:cs typeface="Courier New" panose="02070309020205020404"/>
              </a:rPr>
              <a:t>Sum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(sales_amount)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OVER</a:t>
            </a:r>
            <a:r>
              <a:rPr sz="1400" spc="3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5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(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955675">
              <a:lnSpc>
                <a:spcPct val="100000"/>
              </a:lnSpc>
              <a:spcBef>
                <a:spcPts val="565"/>
              </a:spcBef>
            </a:pPr>
            <a:r>
              <a:rPr sz="140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partition</a:t>
            </a:r>
            <a:r>
              <a:rPr sz="1400" spc="8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BY</a:t>
            </a:r>
            <a:r>
              <a:rPr sz="1400" spc="-15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client)</a:t>
            </a:r>
            <a:r>
              <a:rPr sz="1400" spc="55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 </a:t>
            </a:r>
            <a:r>
              <a:rPr sz="1400" spc="-25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AS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12700">
              <a:lnSpc>
                <a:spcPct val="100000"/>
              </a:lnSpc>
              <a:spcBef>
                <a:spcPts val="265"/>
              </a:spcBef>
            </a:pP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sales_total</a:t>
            </a:r>
            <a:endParaRPr sz="1400">
              <a:latin typeface="Courier New" panose="02070309020205020404"/>
              <a:cs typeface="Courier New" panose="02070309020205020404"/>
            </a:endParaRPr>
          </a:p>
          <a:p>
            <a:pPr marL="12700">
              <a:lnSpc>
                <a:spcPct val="100000"/>
              </a:lnSpc>
              <a:spcBef>
                <a:spcPts val="560"/>
              </a:spcBef>
              <a:tabLst>
                <a:tab pos="612775" algn="l"/>
              </a:tabLst>
            </a:pPr>
            <a:r>
              <a:rPr sz="1400" spc="-2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FROM</a:t>
            </a:r>
            <a:r>
              <a:rPr sz="1400" dirty="0">
                <a:solidFill>
                  <a:srgbClr val="0000FF"/>
                </a:solidFill>
                <a:latin typeface="Courier New" panose="02070309020205020404"/>
                <a:cs typeface="Courier New" panose="02070309020205020404"/>
              </a:rPr>
              <a:t>	</a:t>
            </a:r>
            <a:r>
              <a:rPr sz="1400" spc="-10" dirty="0">
                <a:solidFill>
                  <a:srgbClr val="800000"/>
                </a:solidFill>
                <a:latin typeface="Courier New" panose="02070309020205020404"/>
                <a:cs typeface="Courier New" panose="02070309020205020404"/>
              </a:rPr>
              <a:t>sales</a:t>
            </a:r>
            <a:r>
              <a:rPr sz="1400" spc="-10" dirty="0">
                <a:solidFill>
                  <a:srgbClr val="C0C0C0"/>
                </a:solidFill>
                <a:latin typeface="Courier New" panose="02070309020205020404"/>
                <a:cs typeface="Courier New" panose="02070309020205020404"/>
              </a:rPr>
              <a:t>;</a:t>
            </a:r>
            <a:endParaRPr sz="1400">
              <a:latin typeface="Courier New" panose="02070309020205020404"/>
              <a:cs typeface="Courier New" panose="020703090202050204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708402" y="1895816"/>
          <a:ext cx="5309895" cy="33316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0692"/>
                <a:gridCol w="1421953"/>
                <a:gridCol w="1343468"/>
                <a:gridCol w="1026891"/>
                <a:gridCol w="1026891"/>
              </a:tblGrid>
              <a:tr h="586740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25" dirty="0">
                          <a:latin typeface="Arial" panose="020B0604020202020204"/>
                          <a:cs typeface="Arial" panose="020B0604020202020204"/>
                        </a:rPr>
                        <a:t>ID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client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sales_amount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20" dirty="0">
                          <a:latin typeface="Arial" panose="020B0604020202020204"/>
                          <a:cs typeface="Arial" panose="020B0604020202020204"/>
                        </a:rPr>
                        <a:t>date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b="1" spc="-10" dirty="0">
                          <a:latin typeface="Arial" panose="020B0604020202020204"/>
                          <a:cs typeface="Arial" panose="020B0604020202020204"/>
                        </a:rPr>
                        <a:t>sales_total</a:t>
                      </a:r>
                      <a:endParaRPr sz="14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  <a:solidFill>
                      <a:srgbClr val="D13368"/>
                    </a:solidFill>
                  </a:tcPr>
                </a:tc>
              </a:tr>
              <a:tr h="513927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1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0" dirty="0">
                          <a:latin typeface="Microsoft Sans Serif" panose="020B0604020202020204"/>
                          <a:cs typeface="Microsoft Sans Serif" panose="020B0604020202020204"/>
                        </a:rPr>
                        <a:t>Петр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102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262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13927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Василий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47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2012-10-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47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7234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Мария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18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05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38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7234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4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Мария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</a:t>
                      </a:r>
                      <a:r>
                        <a:rPr sz="1400" spc="-40" dirty="0">
                          <a:latin typeface="Microsoft Sans Serif" panose="020B0604020202020204"/>
                          <a:cs typeface="Microsoft Sans Serif" panose="020B0604020202020204"/>
                        </a:rPr>
                        <a:t>11-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14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38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57234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Microsoft Sans Serif" panose="020B0604020202020204"/>
                          <a:cs typeface="Microsoft Sans Serif" panose="020B0604020202020204"/>
                        </a:rPr>
                        <a:t>5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0" dirty="0">
                          <a:latin typeface="Microsoft Sans Serif" panose="020B0604020202020204"/>
                          <a:cs typeface="Microsoft Sans Serif" panose="020B0604020202020204"/>
                        </a:rPr>
                        <a:t>Петр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160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10" dirty="0">
                          <a:latin typeface="Microsoft Sans Serif" panose="020B0604020202020204"/>
                          <a:cs typeface="Microsoft Sans Serif" panose="020B0604020202020204"/>
                        </a:rPr>
                        <a:t>2012-12-</a:t>
                      </a: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03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25" dirty="0">
                          <a:latin typeface="Microsoft Sans Serif" panose="020B0604020202020204"/>
                          <a:cs typeface="Microsoft Sans Serif" panose="020B0604020202020204"/>
                        </a:rPr>
                        <a:t>262</a:t>
                      </a:r>
                      <a:endParaRPr sz="1400">
                        <a:latin typeface="Microsoft Sans Serif" panose="020B0604020202020204"/>
                        <a:cs typeface="Microsoft Sans Serif" panose="020B0604020202020204"/>
                      </a:endParaRPr>
                    </a:p>
                  </a:txBody>
                  <a:tcPr marL="0" marR="0" marT="105833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110" dirty="0"/>
              <a:t> </a:t>
            </a:r>
            <a:r>
              <a:rPr spc="-65" dirty="0"/>
              <a:t>функции</a:t>
            </a:r>
            <a:endParaRPr spc="-65" dirty="0"/>
          </a:p>
        </p:txBody>
      </p:sp>
      <p:sp>
        <p:nvSpPr>
          <p:cNvPr id="3" name="object 3"/>
          <p:cNvSpPr txBox="1"/>
          <p:nvPr/>
        </p:nvSpPr>
        <p:spPr>
          <a:xfrm>
            <a:off x="573576" y="1989164"/>
            <a:ext cx="4613275" cy="6540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Другие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примеры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аналитических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оконных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функций: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136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spc="-10" dirty="0">
                <a:solidFill>
                  <a:srgbClr val="434343"/>
                </a:solidFill>
                <a:latin typeface="Roboto"/>
                <a:cs typeface="Roboto"/>
              </a:rPr>
              <a:t>ROW_NUMBER:</a:t>
            </a:r>
            <a:r>
              <a:rPr sz="1500" b="1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внутри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окна;</a:t>
            </a:r>
            <a:endParaRPr sz="15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110" dirty="0"/>
              <a:t> </a:t>
            </a:r>
            <a:r>
              <a:rPr spc="-65" dirty="0"/>
              <a:t>функции</a:t>
            </a:r>
            <a:endParaRPr spc="-65" dirty="0"/>
          </a:p>
        </p:txBody>
      </p:sp>
      <p:sp>
        <p:nvSpPr>
          <p:cNvPr id="3" name="object 3"/>
          <p:cNvSpPr txBox="1"/>
          <p:nvPr/>
        </p:nvSpPr>
        <p:spPr>
          <a:xfrm>
            <a:off x="573575" y="1989165"/>
            <a:ext cx="7112634" cy="10002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Другие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примеры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аналитических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оконных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функций: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136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spc="-10" dirty="0">
                <a:solidFill>
                  <a:srgbClr val="434343"/>
                </a:solidFill>
                <a:latin typeface="Roboto"/>
                <a:cs typeface="Roboto"/>
              </a:rPr>
              <a:t>ROW_NUMBER:</a:t>
            </a:r>
            <a:r>
              <a:rPr sz="1500" b="1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внутри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окна;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RANK,</a:t>
            </a:r>
            <a:r>
              <a:rPr sz="1500" b="1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DENSE_RANK:</a:t>
            </a:r>
            <a:r>
              <a:rPr sz="1500" b="1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окне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434343"/>
                </a:solidFill>
                <a:latin typeface="Roboto"/>
                <a:cs typeface="Roboto"/>
              </a:rPr>
              <a:t>отсортированными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строками;</a:t>
            </a:r>
            <a:endParaRPr sz="15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110" dirty="0"/>
              <a:t> </a:t>
            </a:r>
            <a:r>
              <a:rPr spc="-65" dirty="0"/>
              <a:t>функции</a:t>
            </a:r>
            <a:endParaRPr spc="-65" dirty="0"/>
          </a:p>
        </p:txBody>
      </p:sp>
      <p:sp>
        <p:nvSpPr>
          <p:cNvPr id="3" name="object 3"/>
          <p:cNvSpPr txBox="1"/>
          <p:nvPr/>
        </p:nvSpPr>
        <p:spPr>
          <a:xfrm>
            <a:off x="573575" y="1989164"/>
            <a:ext cx="7112634" cy="1346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Другие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примеры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аналитических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оконных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функций: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136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spc="-10" dirty="0">
                <a:solidFill>
                  <a:srgbClr val="434343"/>
                </a:solidFill>
                <a:latin typeface="Roboto"/>
                <a:cs typeface="Roboto"/>
              </a:rPr>
              <a:t>ROW_NUMBER:</a:t>
            </a:r>
            <a:r>
              <a:rPr sz="1500" b="1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внутри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окна;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RANK,</a:t>
            </a:r>
            <a:r>
              <a:rPr sz="1500" b="1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DENSE_RANK:</a:t>
            </a:r>
            <a:r>
              <a:rPr sz="1500" b="1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окне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434343"/>
                </a:solidFill>
                <a:latin typeface="Roboto"/>
                <a:cs typeface="Roboto"/>
              </a:rPr>
              <a:t>отсортированными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строками;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Arial" panose="020B0604020202020204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LAG,</a:t>
            </a:r>
            <a:r>
              <a:rPr sz="1500" b="1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LEAD:</a:t>
            </a:r>
            <a:r>
              <a:rPr sz="1500" b="1" spc="-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Значение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434343"/>
                </a:solidFill>
                <a:latin typeface="Roboto"/>
                <a:cs typeface="Roboto"/>
              </a:rPr>
              <a:t>предыдущей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или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последующей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окне;</a:t>
            </a:r>
            <a:endParaRPr sz="15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dirty="0"/>
              <a:t>Оконные</a:t>
            </a:r>
            <a:r>
              <a:rPr spc="-110" dirty="0"/>
              <a:t> </a:t>
            </a:r>
            <a:r>
              <a:rPr spc="-65" dirty="0"/>
              <a:t>функции</a:t>
            </a:r>
            <a:endParaRPr spc="-65" dirty="0"/>
          </a:p>
        </p:txBody>
      </p:sp>
      <p:sp>
        <p:nvSpPr>
          <p:cNvPr id="3" name="object 3"/>
          <p:cNvSpPr txBox="1"/>
          <p:nvPr/>
        </p:nvSpPr>
        <p:spPr>
          <a:xfrm>
            <a:off x="573575" y="1989164"/>
            <a:ext cx="7112634" cy="169277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Другие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примеры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аналитических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оконных</a:t>
            </a:r>
            <a:r>
              <a:rPr sz="1500" spc="-5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функций: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136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spc="-10" dirty="0">
                <a:solidFill>
                  <a:srgbClr val="434343"/>
                </a:solidFill>
                <a:latin typeface="Roboto"/>
                <a:cs typeface="Roboto"/>
              </a:rPr>
              <a:t>ROW_NUMBER:</a:t>
            </a:r>
            <a:r>
              <a:rPr sz="1500" b="1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внутри</a:t>
            </a:r>
            <a:r>
              <a:rPr sz="1500" spc="-5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окна;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RANK,</a:t>
            </a:r>
            <a:r>
              <a:rPr sz="1500" b="1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DENSE_RANK:</a:t>
            </a:r>
            <a:r>
              <a:rPr sz="1500" b="1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номер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окне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434343"/>
                </a:solidFill>
                <a:latin typeface="Roboto"/>
                <a:cs typeface="Roboto"/>
              </a:rPr>
              <a:t>отсортированными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строками;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Arial" panose="020B0604020202020204"/>
              <a:buChar char="●"/>
              <a:tabLst>
                <a:tab pos="469265" algn="l"/>
              </a:tabLst>
            </a:pP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LAG,</a:t>
            </a:r>
            <a:r>
              <a:rPr sz="1500" b="1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LEAD:</a:t>
            </a:r>
            <a:r>
              <a:rPr sz="1500" b="1" spc="-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Значение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434343"/>
                </a:solidFill>
                <a:latin typeface="Roboto"/>
                <a:cs typeface="Roboto"/>
              </a:rPr>
              <a:t>предыдущей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или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последующей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строки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 окне;</a:t>
            </a:r>
            <a:endParaRPr sz="1500">
              <a:latin typeface="Roboto"/>
              <a:cs typeface="Roboto"/>
            </a:endParaRPr>
          </a:p>
          <a:p>
            <a:pPr marL="469265" indent="-343535">
              <a:lnSpc>
                <a:spcPct val="100000"/>
              </a:lnSpc>
              <a:spcBef>
                <a:spcPts val="900"/>
              </a:spcBef>
              <a:buFont typeface="Microsoft Sans Serif" panose="020B0604020202020204"/>
              <a:buChar char="●"/>
              <a:tabLst>
                <a:tab pos="469265" algn="l"/>
              </a:tabLst>
            </a:pPr>
            <a:r>
              <a:rPr sz="1500" b="1" spc="-10" dirty="0">
                <a:solidFill>
                  <a:srgbClr val="434343"/>
                </a:solidFill>
                <a:latin typeface="Roboto"/>
                <a:cs typeface="Roboto"/>
              </a:rPr>
              <a:t>FIRST_VALUE,</a:t>
            </a:r>
            <a:r>
              <a:rPr sz="1500" b="1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b="1" dirty="0">
                <a:solidFill>
                  <a:srgbClr val="434343"/>
                </a:solidFill>
                <a:latin typeface="Roboto"/>
                <a:cs typeface="Roboto"/>
              </a:rPr>
              <a:t>LAST_VALUE: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Первое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или</a:t>
            </a:r>
            <a:r>
              <a:rPr sz="150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последнее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значение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dirty="0">
                <a:solidFill>
                  <a:srgbClr val="434343"/>
                </a:solidFill>
                <a:latin typeface="Roboto"/>
                <a:cs typeface="Roboto"/>
              </a:rPr>
              <a:t>в</a:t>
            </a:r>
            <a:r>
              <a:rPr sz="1500" spc="-15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434343"/>
                </a:solidFill>
                <a:latin typeface="Roboto"/>
                <a:cs typeface="Roboto"/>
              </a:rPr>
              <a:t>окне;</a:t>
            </a:r>
            <a:endParaRPr sz="15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Оконные</a:t>
            </a:r>
            <a:r>
              <a:rPr sz="3600" spc="-140" dirty="0"/>
              <a:t> </a:t>
            </a:r>
            <a:r>
              <a:rPr sz="3600" spc="-85" dirty="0"/>
              <a:t>функции</a:t>
            </a:r>
            <a:r>
              <a:rPr sz="3600" spc="-100" dirty="0"/>
              <a:t> </a:t>
            </a:r>
            <a:r>
              <a:rPr sz="3600" dirty="0"/>
              <a:t>вместо</a:t>
            </a:r>
            <a:r>
              <a:rPr sz="3600" spc="-120" dirty="0"/>
              <a:t> </a:t>
            </a:r>
            <a:r>
              <a:rPr sz="3600" spc="-10" dirty="0"/>
              <a:t>рекурсии</a:t>
            </a:r>
            <a:endParaRPr sz="3600"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62375" y="1349465"/>
            <a:ext cx="3260302" cy="454943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4626" y="1349466"/>
            <a:ext cx="4356899" cy="2145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69696" y="3691079"/>
            <a:ext cx="2316148" cy="21184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Совместное</a:t>
            </a:r>
            <a:r>
              <a:rPr sz="2800" spc="-60" dirty="0"/>
              <a:t> </a:t>
            </a:r>
            <a:r>
              <a:rPr sz="2800" dirty="0"/>
              <a:t>вычисление</a:t>
            </a:r>
            <a:r>
              <a:rPr sz="2800" spc="-60" dirty="0"/>
              <a:t> </a:t>
            </a:r>
            <a:r>
              <a:rPr sz="2800" dirty="0"/>
              <a:t>по</a:t>
            </a:r>
            <a:r>
              <a:rPr sz="2800" spc="-55" dirty="0"/>
              <a:t> </a:t>
            </a:r>
            <a:r>
              <a:rPr sz="2800" spc="-20" dirty="0"/>
              <a:t>разным</a:t>
            </a:r>
            <a:r>
              <a:rPr sz="2800" spc="-60" dirty="0"/>
              <a:t> </a:t>
            </a:r>
            <a:r>
              <a:rPr sz="2800" spc="-10" dirty="0"/>
              <a:t>"окнам"</a:t>
            </a:r>
            <a:endParaRPr sz="2800" spc="-1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54375" y="1349465"/>
            <a:ext cx="3699826" cy="4259761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36150" y="1349467"/>
            <a:ext cx="4502624" cy="35430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2193" y="198212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t>Оконные</a:t>
            </a:r>
            <a:r>
              <a:rPr spc="-110"/>
              <a:t> </a:t>
            </a:r>
            <a:r>
              <a:rPr spc="-65" smtClean="0"/>
              <a:t>функции</a:t>
            </a:r>
            <a:r>
              <a:rPr lang="en-US" spc="-65" dirty="0" smtClean="0"/>
              <a:t> </a:t>
            </a:r>
            <a:r>
              <a:rPr lang="ru-RU" spc="-65" dirty="0" smtClean="0"/>
              <a:t>в </a:t>
            </a:r>
            <a:r>
              <a:rPr lang="en-US" spc="-65" dirty="0" smtClean="0"/>
              <a:t>Hive</a:t>
            </a:r>
            <a:endParaRPr spc="-65" dirty="0"/>
          </a:p>
        </p:txBody>
      </p:sp>
      <p:sp>
        <p:nvSpPr>
          <p:cNvPr id="3" name="object 3"/>
          <p:cNvSpPr txBox="1"/>
          <p:nvPr/>
        </p:nvSpPr>
        <p:spPr>
          <a:xfrm>
            <a:off x="530031" y="1169106"/>
            <a:ext cx="7656025" cy="17620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600" dirty="0" smtClean="0"/>
              <a:t>Оконные функции (</a:t>
            </a:r>
            <a:r>
              <a:rPr lang="ru-RU" sz="1600" dirty="0" err="1" smtClean="0"/>
              <a:t>window</a:t>
            </a:r>
            <a:r>
              <a:rPr lang="ru-RU" sz="1600" dirty="0" smtClean="0"/>
              <a:t> </a:t>
            </a:r>
            <a:r>
              <a:rPr lang="ru-RU" sz="1600" dirty="0" err="1" smtClean="0"/>
              <a:t>functions</a:t>
            </a:r>
            <a:r>
              <a:rPr lang="ru-RU" sz="1600" dirty="0" smtClean="0"/>
              <a:t>) в </a:t>
            </a:r>
            <a:r>
              <a:rPr lang="ru-RU" sz="1600" b="1" dirty="0" err="1" smtClean="0"/>
              <a:t>Apache</a:t>
            </a:r>
            <a:r>
              <a:rPr lang="ru-RU" sz="1600" b="1" dirty="0" smtClean="0"/>
              <a:t> </a:t>
            </a:r>
            <a:r>
              <a:rPr lang="ru-RU" sz="1600" b="1" dirty="0" err="1" smtClean="0"/>
              <a:t>Hive</a:t>
            </a:r>
            <a:r>
              <a:rPr lang="ru-RU" sz="1600" dirty="0" smtClean="0"/>
              <a:t> — это мощный инструмент для выполнения </a:t>
            </a:r>
            <a:r>
              <a:rPr lang="ru-RU" sz="1600" b="1" dirty="0" smtClean="0"/>
              <a:t>аналитических вычислений</a:t>
            </a:r>
            <a:r>
              <a:rPr lang="ru-RU" sz="1600" dirty="0" smtClean="0"/>
              <a:t> по строкам, сгруппированным по определённому окну (</a:t>
            </a:r>
            <a:r>
              <a:rPr lang="ru-RU" sz="1600" dirty="0" err="1" smtClean="0"/>
              <a:t>partition</a:t>
            </a:r>
            <a:r>
              <a:rPr lang="ru-RU" sz="1600" dirty="0" smtClean="0"/>
              <a:t>).</a:t>
            </a:r>
            <a:endParaRPr lang="en-US" sz="1600" dirty="0" smtClean="0"/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1600" dirty="0" smtClean="0"/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600" dirty="0" smtClean="0"/>
              <a:t> В отличие от агрегатных функций, оконные функции </a:t>
            </a:r>
            <a:r>
              <a:rPr lang="ru-RU" sz="1600" b="1" dirty="0" smtClean="0"/>
              <a:t>не уменьшают количество строк</a:t>
            </a:r>
            <a:r>
              <a:rPr lang="ru-RU" sz="1600" dirty="0" smtClean="0"/>
              <a:t> в результате, а возвращают вычисленное значение для каждой строки в пределах заданного окна.</a:t>
            </a:r>
            <a:endParaRPr sz="1500">
              <a:latin typeface="Roboto"/>
              <a:cs typeface="Roboto"/>
            </a:endParaRPr>
          </a:p>
        </p:txBody>
      </p:sp>
      <p:pic>
        <p:nvPicPr>
          <p:cNvPr id="1029" name="Picture 5" descr="D:\GitHub\AIS_courses\Анализ_данных_SQL_Hive\лекция_08\img\sql-window-functions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777421" y="3276599"/>
            <a:ext cx="7123113" cy="2743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2193" y="198212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lang="en-US" dirty="0" smtClean="0"/>
              <a:t>GROUP BY </a:t>
            </a:r>
            <a:r>
              <a:rPr lang="ru-RU" dirty="0" smtClean="0"/>
              <a:t>и </a:t>
            </a:r>
            <a:r>
              <a:rPr smtClean="0"/>
              <a:t>Оконные</a:t>
            </a:r>
            <a:r>
              <a:rPr spc="-110" smtClean="0"/>
              <a:t> </a:t>
            </a:r>
            <a:r>
              <a:rPr spc="-65" smtClean="0"/>
              <a:t>функции</a:t>
            </a:r>
            <a:endParaRPr spc="-65" dirty="0"/>
          </a:p>
        </p:txBody>
      </p:sp>
      <p:pic>
        <p:nvPicPr>
          <p:cNvPr id="73730" name="Picture 2" descr="D:\GitHub\AIS_courses\Анализ_данных_SQL_Hive\лекция_08\img\B01781_06_02.jp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19218" y="1863724"/>
            <a:ext cx="8345810" cy="341221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2193" y="198212"/>
            <a:ext cx="78867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t>Оконные</a:t>
            </a:r>
            <a:r>
              <a:rPr spc="-110"/>
              <a:t> </a:t>
            </a:r>
            <a:r>
              <a:rPr spc="-65" smtClean="0"/>
              <a:t>функции</a:t>
            </a:r>
            <a:r>
              <a:rPr lang="en-US" spc="-65" dirty="0" smtClean="0"/>
              <a:t> </a:t>
            </a:r>
            <a:r>
              <a:rPr lang="ru-RU" spc="-65" dirty="0" smtClean="0"/>
              <a:t>в </a:t>
            </a:r>
            <a:r>
              <a:rPr lang="en-US" spc="-65" dirty="0" smtClean="0"/>
              <a:t>Hive</a:t>
            </a:r>
            <a:endParaRPr spc="-65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330" y="1179830"/>
            <a:ext cx="8180705" cy="436054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6222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dirty="0" smtClean="0"/>
              <a:t>Синтаксис оконной функции</a:t>
            </a: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68325" y="1232810"/>
            <a:ext cx="3546475" cy="1929045"/>
          </a:xfrm>
          <a:prstGeom prst="rect">
            <a:avLst/>
          </a:prstGeom>
          <a:noFill/>
          <a:ln w="9525">
            <a:solidFill>
              <a:schemeClr val="accent5">
                <a:lumMod val="75000"/>
              </a:schemeClr>
            </a:solidFill>
            <a:miter lim="800000"/>
            <a:headEnd/>
            <a:tailEnd/>
          </a:ln>
          <a:effectLst/>
        </p:spPr>
      </p:pic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544286" y="3868057"/>
            <a:ext cx="7866743" cy="98488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PARTITION BY — разбивает данные на группы (например, по клиенту)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ORDER BY — упорядочивает строки внутри группы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ROWS BETWEEN ... — определяет диапазон строк (например, текущая + предыдущие)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8022" y="190955"/>
            <a:ext cx="788670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lang="ru-RU" sz="4000" dirty="0" smtClean="0"/>
              <a:t>Диапазон строк в Оконной функции</a:t>
            </a:r>
            <a:endParaRPr sz="4000" spc="-65" dirty="0"/>
          </a:p>
        </p:txBody>
      </p:sp>
      <p:pic>
        <p:nvPicPr>
          <p:cNvPr id="74754" name="Picture 2" descr="D:\GitHub\AIS_courses\Анализ_данных_SQL_Hive\лекция_08\img\window-frames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12184" y="1579335"/>
            <a:ext cx="7765948" cy="3174093"/>
          </a:xfrm>
          <a:prstGeom prst="rect">
            <a:avLst/>
          </a:prstGeom>
          <a:noFill/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747487" y="5145313"/>
            <a:ext cx="7387771" cy="584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Вы</a:t>
            </a:r>
            <a:r>
              <a:rPr kumimoji="0" lang="ru-RU" sz="16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можете задать различные </a:t>
            </a:r>
            <a:r>
              <a:rPr lang="ru-RU" sz="1600" dirty="0" smtClean="0">
                <a:cs typeface="Arial" panose="020B0604020202020204" pitchFamily="34" charset="0"/>
              </a:rPr>
              <a:t>настройки для Оконной функции, что бы управлять «размером окна» - то есть количеством входящих в него строк.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4000" dirty="0" smtClean="0"/>
              <a:t>Параметры </a:t>
            </a:r>
            <a:r>
              <a:rPr lang="en-US" sz="4000" dirty="0" smtClean="0"/>
              <a:t>ROWS BETWEEN</a:t>
            </a:r>
            <a:endParaRPr lang="ru-RU" sz="4000" dirty="0"/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35428" y="1148080"/>
          <a:ext cx="7765144" cy="2072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882572"/>
                <a:gridCol w="3882572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Форма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Что она делает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ROWS BETWEEN </a:t>
                      </a:r>
                      <a:r>
                        <a:rPr lang="en-US" sz="1600" b="1" dirty="0"/>
                        <a:t>UNBOUNDED</a:t>
                      </a:r>
                      <a:r>
                        <a:rPr lang="en-US" sz="1600" dirty="0"/>
                        <a:t> PRECEDING AND </a:t>
                      </a:r>
                      <a:r>
                        <a:rPr lang="en-US" sz="1600" b="1" dirty="0"/>
                        <a:t>CURRENT ROW</a:t>
                      </a:r>
                      <a:endParaRPr 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От начала окна до текущей строки</a:t>
                      </a:r>
                      <a:endParaRPr lang="ru-RU" sz="160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ROWS BETWEEN </a:t>
                      </a:r>
                      <a:r>
                        <a:rPr lang="en-US" sz="1600" b="1" dirty="0"/>
                        <a:t>2</a:t>
                      </a:r>
                      <a:r>
                        <a:rPr lang="en-US" sz="1600" dirty="0"/>
                        <a:t> PRECEDING AND </a:t>
                      </a:r>
                      <a:r>
                        <a:rPr lang="en-US" sz="1600" b="1" dirty="0"/>
                        <a:t>CURRENT</a:t>
                      </a:r>
                      <a:r>
                        <a:rPr lang="en-US" sz="1600" dirty="0"/>
                        <a:t> ROW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Последние 3 строки (2 предыдущие + текущая)</a:t>
                      </a:r>
                      <a:endParaRPr lang="ru-RU" sz="16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ROWS BETWEEN </a:t>
                      </a:r>
                      <a:r>
                        <a:rPr lang="en-US" sz="1600" b="1" dirty="0"/>
                        <a:t>CURRENT</a:t>
                      </a:r>
                      <a:r>
                        <a:rPr lang="en-US" sz="1600" dirty="0"/>
                        <a:t> ROW AND </a:t>
                      </a:r>
                      <a:r>
                        <a:rPr lang="en-US" sz="1600" b="1" dirty="0"/>
                        <a:t>UNBOUNDED</a:t>
                      </a:r>
                      <a:r>
                        <a:rPr lang="en-US" sz="1600" dirty="0"/>
                        <a:t> FOLLOWING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Текущая и все после</a:t>
                      </a:r>
                      <a:endParaRPr lang="ru-RU" sz="16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1681" name="Picture 1" descr="D:\GitHub\AIS_courses\Анализ_данных_SQL_Hive\лекция_08\img\window-frame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240970" y="3419602"/>
            <a:ext cx="6103257" cy="321183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SUM() — накопительная сумма (</a:t>
            </a:r>
            <a:r>
              <a:rPr lang="ru-RU" sz="3200" dirty="0" err="1" smtClean="0"/>
              <a:t>running</a:t>
            </a:r>
            <a:r>
              <a:rPr lang="ru-RU" sz="3200" dirty="0" smtClean="0"/>
              <a:t> </a:t>
            </a:r>
            <a:r>
              <a:rPr lang="ru-RU" sz="3200" dirty="0" err="1" smtClean="0"/>
              <a:t>total</a:t>
            </a:r>
            <a:r>
              <a:rPr lang="ru-RU" sz="3200" dirty="0" smtClean="0"/>
              <a:t>)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06398" y="972457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накопительная сумма заказов клиента по дате: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75778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37709" y="1730142"/>
            <a:ext cx="6151309" cy="3132138"/>
          </a:xfrm>
          <a:prstGeom prst="rect">
            <a:avLst/>
          </a:prstGeom>
          <a:noFill/>
          <a:ln w="9525">
            <a:solidFill>
              <a:schemeClr val="accent1">
                <a:lumMod val="75000"/>
              </a:schemeClr>
            </a:solidFill>
            <a:miter lim="800000"/>
            <a:headEnd/>
            <a:tailEnd/>
          </a:ln>
          <a:effectLst/>
        </p:spPr>
      </p:pic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384628" y="5283191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dirty="0" smtClean="0"/>
              <a:t>Вычисляет сумму всех заказов клиента от самого первого до текущего.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SUM() — накопительная сумма (</a:t>
            </a:r>
            <a:r>
              <a:rPr lang="ru-RU" sz="3200" dirty="0" err="1" smtClean="0"/>
              <a:t>running</a:t>
            </a:r>
            <a:r>
              <a:rPr lang="ru-RU" sz="3200" dirty="0" smtClean="0"/>
              <a:t> </a:t>
            </a:r>
            <a:r>
              <a:rPr lang="ru-RU" sz="3200" dirty="0" err="1" smtClean="0"/>
              <a:t>total</a:t>
            </a:r>
            <a:r>
              <a:rPr lang="ru-RU" sz="3200" dirty="0" smtClean="0"/>
              <a:t>)</a:t>
            </a:r>
            <a:endParaRPr lang="ru-RU" sz="3200" dirty="0"/>
          </a:p>
        </p:txBody>
      </p:sp>
      <p:pic>
        <p:nvPicPr>
          <p:cNvPr id="78850" name="Picture 2" descr="D:\GitHub\AIS_courses\Анализ_данных_SQL_Hive\лекция_08\img\sum-application.png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92344" y="2512785"/>
            <a:ext cx="8721909" cy="215355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dirty="0" smtClean="0"/>
              <a:t>AVG() — </a:t>
            </a:r>
            <a:r>
              <a:rPr lang="ru-RU" sz="3200" dirty="0" smtClean="0"/>
              <a:t>скользящее среднее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06398" y="972457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средняя сумма заказа за последние 3 строки по каждому клиенту: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384628" y="5246906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dirty="0" smtClean="0"/>
              <a:t>Вычисляет сумму всех заказов клиента от самого первого до текущего.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76802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42472" y="1544636"/>
            <a:ext cx="5500295" cy="3368446"/>
          </a:xfrm>
          <a:prstGeom prst="rect">
            <a:avLst/>
          </a:prstGeom>
          <a:noFill/>
          <a:ln w="9525">
            <a:solidFill>
              <a:schemeClr val="accent1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dirty="0" smtClean="0"/>
              <a:t>AVG() — </a:t>
            </a:r>
            <a:r>
              <a:rPr lang="ru-RU" sz="3200" dirty="0" smtClean="0"/>
              <a:t>скользящее среднее</a:t>
            </a:r>
            <a:endParaRPr lang="ru-RU" sz="3200" dirty="0"/>
          </a:p>
        </p:txBody>
      </p:sp>
      <p:pic>
        <p:nvPicPr>
          <p:cNvPr id="77826" name="Picture 2" descr="D:\GitHub\AIS_courses\Анализ_данных_SQL_Hive\лекция_08\img\partitioning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19088" y="1800225"/>
            <a:ext cx="8505825" cy="3257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98212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dirty="0" smtClean="0"/>
              <a:t>COUNT() </a:t>
            </a:r>
            <a:r>
              <a:rPr lang="ru-RU" sz="3200" dirty="0" smtClean="0"/>
              <a:t>— подсчёт строк в окне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06398" y="972457"/>
            <a:ext cx="8113488" cy="584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Для каждого клиента посчитать, </a:t>
            </a:r>
            <a:r>
              <a:rPr lang="ru-RU" sz="1600" b="1" dirty="0" smtClean="0"/>
              <a:t>сколько клиентов в его городе</a:t>
            </a:r>
            <a:r>
              <a:rPr lang="ru-RU" sz="1600" dirty="0" smtClean="0"/>
              <a:t> (включая его самого):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500742" y="4470379"/>
            <a:ext cx="7866743" cy="181588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rPr lang="ru-RU" sz="1600" b="1" dirty="0" smtClean="0"/>
              <a:t>Что делает этот запрос:</a:t>
            </a:r>
            <a:endParaRPr lang="ru-RU" sz="1600" b="1" dirty="0" smtClean="0"/>
          </a:p>
          <a:p>
            <a:endParaRPr lang="ru-RU" sz="1600" b="1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COUNT(*) OVER (PARTITION BY </a:t>
            </a:r>
            <a:r>
              <a:rPr lang="ru-RU" sz="1600" dirty="0" err="1" smtClean="0"/>
              <a:t>city</a:t>
            </a:r>
            <a:r>
              <a:rPr lang="ru-RU" sz="1600" dirty="0" smtClean="0"/>
              <a:t>) — считает количество клиентов </a:t>
            </a:r>
            <a:r>
              <a:rPr lang="ru-RU" sz="1600" b="1" dirty="0" smtClean="0"/>
              <a:t>в рамках каждого города</a:t>
            </a:r>
            <a:r>
              <a:rPr lang="ru-RU" sz="1600" dirty="0" smtClean="0"/>
              <a:t>, не агрегируя строки.</a:t>
            </a:r>
            <a:br>
              <a:rPr lang="ru-RU" sz="1600" dirty="0" smtClean="0"/>
            </a:br>
            <a:endParaRPr lang="ru-RU" sz="1600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Каждая строка остаётся на месте, просто появляется новое значение </a:t>
            </a:r>
            <a:r>
              <a:rPr lang="ru-RU" sz="1600" dirty="0" err="1" smtClean="0"/>
              <a:t>clients_in_city</a:t>
            </a:r>
            <a:r>
              <a:rPr lang="ru-RU" sz="1600" dirty="0" smtClean="0"/>
              <a:t>, показывающее, сколько клиентов проживают в том же городе, что и текущий клиент.</a:t>
            </a:r>
            <a:endParaRPr lang="ru-RU" sz="1600" dirty="0"/>
          </a:p>
        </p:txBody>
      </p:sp>
      <p:pic>
        <p:nvPicPr>
          <p:cNvPr id="79875" name="Picture 3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83746" y="1694541"/>
            <a:ext cx="5824383" cy="2565401"/>
          </a:xfrm>
          <a:prstGeom prst="rect">
            <a:avLst/>
          </a:prstGeom>
          <a:noFill/>
          <a:ln w="9525">
            <a:solidFill>
              <a:schemeClr val="accent1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8992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ROW_NUMBER() — порядковый номер строки в пределах группы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35425" y="1531257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показать номер заказа по дате для каждого клиента.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76904" y="2016807"/>
            <a:ext cx="8431666" cy="1715796"/>
          </a:xfrm>
          <a:prstGeom prst="rect">
            <a:avLst/>
          </a:prstGeom>
          <a:noFill/>
          <a:ln w="9525">
            <a:solidFill>
              <a:schemeClr val="accent1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8993" y="161926"/>
            <a:ext cx="78867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RANK()— ранжирование с пропусками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35425" y="1531257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определить «топ» заказов по сумме.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245155" y="2057175"/>
            <a:ext cx="8443547" cy="15205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829" y="161926"/>
            <a:ext cx="8021864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dirty="0" smtClean="0"/>
              <a:t>DENSE_RANK()</a:t>
            </a:r>
            <a:r>
              <a:rPr lang="ru-RU" sz="3200" dirty="0" smtClean="0"/>
              <a:t>— ранжирование без пропусков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35425" y="1531257"/>
            <a:ext cx="7866743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lvl="0" defTabSz="914400" fontAlgn="base">
              <a:spcBef>
                <a:spcPts val="600"/>
              </a:spcBef>
              <a:spcAft>
                <a:spcPct val="0"/>
              </a:spcAft>
            </a:pPr>
            <a:r>
              <a:rPr lang="ru-RU" sz="1600" b="1" dirty="0" smtClean="0"/>
              <a:t>Задача:</a:t>
            </a:r>
            <a:r>
              <a:rPr lang="ru-RU" sz="1600" dirty="0" smtClean="0"/>
              <a:t> определить «топ» заказов по сумме.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82946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99143" y="2085815"/>
            <a:ext cx="8304485" cy="1571786"/>
          </a:xfrm>
          <a:prstGeom prst="rect">
            <a:avLst/>
          </a:prstGeom>
          <a:noFill/>
          <a:ln w="9525">
            <a:solidFill>
              <a:schemeClr val="accent1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0115" y="321583"/>
            <a:ext cx="8021864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Разница между RANK() и DENSE_RANK()</a:t>
            </a:r>
            <a:endParaRPr lang="ru-RU" sz="32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370110" y="1531257"/>
            <a:ext cx="7866743" cy="181588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rPr lang="ru-RU" sz="1600" dirty="0" smtClean="0"/>
              <a:t>RANK() пропускает значения при одинаковых рангах (например: 1, 1, 3).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DENSE_RANK() не пропускает значения (например: 1, 1, 2).</a:t>
            </a:r>
            <a:endParaRPr lang="ru-RU" sz="1600" dirty="0" smtClean="0"/>
          </a:p>
          <a:p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Это полезно, если нужно </a:t>
            </a:r>
            <a:r>
              <a:rPr lang="ru-RU" sz="1600" b="1" dirty="0" smtClean="0"/>
              <a:t>последовательно ранжировать без разрывов</a:t>
            </a:r>
            <a:r>
              <a:rPr lang="ru-RU" sz="1600" dirty="0" smtClean="0"/>
              <a:t>, даже при одинаковых значениях </a:t>
            </a:r>
            <a:r>
              <a:rPr lang="ru-RU" sz="1600" dirty="0" err="1" smtClean="0"/>
              <a:t>order_ammount</a:t>
            </a:r>
            <a:r>
              <a:rPr lang="ru-RU" sz="1600" dirty="0" smtClean="0"/>
              <a:t>.</a:t>
            </a:r>
            <a:endParaRPr lang="ru-RU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829" y="161926"/>
            <a:ext cx="8021864" cy="8992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Различия между:</a:t>
            </a:r>
            <a:br>
              <a:rPr lang="ru-RU" sz="3200" dirty="0" smtClean="0"/>
            </a:br>
            <a:r>
              <a:rPr lang="en-US" sz="3200" dirty="0" smtClean="0"/>
              <a:t>ROW_NUMBER(), RANK(), DENSE_RANK()</a:t>
            </a:r>
            <a:endParaRPr lang="ru-RU" sz="3200" dirty="0"/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41084" y="1665514"/>
          <a:ext cx="8476344" cy="344128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61887"/>
                <a:gridCol w="2576285"/>
                <a:gridCol w="1531258"/>
                <a:gridCol w="2706914"/>
              </a:tblGrid>
              <a:tr h="627743">
                <a:tc>
                  <a:txBody>
                    <a:bodyPr/>
                    <a:lstStyle/>
                    <a:p>
                      <a:pPr algn="ctr"/>
                      <a:r>
                        <a:rPr lang="ru-RU" sz="1500" dirty="0"/>
                        <a:t>Функция</a:t>
                      </a:r>
                      <a:endParaRPr lang="ru-RU" sz="1500" dirty="0"/>
                    </a:p>
                  </a:txBody>
                  <a:tcPr marL="78154" marR="78154" marT="39077" marB="39077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500" dirty="0"/>
                        <a:t>Поведение при одинаковых значениях</a:t>
                      </a:r>
                      <a:endParaRPr lang="ru-RU" sz="1500" dirty="0"/>
                    </a:p>
                  </a:txBody>
                  <a:tcPr marL="78154" marR="78154" marT="39077" marB="39077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500" dirty="0"/>
                        <a:t>Пропускает номера?</a:t>
                      </a:r>
                      <a:endParaRPr lang="ru-RU" sz="1500" dirty="0"/>
                    </a:p>
                  </a:txBody>
                  <a:tcPr marL="78154" marR="78154" marT="39077" marB="39077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500" dirty="0"/>
                        <a:t>Пример результата при значениях: 100, 100, 90</a:t>
                      </a:r>
                      <a:endParaRPr lang="ru-RU" sz="1500" dirty="0"/>
                    </a:p>
                  </a:txBody>
                  <a:tcPr marL="78154" marR="78154" marT="39077" marB="39077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781538">
                <a:tc>
                  <a:txBody>
                    <a:bodyPr/>
                    <a:lstStyle/>
                    <a:p>
                      <a:r>
                        <a:rPr lang="en-US" sz="1500"/>
                        <a:t>ROW_NUMBER()</a:t>
                      </a:r>
                      <a:endParaRPr lang="en-US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Всегда уникальные номера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Нет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1, 2, 3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</a:tr>
              <a:tr h="1016000">
                <a:tc>
                  <a:txBody>
                    <a:bodyPr/>
                    <a:lstStyle/>
                    <a:p>
                      <a:r>
                        <a:rPr lang="en-US" sz="1500"/>
                        <a:t>RANK()</a:t>
                      </a:r>
                      <a:endParaRPr lang="en-US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Одинаковый ранг при одинаковом значении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Да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1, 1, 3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</a:tr>
              <a:tr h="1016000">
                <a:tc>
                  <a:txBody>
                    <a:bodyPr/>
                    <a:lstStyle/>
                    <a:p>
                      <a:r>
                        <a:rPr lang="en-US" sz="1500"/>
                        <a:t>DENSE_RANK()</a:t>
                      </a:r>
                      <a:endParaRPr lang="en-US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Одинаковый ранг при одинаковом значении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/>
                        <a:t>Нет</a:t>
                      </a:r>
                      <a:endParaRPr lang="ru-RU" sz="1500"/>
                    </a:p>
                  </a:txBody>
                  <a:tcPr marL="78154" marR="78154" marT="39077" marB="39077" anchor="ctr"/>
                </a:tc>
                <a:tc>
                  <a:txBody>
                    <a:bodyPr/>
                    <a:lstStyle/>
                    <a:p>
                      <a:r>
                        <a:rPr lang="ru-RU" sz="1500" dirty="0"/>
                        <a:t>1, 1, 2</a:t>
                      </a:r>
                      <a:endParaRPr lang="ru-RU" sz="1500" dirty="0"/>
                    </a:p>
                  </a:txBody>
                  <a:tcPr marL="78154" marR="78154" marT="39077" marB="39077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829" y="161926"/>
            <a:ext cx="8021864" cy="8992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Различия между:</a:t>
            </a:r>
            <a:br>
              <a:rPr lang="ru-RU" sz="3200" dirty="0" smtClean="0"/>
            </a:br>
            <a:r>
              <a:rPr lang="en-US" sz="3200" dirty="0" smtClean="0"/>
              <a:t>ROW_NUMBER(), RANK(), DENSE_RANK()</a:t>
            </a:r>
            <a:endParaRPr lang="ru-RU" sz="3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97681" y="1604220"/>
            <a:ext cx="35589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Когда какую функцию применять?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15257" y="2087154"/>
          <a:ext cx="7990114" cy="2286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89200"/>
                <a:gridCol w="5500914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Функция</a:t>
                      </a:r>
                      <a:endParaRPr lang="ru-RU" dirty="0"/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Использовать когда...</a:t>
                      </a:r>
                      <a:endParaRPr lang="ru-RU" dirty="0"/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ROW_NUMBER()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/>
                        <a:t>Нужно присвоить уникальный порядковый номер каждой строке, даже при дубликатах</a:t>
                      </a:r>
                      <a:endParaRPr lang="ru-RU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RANK()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/>
                        <a:t>Нужен реалистичный рейтинг с пропущенными местами при равных значениях</a:t>
                      </a:r>
                      <a:endParaRPr lang="ru-RU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DENSE_RANK()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Нужен рейтинг без пропусков (например, в спорте или распределении призовых мест)</a:t>
                      </a:r>
                      <a:endParaRPr lang="ru-RU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3829" y="161926"/>
            <a:ext cx="8021864" cy="8992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3200" dirty="0" smtClean="0"/>
              <a:t>Различия между:</a:t>
            </a:r>
            <a:br>
              <a:rPr lang="ru-RU" sz="3200" dirty="0" smtClean="0"/>
            </a:br>
            <a:r>
              <a:rPr lang="en-US" sz="3200" dirty="0" smtClean="0"/>
              <a:t>ROW_NUMBER(), RANK(), DENSE_RANK()</a:t>
            </a:r>
            <a:endParaRPr lang="ru-RU" sz="3200" dirty="0"/>
          </a:p>
        </p:txBody>
      </p:sp>
      <p:pic>
        <p:nvPicPr>
          <p:cNvPr id="87042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60543" y="1277257"/>
            <a:ext cx="3137399" cy="5279990"/>
          </a:xfrm>
          <a:prstGeom prst="rect">
            <a:avLst/>
          </a:prstGeom>
          <a:noFill/>
          <a:ln w="9525">
            <a:solidFill>
              <a:schemeClr val="accent5">
                <a:lumMod val="75000"/>
              </a:schemeClr>
            </a:solidFill>
            <a:miter lim="800000"/>
            <a:headEnd/>
            <a:tailEnd/>
          </a:ln>
          <a:effectLst/>
        </p:spPr>
      </p:pic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3737424" y="1313541"/>
            <a:ext cx="4891319" cy="584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rPr lang="ru-RU" sz="1600" b="1" dirty="0" smtClean="0"/>
              <a:t>Задача</a:t>
            </a:r>
            <a:r>
              <a:rPr lang="ru-RU" sz="1600" dirty="0" smtClean="0"/>
              <a:t>: показать сумму заказа и сразу применить все три оконные функции для каждого клиента.</a:t>
            </a:r>
            <a:endParaRPr lang="ru-RU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1885" y="263525"/>
            <a:ext cx="8258629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2800" b="1" dirty="0" smtClean="0"/>
              <a:t>LAG() / LEAD() </a:t>
            </a:r>
            <a:r>
              <a:rPr lang="ru-RU" sz="2800" dirty="0" smtClean="0"/>
              <a:t>— доступ к предыдущей / следующей строке</a:t>
            </a:r>
            <a:endParaRPr lang="ru-RU" sz="28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4288971" y="1110342"/>
            <a:ext cx="4622800" cy="155427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>
              <a:spcBef>
                <a:spcPts val="600"/>
              </a:spcBef>
            </a:pPr>
            <a:r>
              <a:rPr lang="ru-RU" sz="1600" dirty="0" smtClean="0"/>
              <a:t>Для каждого клиента и заказа вывести: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600" dirty="0" smtClean="0"/>
              <a:t> текущую сумму заказа,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600" dirty="0" smtClean="0"/>
              <a:t> сумму </a:t>
            </a:r>
            <a:r>
              <a:rPr lang="ru-RU" sz="1600" b="1" dirty="0" smtClean="0"/>
              <a:t>предыдущего</a:t>
            </a:r>
            <a:r>
              <a:rPr lang="ru-RU" sz="1600" dirty="0" smtClean="0"/>
              <a:t> заказа (с помощью LAG()),</a:t>
            </a:r>
            <a:endParaRPr lang="ru-RU" sz="1600" dirty="0" smtClean="0"/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600" dirty="0" smtClean="0"/>
              <a:t> сумму </a:t>
            </a:r>
            <a:r>
              <a:rPr lang="ru-RU" sz="1600" b="1" dirty="0" smtClean="0"/>
              <a:t>следующего</a:t>
            </a:r>
            <a:r>
              <a:rPr lang="ru-RU" sz="1600" dirty="0" smtClean="0"/>
              <a:t> заказа (с помощью LEAD()),</a:t>
            </a:r>
            <a:br>
              <a:rPr lang="ru-RU" sz="1600" dirty="0" smtClean="0"/>
            </a:br>
            <a:r>
              <a:rPr lang="ru-RU" sz="1600" dirty="0" smtClean="0"/>
              <a:t>упорядочив по дате заказа.</a:t>
            </a:r>
            <a:endParaRPr lang="ru-RU" sz="1600" dirty="0"/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88972" y="2989936"/>
            <a:ext cx="4252686" cy="329320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rPr lang="ru-RU" sz="1600" b="1" dirty="0" smtClean="0"/>
              <a:t>Что делает запрос:</a:t>
            </a:r>
            <a:br>
              <a:rPr lang="ru-RU" sz="1600" b="1" dirty="0" smtClean="0"/>
            </a:br>
            <a:endParaRPr lang="ru-RU" sz="1600" b="1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</a:t>
            </a:r>
            <a:r>
              <a:rPr lang="en-US" sz="1600" dirty="0" smtClean="0"/>
              <a:t>LAG(</a:t>
            </a:r>
            <a:r>
              <a:rPr lang="en-US" sz="1600" dirty="0" err="1" smtClean="0"/>
              <a:t>order_ammount</a:t>
            </a:r>
            <a:r>
              <a:rPr lang="en-US" sz="1600" dirty="0" smtClean="0"/>
              <a:t>) — </a:t>
            </a:r>
            <a:r>
              <a:rPr lang="ru-RU" sz="1600" dirty="0" smtClean="0"/>
              <a:t>берёт </a:t>
            </a:r>
            <a:r>
              <a:rPr lang="ru-RU" sz="1600" b="1" dirty="0" smtClean="0"/>
              <a:t>сумму предыдущего заказа</a:t>
            </a:r>
            <a:r>
              <a:rPr lang="ru-RU" sz="1600" dirty="0" smtClean="0"/>
              <a:t> клиента по дате;</a:t>
            </a:r>
            <a:br>
              <a:rPr lang="ru-RU" sz="1600" dirty="0" smtClean="0"/>
            </a:br>
            <a:endParaRPr lang="ru-RU" sz="1600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</a:t>
            </a:r>
            <a:r>
              <a:rPr lang="en-US" sz="1600" dirty="0" smtClean="0"/>
              <a:t>LEAD(</a:t>
            </a:r>
            <a:r>
              <a:rPr lang="en-US" sz="1600" dirty="0" err="1" smtClean="0"/>
              <a:t>order_ammount</a:t>
            </a:r>
            <a:r>
              <a:rPr lang="en-US" sz="1600" dirty="0" smtClean="0"/>
              <a:t>) — </a:t>
            </a:r>
            <a:r>
              <a:rPr lang="ru-RU" sz="1600" dirty="0" smtClean="0"/>
              <a:t>берёт </a:t>
            </a:r>
            <a:r>
              <a:rPr lang="ru-RU" sz="1600" b="1" dirty="0" smtClean="0"/>
              <a:t>сумму следующего заказа</a:t>
            </a:r>
            <a:r>
              <a:rPr lang="ru-RU" sz="1600" dirty="0" smtClean="0"/>
              <a:t>;</a:t>
            </a:r>
            <a:br>
              <a:rPr lang="ru-RU" sz="1600" dirty="0" smtClean="0"/>
            </a:br>
            <a:endParaRPr lang="ru-RU" sz="1600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</a:t>
            </a:r>
            <a:r>
              <a:rPr lang="en-US" sz="1600" dirty="0" smtClean="0"/>
              <a:t>PARTITION BY </a:t>
            </a:r>
            <a:r>
              <a:rPr lang="en-US" sz="1600" dirty="0" err="1" smtClean="0"/>
              <a:t>client_id</a:t>
            </a:r>
            <a:r>
              <a:rPr lang="en-US" sz="1600" dirty="0" smtClean="0"/>
              <a:t> — </a:t>
            </a:r>
            <a:r>
              <a:rPr lang="ru-RU" sz="1600" dirty="0" smtClean="0"/>
              <a:t>расчёты ведутся отдельно </a:t>
            </a:r>
            <a:r>
              <a:rPr lang="ru-RU" sz="1600" b="1" dirty="0" smtClean="0"/>
              <a:t>для каждого клиента</a:t>
            </a:r>
            <a:r>
              <a:rPr lang="ru-RU" sz="1600" dirty="0" smtClean="0"/>
              <a:t>;</a:t>
            </a:r>
            <a:br>
              <a:rPr lang="ru-RU" sz="1600" dirty="0" smtClean="0"/>
            </a:br>
            <a:endParaRPr lang="ru-RU" sz="1600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 </a:t>
            </a:r>
            <a:r>
              <a:rPr lang="en-US" sz="1600" dirty="0" smtClean="0"/>
              <a:t>ORDER BY </a:t>
            </a:r>
            <a:r>
              <a:rPr lang="en-US" sz="1600" dirty="0" err="1" smtClean="0"/>
              <a:t>order_date</a:t>
            </a:r>
            <a:r>
              <a:rPr lang="en-US" sz="1600" dirty="0" smtClean="0"/>
              <a:t> — </a:t>
            </a:r>
            <a:r>
              <a:rPr lang="ru-RU" sz="1600" dirty="0" smtClean="0"/>
              <a:t>упорядочивание заказов по времени.</a:t>
            </a:r>
            <a:endParaRPr lang="ru-RU" sz="1600" dirty="0"/>
          </a:p>
        </p:txBody>
      </p:sp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93722" y="1120320"/>
            <a:ext cx="3437247" cy="5396593"/>
          </a:xfrm>
          <a:prstGeom prst="rect">
            <a:avLst/>
          </a:prstGeom>
          <a:noFill/>
          <a:ln w="9525">
            <a:solidFill>
              <a:schemeClr val="accent5">
                <a:lumMod val="75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1885" y="263525"/>
            <a:ext cx="8258629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2800" b="1" dirty="0" smtClean="0"/>
              <a:t>LAG() / LEAD() </a:t>
            </a:r>
            <a:r>
              <a:rPr lang="ru-RU" sz="2800" dirty="0" smtClean="0"/>
              <a:t>— доступ к предыдущей / следующей строке</a:t>
            </a:r>
            <a:endParaRPr lang="ru-RU" sz="2800" dirty="0"/>
          </a:p>
        </p:txBody>
      </p:sp>
      <p:pic>
        <p:nvPicPr>
          <p:cNvPr id="89090" name="Picture 2" descr="D:\GitHub\AIS_courses\Анализ_данных_SQL_Hive\лекция_08\img\LearnSQL-com-Six-Examples-Using-MySQL-Window-Functions.png"/>
          <p:cNvPicPr>
            <a:picLocks noChangeAspect="1" noChangeArrowheads="1"/>
          </p:cNvPicPr>
          <p:nvPr/>
        </p:nvPicPr>
        <p:blipFill>
          <a:blip r:embed="rId1"/>
          <a:srcRect t="11265" r="22114"/>
          <a:stretch>
            <a:fillRect/>
          </a:stretch>
        </p:blipFill>
        <p:spPr bwMode="auto">
          <a:xfrm>
            <a:off x="310241" y="1226459"/>
            <a:ext cx="7999187" cy="48848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1885" y="263525"/>
            <a:ext cx="825862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4000" dirty="0" smtClean="0"/>
              <a:t>Пример прикладного запроса</a:t>
            </a:r>
            <a:endParaRPr lang="ru-RU" sz="4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77371" y="1414921"/>
            <a:ext cx="61322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Найти самый первый заказ каждого клиента по дате:</a:t>
            </a:r>
            <a:endParaRPr lang="ru-RU" dirty="0"/>
          </a:p>
        </p:txBody>
      </p:sp>
      <p:pic>
        <p:nvPicPr>
          <p:cNvPr id="90114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348343" y="2429633"/>
            <a:ext cx="8367485" cy="2304290"/>
          </a:xfrm>
          <a:prstGeom prst="rect">
            <a:avLst/>
          </a:prstGeom>
          <a:noFill/>
          <a:ln w="9525">
            <a:solidFill>
              <a:schemeClr val="accent1">
                <a:lumMod val="60000"/>
                <a:lumOff val="40000"/>
              </a:schemeClr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10634</Words>
  <Application>WPS Presentation</Application>
  <PresentationFormat>Экран (4:3)</PresentationFormat>
  <Paragraphs>576</Paragraphs>
  <Slides>51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7" baseType="lpstr">
      <vt:lpstr>Arial</vt:lpstr>
      <vt:lpstr>SimSun</vt:lpstr>
      <vt:lpstr>Wingdings</vt:lpstr>
      <vt:lpstr>Times New Roman</vt:lpstr>
      <vt:lpstr>Microsoft JhengHei Light</vt:lpstr>
      <vt:lpstr>Microsoft Sans Serif</vt:lpstr>
      <vt:lpstr>Arial</vt:lpstr>
      <vt:lpstr>Courier New</vt:lpstr>
      <vt:lpstr>Courier New</vt:lpstr>
      <vt:lpstr>Microsoft YaHei</vt:lpstr>
      <vt:lpstr>Arial Unicode MS</vt:lpstr>
      <vt:lpstr>Calibri Light</vt:lpstr>
      <vt:lpstr>Calibri</vt:lpstr>
      <vt:lpstr>Roboto</vt:lpstr>
      <vt:lpstr>Times New Roman</vt:lpstr>
      <vt:lpstr>Office Theme</vt:lpstr>
      <vt:lpstr>Представления - View</vt:lpstr>
      <vt:lpstr>Представления</vt:lpstr>
      <vt:lpstr>Представления</vt:lpstr>
      <vt:lpstr>Подробнее о представлениях</vt:lpstr>
      <vt:lpstr>Преимущества представлений</vt:lpstr>
      <vt:lpstr>Virtual View (Обычное представление)</vt:lpstr>
      <vt:lpstr>Materialized View (Материализованное представление)</vt:lpstr>
      <vt:lpstr>Создание представления (PostgreSQL)</vt:lpstr>
      <vt:lpstr>Создание представления</vt:lpstr>
      <vt:lpstr>Создание представления</vt:lpstr>
      <vt:lpstr>Получение данных из представления</vt:lpstr>
      <vt:lpstr>Изменение представления (PostgreSQL)</vt:lpstr>
      <vt:lpstr>Создание сложных представлений</vt:lpstr>
      <vt:lpstr>Изменение представления (Hive)</vt:lpstr>
      <vt:lpstr>Оконные функции</vt:lpstr>
      <vt:lpstr>Window functions / оконные функции</vt:lpstr>
      <vt:lpstr>WINDOW / OVER</vt:lpstr>
      <vt:lpstr>WINDOW / OVER</vt:lpstr>
      <vt:lpstr>WINDOW / OVER</vt:lpstr>
      <vt:lpstr>Оконные функции вместо группировки</vt:lpstr>
      <vt:lpstr>Оконные функции вместо группировки</vt:lpstr>
      <vt:lpstr>Оконные функции: пример 1</vt:lpstr>
      <vt:lpstr>Оконные функции: пример 1</vt:lpstr>
      <vt:lpstr>Оконные функции: пример 2</vt:lpstr>
      <vt:lpstr>Оконные функции</vt:lpstr>
      <vt:lpstr>Оконные функции</vt:lpstr>
      <vt:lpstr>Оконные функции</vt:lpstr>
      <vt:lpstr>Оконные функции</vt:lpstr>
      <vt:lpstr>Оконные функции вместо рекурсии</vt:lpstr>
      <vt:lpstr>Совместное вычисление по разным "окнам"</vt:lpstr>
      <vt:lpstr>Оконные функции в Hive</vt:lpstr>
      <vt:lpstr>GROUP BY и Оконные функции</vt:lpstr>
      <vt:lpstr>Оконные функции в Hive</vt:lpstr>
      <vt:lpstr>Синтаксис оконной функции</vt:lpstr>
      <vt:lpstr>Диапазон строк в Оконной функции</vt:lpstr>
      <vt:lpstr>Параметры ROWS BETWEEN</vt:lpstr>
      <vt:lpstr>SUM() — накопительная сумма (running total)</vt:lpstr>
      <vt:lpstr>SUM() — накопительная сумма (running total)</vt:lpstr>
      <vt:lpstr>AVG() — скользящее среднее</vt:lpstr>
      <vt:lpstr>AVG() — скользящее среднее</vt:lpstr>
      <vt:lpstr>COUNT() — подсчёт строк в окне</vt:lpstr>
      <vt:lpstr>ROW_NUMBER() — порядковый номер строки в пределах группы</vt:lpstr>
      <vt:lpstr>RANK()— ранжирование с пропусками</vt:lpstr>
      <vt:lpstr>DENSE_RANK()— ранжирование без пропусков</vt:lpstr>
      <vt:lpstr>Разница между RANK() и DENSE_RANK()</vt:lpstr>
      <vt:lpstr>Различия между: ROW_NUMBER(), RANK(), DENSE_RANK()</vt:lpstr>
      <vt:lpstr>Различия между: ROW_NUMBER(), RANK(), DENSE_RANK()</vt:lpstr>
      <vt:lpstr>Различия между: ROW_NUMBER(), RANK(), DENSE_RANK()</vt:lpstr>
      <vt:lpstr>LAG() / LEAD() — доступ к предыдущей / следующей строке</vt:lpstr>
      <vt:lpstr>LAG() / LEAD() — доступ к предыдущей / следующей строке</vt:lpstr>
      <vt:lpstr>Пример прикладного запроса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Suboch, Kirill</dc:creator>
  <cp:lastModifiedBy>andrey</cp:lastModifiedBy>
  <cp:revision>204</cp:revision>
  <dcterms:created xsi:type="dcterms:W3CDTF">2020-10-05T08:41:00Z</dcterms:created>
  <dcterms:modified xsi:type="dcterms:W3CDTF">2025-11-19T08:00:59Z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402D967316D44F7BBB9F0CC7054D9288_12</vt:lpwstr>
  </property>
  <property fmtid="{D5CDD505-2E9C-101B-9397-08002B2CF9AE}" pid="3" name="KSOProductBuildVer">
    <vt:lpwstr>1033-12.2.0.23155</vt:lpwstr>
  </property>
</Properties>
</file>