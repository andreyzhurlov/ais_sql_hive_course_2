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302" r:id="rId3"/>
    <p:sldId id="343" r:id="rId4"/>
    <p:sldId id="303" r:id="rId5"/>
    <p:sldId id="306" r:id="rId6"/>
    <p:sldId id="307" r:id="rId7"/>
    <p:sldId id="310" r:id="rId8"/>
    <p:sldId id="329" r:id="rId9"/>
    <p:sldId id="330" r:id="rId10"/>
    <p:sldId id="340" r:id="rId11"/>
    <p:sldId id="315" r:id="rId12"/>
    <p:sldId id="328" r:id="rId13"/>
    <p:sldId id="320" r:id="rId14"/>
    <p:sldId id="321" r:id="rId15"/>
    <p:sldId id="322" r:id="rId16"/>
    <p:sldId id="323" r:id="rId17"/>
    <p:sldId id="324" r:id="rId18"/>
    <p:sldId id="325" r:id="rId19"/>
    <p:sldId id="344" r:id="rId20"/>
    <p:sldId id="258" r:id="rId21"/>
    <p:sldId id="341" r:id="rId22"/>
    <p:sldId id="342" r:id="rId23"/>
    <p:sldId id="331" r:id="rId24"/>
    <p:sldId id="259" r:id="rId25"/>
    <p:sldId id="260" r:id="rId26"/>
    <p:sldId id="345" r:id="rId27"/>
    <p:sldId id="261" r:id="rId28"/>
    <p:sldId id="266" r:id="rId29"/>
    <p:sldId id="269" r:id="rId30"/>
    <p:sldId id="270" r:id="rId31"/>
    <p:sldId id="334" r:id="rId32"/>
    <p:sldId id="271" r:id="rId33"/>
    <p:sldId id="327" r:id="rId34"/>
    <p:sldId id="272" r:id="rId35"/>
    <p:sldId id="273" r:id="rId36"/>
    <p:sldId id="274" r:id="rId37"/>
    <p:sldId id="275" r:id="rId38"/>
    <p:sldId id="276" r:id="rId39"/>
    <p:sldId id="335" r:id="rId40"/>
    <p:sldId id="278" r:id="rId41"/>
    <p:sldId id="279" r:id="rId42"/>
    <p:sldId id="280" r:id="rId43"/>
    <p:sldId id="336" r:id="rId44"/>
    <p:sldId id="337" r:id="rId45"/>
    <p:sldId id="281" r:id="rId46"/>
    <p:sldId id="338" r:id="rId47"/>
    <p:sldId id="282" r:id="rId48"/>
    <p:sldId id="283" r:id="rId49"/>
    <p:sldId id="284" r:id="rId50"/>
    <p:sldId id="339" r:id="rId51"/>
    <p:sldId id="285" r:id="rId5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5014" autoAdjust="0"/>
    <p:restoredTop sz="94660"/>
  </p:normalViewPr>
  <p:slideViewPr>
    <p:cSldViewPr snapToGrid="0">
      <p:cViewPr>
        <p:scale>
          <a:sx n="100" d="100"/>
          <a:sy n="100" d="100"/>
        </p:scale>
        <p:origin x="-789" y="8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5" Type="http://schemas.openxmlformats.org/officeDocument/2006/relationships/tableStyles" Target="tableStyles.xml"/><Relationship Id="rId54" Type="http://schemas.openxmlformats.org/officeDocument/2006/relationships/viewProps" Target="viewProps.xml"/><Relationship Id="rId53" Type="http://schemas.openxmlformats.org/officeDocument/2006/relationships/presProps" Target="presProps.xml"/><Relationship Id="rId52" Type="http://schemas.openxmlformats.org/officeDocument/2006/relationships/slide" Target="slides/slide50.xml"/><Relationship Id="rId51" Type="http://schemas.openxmlformats.org/officeDocument/2006/relationships/slide" Target="slides/slide49.xml"/><Relationship Id="rId50" Type="http://schemas.openxmlformats.org/officeDocument/2006/relationships/slide" Target="slides/slide48.xml"/><Relationship Id="rId5" Type="http://schemas.openxmlformats.org/officeDocument/2006/relationships/slide" Target="slides/slide3.xml"/><Relationship Id="rId49" Type="http://schemas.openxmlformats.org/officeDocument/2006/relationships/slide" Target="slides/slide47.xml"/><Relationship Id="rId48" Type="http://schemas.openxmlformats.org/officeDocument/2006/relationships/slide" Target="slides/slide46.xml"/><Relationship Id="rId47" Type="http://schemas.openxmlformats.org/officeDocument/2006/relationships/slide" Target="slides/slide45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89A852-A675-45C4-9442-78DD9AA48757}" type="datetimeFigureOut">
              <a:rPr lang="ru-RU" smtClean="0"/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6F1F2A-BC8C-47E2-9A80-0067F3DA3814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0.jpeg"/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image" Target="../media/image7.jpe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jpeg"/></Relationships>
</file>

<file path=ppt/slides/_rels/slide2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hyperlink" Target="https://www.db-fiddle.com/f/fUfQvv8QaXG5wdMWr9zzbA/5" TargetMode="External"/><Relationship Id="rId1" Type="http://schemas.openxmlformats.org/officeDocument/2006/relationships/image" Target="../media/image21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2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4.png"/><Relationship Id="rId1" Type="http://schemas.openxmlformats.org/officeDocument/2006/relationships/image" Target="../media/image23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hyperlink" Target="https://www.db-fiddle.com/f/wHak6mbZeymqcSSgFzPEuP/3" TargetMode="External"/><Relationship Id="rId1" Type="http://schemas.openxmlformats.org/officeDocument/2006/relationships/image" Target="../media/image28.jpe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9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0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1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hyperlink" Target="https://www.db-fiddle.com/f/6dPvL1tA3WLc98u7pHz9ZQ/1" TargetMode="External"/><Relationship Id="rId1" Type="http://schemas.openxmlformats.org/officeDocument/2006/relationships/image" Target="../media/image32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0.png"/><Relationship Id="rId1" Type="http://schemas.openxmlformats.org/officeDocument/2006/relationships/image" Target="../media/image33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4.jpe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1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Вопрос</a:t>
            </a:r>
            <a:endParaRPr lang="ru-RU" dirty="0"/>
          </a:p>
        </p:txBody>
      </p:sp>
      <p:pic>
        <p:nvPicPr>
          <p:cNvPr id="56321" name="Picture 1" descr="D:\work\Neoflex\Обучающие_курсы\SQL_и_Базы_Данных\вопросы\sql_q_03.png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509912" y="1865678"/>
            <a:ext cx="8256789" cy="350713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Встроенные функции </a:t>
            </a:r>
            <a:r>
              <a:rPr lang="en-US" dirty="0" smtClean="0"/>
              <a:t>SQL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ru-RU" altLang="ru-RU" dirty="0" smtClean="0"/>
              <a:t>Неявное и явное преобразование типов данных</a:t>
            </a:r>
            <a:endParaRPr lang="en-US" altLang="ru-RU" dirty="0" smtClean="0"/>
          </a:p>
          <a:p>
            <a:pPr lvl="1"/>
            <a:r>
              <a:rPr lang="en-US" altLang="ru-RU" dirty="0" smtClean="0">
                <a:latin typeface="Courier New" panose="02070309020205020404" pitchFamily="49" charset="0"/>
              </a:rPr>
              <a:t>TO_CHAR</a:t>
            </a:r>
            <a:r>
              <a:rPr lang="en-US" altLang="ru-RU" dirty="0"/>
              <a:t>, </a:t>
            </a:r>
            <a:r>
              <a:rPr lang="en-US" altLang="ru-RU" dirty="0" smtClean="0">
                <a:latin typeface="Courier New" panose="02070309020205020404" pitchFamily="49" charset="0"/>
              </a:rPr>
              <a:t>TO_NUMBER,TO_DATE</a:t>
            </a:r>
            <a:r>
              <a:rPr lang="en-US" altLang="ru-RU" dirty="0"/>
              <a:t>, </a:t>
            </a:r>
            <a:r>
              <a:rPr lang="en-US" altLang="ru-RU" dirty="0" smtClean="0">
                <a:latin typeface="Courier New" panose="02070309020205020404" pitchFamily="49" charset="0"/>
              </a:rPr>
              <a:t>TO_TIMESTAMP</a:t>
            </a:r>
            <a:endParaRPr lang="en-US" altLang="ru-RU" dirty="0"/>
          </a:p>
          <a:p>
            <a:pPr lvl="1" eaLnBrk="1" hangingPunct="1">
              <a:buClr>
                <a:schemeClr val="folHlink"/>
              </a:buClr>
            </a:pPr>
            <a:r>
              <a:rPr lang="ru-RU" altLang="ru-RU" dirty="0" smtClean="0"/>
              <a:t>Полезные Функции</a:t>
            </a:r>
            <a:r>
              <a:rPr lang="en-US" altLang="ru-RU" dirty="0" smtClean="0"/>
              <a:t>:</a:t>
            </a:r>
            <a:endParaRPr lang="en-US" altLang="ru-RU" dirty="0"/>
          </a:p>
          <a:p>
            <a:pPr lvl="2" eaLnBrk="1" hangingPunct="1">
              <a:buClr>
                <a:schemeClr val="folHlink"/>
              </a:buClr>
            </a:pPr>
            <a:r>
              <a:rPr lang="en-US" altLang="ru-RU" dirty="0" smtClean="0">
                <a:latin typeface="Courier New" panose="02070309020205020404" pitchFamily="49" charset="0"/>
              </a:rPr>
              <a:t>CAST</a:t>
            </a:r>
            <a:endParaRPr lang="en-US" altLang="ru-RU" dirty="0">
              <a:latin typeface="Courier New" panose="02070309020205020404" pitchFamily="49" charset="0"/>
            </a:endParaRPr>
          </a:p>
          <a:p>
            <a:pPr lvl="2" eaLnBrk="1" hangingPunct="1">
              <a:buClr>
                <a:schemeClr val="folHlink"/>
              </a:buClr>
            </a:pPr>
            <a:r>
              <a:rPr lang="en-US" altLang="ru-RU" dirty="0" smtClean="0">
                <a:latin typeface="Courier New" panose="02070309020205020404" pitchFamily="49" charset="0"/>
              </a:rPr>
              <a:t>COALESCE</a:t>
            </a:r>
            <a:endParaRPr lang="en-US" altLang="ru-RU" dirty="0">
              <a:latin typeface="Courier New" panose="02070309020205020404" pitchFamily="49" charset="0"/>
            </a:endParaRPr>
          </a:p>
          <a:p>
            <a:pPr lvl="1">
              <a:buClr>
                <a:schemeClr val="folHlink"/>
              </a:buClr>
            </a:pPr>
            <a:r>
              <a:rPr lang="ru-RU" altLang="ru-RU" dirty="0" smtClean="0"/>
              <a:t>Условные выражения</a:t>
            </a:r>
            <a:r>
              <a:rPr lang="en-US" altLang="ru-RU" dirty="0" smtClean="0"/>
              <a:t>:</a:t>
            </a:r>
            <a:endParaRPr lang="en-US" altLang="ru-RU" dirty="0"/>
          </a:p>
          <a:p>
            <a:pPr lvl="2" eaLnBrk="1" hangingPunct="1">
              <a:buClr>
                <a:schemeClr val="folHlink"/>
              </a:buClr>
            </a:pPr>
            <a:r>
              <a:rPr lang="en-US" altLang="ru-RU" dirty="0">
                <a:latin typeface="Courier New" panose="02070309020205020404" pitchFamily="49" charset="0"/>
              </a:rPr>
              <a:t>CASE</a:t>
            </a:r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ru-RU" dirty="0" smtClean="0"/>
              <a:t>Функции преобразования</a:t>
            </a:r>
            <a:endParaRPr lang="ru-RU" dirty="0"/>
          </a:p>
        </p:txBody>
      </p:sp>
      <p:sp>
        <p:nvSpPr>
          <p:cNvPr id="5" name="Line 3"/>
          <p:cNvSpPr>
            <a:spLocks noChangeShapeType="1"/>
          </p:cNvSpPr>
          <p:nvPr/>
        </p:nvSpPr>
        <p:spPr bwMode="auto">
          <a:xfrm flipV="1">
            <a:off x="4514850" y="2279650"/>
            <a:ext cx="0" cy="59055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7" name="Freeform 4"/>
          <p:cNvSpPr/>
          <p:nvPr/>
        </p:nvSpPr>
        <p:spPr bwMode="auto">
          <a:xfrm>
            <a:off x="2905125" y="2870200"/>
            <a:ext cx="3221038" cy="573088"/>
          </a:xfrm>
          <a:custGeom>
            <a:avLst/>
            <a:gdLst>
              <a:gd name="T0" fmla="*/ 0 w 2029"/>
              <a:gd name="T1" fmla="*/ 2147483647 h 361"/>
              <a:gd name="T2" fmla="*/ 0 w 2029"/>
              <a:gd name="T3" fmla="*/ 0 h 361"/>
              <a:gd name="T4" fmla="*/ 2147483647 w 2029"/>
              <a:gd name="T5" fmla="*/ 0 h 361"/>
              <a:gd name="T6" fmla="*/ 2147483647 w 2029"/>
              <a:gd name="T7" fmla="*/ 2147483647 h 361"/>
              <a:gd name="T8" fmla="*/ 0 60000 65536"/>
              <a:gd name="T9" fmla="*/ 0 60000 65536"/>
              <a:gd name="T10" fmla="*/ 0 60000 65536"/>
              <a:gd name="T11" fmla="*/ 0 60000 65536"/>
              <a:gd name="T12" fmla="*/ 0 w 2029"/>
              <a:gd name="T13" fmla="*/ 0 h 361"/>
              <a:gd name="T14" fmla="*/ 2029 w 2029"/>
              <a:gd name="T15" fmla="*/ 361 h 361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029" h="361">
                <a:moveTo>
                  <a:pt x="0" y="360"/>
                </a:moveTo>
                <a:lnTo>
                  <a:pt x="0" y="0"/>
                </a:lnTo>
                <a:lnTo>
                  <a:pt x="2028" y="0"/>
                </a:lnTo>
                <a:lnTo>
                  <a:pt x="2028" y="300"/>
                </a:lnTo>
              </a:path>
            </a:pathLst>
          </a:custGeom>
          <a:noFill/>
          <a:ln w="28575" cap="rnd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9" name="Rectangle 5"/>
          <p:cNvSpPr>
            <a:spLocks noChangeArrowheads="1"/>
          </p:cNvSpPr>
          <p:nvPr/>
        </p:nvSpPr>
        <p:spPr bwMode="blackWhite">
          <a:xfrm>
            <a:off x="1533525" y="3189288"/>
            <a:ext cx="2768600" cy="787400"/>
          </a:xfrm>
          <a:prstGeom prst="rect">
            <a:avLst/>
          </a:prstGeom>
          <a:solidFill>
            <a:srgbClr val="99CCFF"/>
          </a:solidFill>
          <a:ln w="28575">
            <a:solidFill>
              <a:srgbClr val="000000"/>
            </a:solidFill>
            <a:miter lim="800000"/>
          </a:ln>
        </p:spPr>
        <p:txBody>
          <a:bodyPr wrap="none" lIns="92075" tIns="46038" rIns="92075" bIns="46038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ru-RU" altLang="ru-RU" sz="1600" dirty="0" smtClean="0"/>
              <a:t>Неявное преобразование </a:t>
            </a:r>
            <a:endParaRPr lang="ru-RU" altLang="ru-RU" sz="1600" dirty="0" smtClean="0"/>
          </a:p>
          <a:p>
            <a:pPr>
              <a:spcBef>
                <a:spcPct val="0"/>
              </a:spcBef>
              <a:buClrTx/>
              <a:buFontTx/>
              <a:buNone/>
            </a:pPr>
            <a:r>
              <a:rPr lang="ru-RU" altLang="ru-RU" sz="1600" dirty="0" smtClean="0"/>
              <a:t>типа данных</a:t>
            </a:r>
            <a:endParaRPr lang="en-US" altLang="ru-RU" sz="1600" dirty="0"/>
          </a:p>
        </p:txBody>
      </p:sp>
      <p:sp>
        <p:nvSpPr>
          <p:cNvPr id="11" name="Rectangle 6"/>
          <p:cNvSpPr>
            <a:spLocks noChangeArrowheads="1"/>
          </p:cNvSpPr>
          <p:nvPr/>
        </p:nvSpPr>
        <p:spPr bwMode="blackWhite">
          <a:xfrm>
            <a:off x="4733925" y="3189288"/>
            <a:ext cx="2768600" cy="787400"/>
          </a:xfrm>
          <a:prstGeom prst="rect">
            <a:avLst/>
          </a:prstGeom>
          <a:solidFill>
            <a:srgbClr val="99CCFF"/>
          </a:solidFill>
          <a:ln w="28575">
            <a:solidFill>
              <a:srgbClr val="000000"/>
            </a:solidFill>
            <a:miter lim="800000"/>
          </a:ln>
        </p:spPr>
        <p:txBody>
          <a:bodyPr wrap="none" lIns="92075" tIns="46038" rIns="92075" bIns="46038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ru-RU" altLang="ru-RU" sz="1600" dirty="0" smtClean="0"/>
              <a:t>Явное преобразование </a:t>
            </a:r>
            <a:endParaRPr lang="ru-RU" altLang="ru-RU" sz="1600" dirty="0" smtClean="0"/>
          </a:p>
          <a:p>
            <a:pPr>
              <a:spcBef>
                <a:spcPct val="0"/>
              </a:spcBef>
              <a:buClrTx/>
              <a:buFontTx/>
              <a:buNone/>
            </a:pPr>
            <a:r>
              <a:rPr lang="ru-RU" altLang="ru-RU" sz="1600" dirty="0" smtClean="0"/>
              <a:t>типа данных</a:t>
            </a:r>
            <a:endParaRPr lang="en-US" altLang="ru-RU" sz="1600" dirty="0"/>
          </a:p>
        </p:txBody>
      </p:sp>
      <p:sp>
        <p:nvSpPr>
          <p:cNvPr id="13" name="Rectangle 7"/>
          <p:cNvSpPr>
            <a:spLocks noChangeArrowheads="1"/>
          </p:cNvSpPr>
          <p:nvPr/>
        </p:nvSpPr>
        <p:spPr bwMode="blackWhite">
          <a:xfrm>
            <a:off x="3122613" y="1731963"/>
            <a:ext cx="2768600" cy="825500"/>
          </a:xfrm>
          <a:prstGeom prst="rect">
            <a:avLst/>
          </a:prstGeom>
          <a:solidFill>
            <a:srgbClr val="FFCC99"/>
          </a:solidFill>
          <a:ln w="28575">
            <a:solidFill>
              <a:srgbClr val="000000"/>
            </a:solidFill>
            <a:miter lim="800000"/>
          </a:ln>
        </p:spPr>
        <p:txBody>
          <a:bodyPr wrap="none" lIns="92075" tIns="46038" rIns="92075" bIns="46038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ru-RU" altLang="ru-RU" dirty="0" smtClean="0"/>
              <a:t>Преобразование </a:t>
            </a:r>
            <a:endParaRPr lang="ru-RU" altLang="ru-RU" dirty="0" smtClean="0"/>
          </a:p>
          <a:p>
            <a:pPr>
              <a:spcBef>
                <a:spcPct val="0"/>
              </a:spcBef>
              <a:buClrTx/>
              <a:buFontTx/>
              <a:buNone/>
            </a:pPr>
            <a:r>
              <a:rPr lang="ru-RU" altLang="ru-RU" dirty="0" smtClean="0"/>
              <a:t>типов данных</a:t>
            </a:r>
            <a:endParaRPr lang="en-US" alt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altLang="ru-RU" sz="3600" dirty="0" smtClean="0"/>
              <a:t>Явное преобразование типов данных</a:t>
            </a:r>
            <a:endParaRPr lang="ru-RU" sz="3600" dirty="0"/>
          </a:p>
        </p:txBody>
      </p:sp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1258888" y="3573463"/>
            <a:ext cx="1257300" cy="427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en-US" altLang="ru-RU" sz="2200">
                <a:latin typeface="Courier New" panose="02070309020205020404" pitchFamily="49" charset="0"/>
              </a:rPr>
              <a:t>NUMBER</a:t>
            </a:r>
            <a:endParaRPr lang="en-US" altLang="ru-RU" sz="2200">
              <a:latin typeface="Courier New" panose="02070309020205020404" pitchFamily="49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3270250" y="3573463"/>
            <a:ext cx="2609850" cy="427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en-US" altLang="ru-RU" sz="2200"/>
              <a:t>CHARACTER</a:t>
            </a:r>
            <a:endParaRPr lang="en-US" altLang="ru-RU" sz="2200"/>
          </a:p>
        </p:txBody>
      </p:sp>
      <p:sp>
        <p:nvSpPr>
          <p:cNvPr id="6" name="Arc 5"/>
          <p:cNvSpPr/>
          <p:nvPr/>
        </p:nvSpPr>
        <p:spPr bwMode="auto">
          <a:xfrm>
            <a:off x="3178175" y="3970338"/>
            <a:ext cx="1333500" cy="1182687"/>
          </a:xfrm>
          <a:custGeom>
            <a:avLst/>
            <a:gdLst>
              <a:gd name="T0" fmla="*/ 2147483647 w 21807"/>
              <a:gd name="T1" fmla="*/ 2147483647 h 21600"/>
              <a:gd name="T2" fmla="*/ 0 w 21807"/>
              <a:gd name="T3" fmla="*/ 2147483647 h 21600"/>
              <a:gd name="T4" fmla="*/ 2147483647 w 21807"/>
              <a:gd name="T5" fmla="*/ 0 h 21600"/>
              <a:gd name="T6" fmla="*/ 0 60000 65536"/>
              <a:gd name="T7" fmla="*/ 0 60000 65536"/>
              <a:gd name="T8" fmla="*/ 0 60000 65536"/>
              <a:gd name="T9" fmla="*/ 0 w 21807"/>
              <a:gd name="T10" fmla="*/ 0 h 21600"/>
              <a:gd name="T11" fmla="*/ 21807 w 21807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807" h="21600" fill="none" extrusionOk="0">
                <a:moveTo>
                  <a:pt x="21806" y="231"/>
                </a:moveTo>
                <a:cubicBezTo>
                  <a:pt x="21679" y="12070"/>
                  <a:pt x="12046" y="21599"/>
                  <a:pt x="208" y="21600"/>
                </a:cubicBezTo>
                <a:cubicBezTo>
                  <a:pt x="138" y="21600"/>
                  <a:pt x="69" y="21599"/>
                  <a:pt x="0" y="21598"/>
                </a:cubicBezTo>
              </a:path>
              <a:path w="21807" h="21600" stroke="0" extrusionOk="0">
                <a:moveTo>
                  <a:pt x="21806" y="231"/>
                </a:moveTo>
                <a:cubicBezTo>
                  <a:pt x="21679" y="12070"/>
                  <a:pt x="12046" y="21599"/>
                  <a:pt x="208" y="21600"/>
                </a:cubicBezTo>
                <a:cubicBezTo>
                  <a:pt x="138" y="21600"/>
                  <a:pt x="69" y="21599"/>
                  <a:pt x="0" y="21598"/>
                </a:cubicBezTo>
                <a:lnTo>
                  <a:pt x="208" y="0"/>
                </a:lnTo>
                <a:close/>
              </a:path>
            </a:pathLst>
          </a:custGeom>
          <a:noFill/>
          <a:ln w="28575" cap="rnd">
            <a:solidFill>
              <a:schemeClr val="tx1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7" name="Arc 6"/>
          <p:cNvSpPr/>
          <p:nvPr/>
        </p:nvSpPr>
        <p:spPr bwMode="auto">
          <a:xfrm>
            <a:off x="1879600" y="3970338"/>
            <a:ext cx="1320800" cy="1182687"/>
          </a:xfrm>
          <a:custGeom>
            <a:avLst/>
            <a:gdLst>
              <a:gd name="T0" fmla="*/ 2147483647 w 21600"/>
              <a:gd name="T1" fmla="*/ 2147483647 h 21598"/>
              <a:gd name="T2" fmla="*/ 0 w 21600"/>
              <a:gd name="T3" fmla="*/ 0 h 21598"/>
              <a:gd name="T4" fmla="*/ 2147483647 w 21600"/>
              <a:gd name="T5" fmla="*/ 0 h 21598"/>
              <a:gd name="T6" fmla="*/ 0 60000 65536"/>
              <a:gd name="T7" fmla="*/ 0 60000 65536"/>
              <a:gd name="T8" fmla="*/ 0 60000 65536"/>
              <a:gd name="T9" fmla="*/ 0 w 21600"/>
              <a:gd name="T10" fmla="*/ 0 h 21598"/>
              <a:gd name="T11" fmla="*/ 21600 w 21600"/>
              <a:gd name="T12" fmla="*/ 21598 h 2159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598" fill="none" extrusionOk="0">
                <a:moveTo>
                  <a:pt x="21339" y="21598"/>
                </a:moveTo>
                <a:cubicBezTo>
                  <a:pt x="9512" y="21456"/>
                  <a:pt x="0" y="11827"/>
                  <a:pt x="0" y="0"/>
                </a:cubicBezTo>
              </a:path>
              <a:path w="21600" h="21598" stroke="0" extrusionOk="0">
                <a:moveTo>
                  <a:pt x="21339" y="21598"/>
                </a:moveTo>
                <a:cubicBezTo>
                  <a:pt x="9512" y="21456"/>
                  <a:pt x="0" y="11827"/>
                  <a:pt x="0" y="0"/>
                </a:cubicBezTo>
                <a:lnTo>
                  <a:pt x="21600" y="0"/>
                </a:lnTo>
                <a:close/>
              </a:path>
            </a:pathLst>
          </a:custGeom>
          <a:noFill/>
          <a:ln w="28575" cap="rnd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2424113" y="5253038"/>
            <a:ext cx="1593850" cy="427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en-US" altLang="ru-RU" sz="2200">
                <a:latin typeface="Courier New" panose="02070309020205020404" pitchFamily="49" charset="0"/>
              </a:rPr>
              <a:t>TO_CHAR</a:t>
            </a:r>
            <a:endParaRPr lang="en-US" altLang="ru-RU" sz="2200">
              <a:latin typeface="Courier New" panose="02070309020205020404" pitchFamily="49" charset="0"/>
            </a:endParaRPr>
          </a:p>
        </p:txBody>
      </p:sp>
      <p:grpSp>
        <p:nvGrpSpPr>
          <p:cNvPr id="9" name="Group 20"/>
          <p:cNvGrpSpPr/>
          <p:nvPr/>
        </p:nvGrpSpPr>
        <p:grpSpPr bwMode="auto">
          <a:xfrm>
            <a:off x="1905000" y="2362200"/>
            <a:ext cx="2633663" cy="1258888"/>
            <a:chOff x="1200" y="1467"/>
            <a:chExt cx="1659" cy="745"/>
          </a:xfrm>
        </p:grpSpPr>
        <p:sp>
          <p:nvSpPr>
            <p:cNvPr id="10" name="Arc 8"/>
            <p:cNvSpPr/>
            <p:nvPr/>
          </p:nvSpPr>
          <p:spPr bwMode="auto">
            <a:xfrm rot="10800000">
              <a:off x="2018" y="1467"/>
              <a:ext cx="841" cy="745"/>
            </a:xfrm>
            <a:custGeom>
              <a:avLst/>
              <a:gdLst>
                <a:gd name="T0" fmla="*/ 0 w 21600"/>
                <a:gd name="T1" fmla="*/ 0 h 21598"/>
                <a:gd name="T2" fmla="*/ 0 w 21600"/>
                <a:gd name="T3" fmla="*/ 0 h 21598"/>
                <a:gd name="T4" fmla="*/ 0 w 21600"/>
                <a:gd name="T5" fmla="*/ 0 h 21598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598"/>
                <a:gd name="T11" fmla="*/ 21600 w 21600"/>
                <a:gd name="T12" fmla="*/ 21598 h 2159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598" fill="none" extrusionOk="0">
                  <a:moveTo>
                    <a:pt x="21313" y="21598"/>
                  </a:moveTo>
                  <a:cubicBezTo>
                    <a:pt x="9497" y="21441"/>
                    <a:pt x="0" y="11817"/>
                    <a:pt x="0" y="0"/>
                  </a:cubicBezTo>
                </a:path>
                <a:path w="21600" h="21598" stroke="0" extrusionOk="0">
                  <a:moveTo>
                    <a:pt x="21313" y="21598"/>
                  </a:moveTo>
                  <a:cubicBezTo>
                    <a:pt x="9497" y="21441"/>
                    <a:pt x="0" y="11817"/>
                    <a:pt x="0" y="0"/>
                  </a:cubicBezTo>
                  <a:lnTo>
                    <a:pt x="21600" y="0"/>
                  </a:lnTo>
                  <a:close/>
                </a:path>
              </a:pathLst>
            </a:custGeom>
            <a:noFill/>
            <a:ln w="28575" cap="rnd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11" name="Arc 9"/>
            <p:cNvSpPr/>
            <p:nvPr/>
          </p:nvSpPr>
          <p:spPr bwMode="auto">
            <a:xfrm rot="10800000">
              <a:off x="1200" y="1467"/>
              <a:ext cx="823" cy="741"/>
            </a:xfrm>
            <a:custGeom>
              <a:avLst/>
              <a:gdLst>
                <a:gd name="T0" fmla="*/ 0 w 21599"/>
                <a:gd name="T1" fmla="*/ 0 h 21600"/>
                <a:gd name="T2" fmla="*/ 0 w 21599"/>
                <a:gd name="T3" fmla="*/ 0 h 21600"/>
                <a:gd name="T4" fmla="*/ 0 w 21599"/>
                <a:gd name="T5" fmla="*/ 0 h 21600"/>
                <a:gd name="T6" fmla="*/ 0 60000 65536"/>
                <a:gd name="T7" fmla="*/ 0 60000 65536"/>
                <a:gd name="T8" fmla="*/ 0 60000 65536"/>
                <a:gd name="T9" fmla="*/ 0 w 21599"/>
                <a:gd name="T10" fmla="*/ 0 h 21600"/>
                <a:gd name="T11" fmla="*/ 21599 w 21599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599" h="21600" fill="none" extrusionOk="0">
                  <a:moveTo>
                    <a:pt x="21599" y="203"/>
                  </a:moveTo>
                  <a:cubicBezTo>
                    <a:pt x="21487" y="12052"/>
                    <a:pt x="11850" y="21599"/>
                    <a:pt x="0" y="21600"/>
                  </a:cubicBezTo>
                </a:path>
                <a:path w="21599" h="21600" stroke="0" extrusionOk="0">
                  <a:moveTo>
                    <a:pt x="21599" y="203"/>
                  </a:moveTo>
                  <a:cubicBezTo>
                    <a:pt x="21487" y="12052"/>
                    <a:pt x="11850" y="21599"/>
                    <a:pt x="0" y="21600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28575" cap="rnd">
              <a:solidFill>
                <a:schemeClr val="tx1"/>
              </a:solidFill>
              <a:round/>
              <a:headEnd type="triangl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12" name="Rectangle 10"/>
          <p:cNvSpPr>
            <a:spLocks noChangeArrowheads="1"/>
          </p:cNvSpPr>
          <p:nvPr/>
        </p:nvSpPr>
        <p:spPr bwMode="auto">
          <a:xfrm>
            <a:off x="2209800" y="1785938"/>
            <a:ext cx="2022475" cy="427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en-US" altLang="ru-RU" sz="2200">
                <a:latin typeface="Courier New" panose="02070309020205020404" pitchFamily="49" charset="0"/>
              </a:rPr>
              <a:t>TO_NUMBER</a:t>
            </a:r>
            <a:endParaRPr lang="en-US" altLang="ru-RU" sz="2200">
              <a:latin typeface="Courier New" panose="02070309020205020404" pitchFamily="49" charset="0"/>
            </a:endParaRPr>
          </a:p>
        </p:txBody>
      </p:sp>
      <p:sp>
        <p:nvSpPr>
          <p:cNvPr id="13" name="Rectangle 13"/>
          <p:cNvSpPr>
            <a:spLocks noChangeArrowheads="1"/>
          </p:cNvSpPr>
          <p:nvPr/>
        </p:nvSpPr>
        <p:spPr bwMode="auto">
          <a:xfrm>
            <a:off x="6799263" y="3573463"/>
            <a:ext cx="941387" cy="427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en-US" altLang="ru-RU" sz="2200">
                <a:latin typeface="Courier New" panose="02070309020205020404" pitchFamily="49" charset="0"/>
              </a:rPr>
              <a:t>DATE</a:t>
            </a:r>
            <a:endParaRPr lang="en-US" altLang="ru-RU" sz="2200">
              <a:latin typeface="Courier New" panose="02070309020205020404" pitchFamily="49" charset="0"/>
            </a:endParaRPr>
          </a:p>
        </p:txBody>
      </p:sp>
      <p:sp>
        <p:nvSpPr>
          <p:cNvPr id="14" name="Rectangle 14"/>
          <p:cNvSpPr>
            <a:spLocks noChangeArrowheads="1"/>
          </p:cNvSpPr>
          <p:nvPr/>
        </p:nvSpPr>
        <p:spPr bwMode="auto">
          <a:xfrm>
            <a:off x="5260975" y="5253038"/>
            <a:ext cx="1390650" cy="427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en-US" altLang="ru-RU" sz="2200">
                <a:latin typeface="Courier New" panose="02070309020205020404" pitchFamily="49" charset="0"/>
              </a:rPr>
              <a:t>TO_CHAR</a:t>
            </a:r>
            <a:endParaRPr lang="en-US" altLang="ru-RU" sz="2200">
              <a:latin typeface="Courier New" panose="02070309020205020404" pitchFamily="49" charset="0"/>
            </a:endParaRPr>
          </a:p>
        </p:txBody>
      </p:sp>
      <p:grpSp>
        <p:nvGrpSpPr>
          <p:cNvPr id="15" name="Group 19"/>
          <p:cNvGrpSpPr/>
          <p:nvPr/>
        </p:nvGrpSpPr>
        <p:grpSpPr bwMode="auto">
          <a:xfrm>
            <a:off x="4724400" y="2362200"/>
            <a:ext cx="2644775" cy="2824163"/>
            <a:chOff x="2904" y="1467"/>
            <a:chExt cx="1666" cy="1779"/>
          </a:xfrm>
        </p:grpSpPr>
        <p:sp>
          <p:nvSpPr>
            <p:cNvPr id="16" name="Arc 11"/>
            <p:cNvSpPr/>
            <p:nvPr/>
          </p:nvSpPr>
          <p:spPr bwMode="gray">
            <a:xfrm>
              <a:off x="3730" y="2501"/>
              <a:ext cx="840" cy="745"/>
            </a:xfrm>
            <a:custGeom>
              <a:avLst/>
              <a:gdLst>
                <a:gd name="T0" fmla="*/ 0 w 21807"/>
                <a:gd name="T1" fmla="*/ 0 h 21600"/>
                <a:gd name="T2" fmla="*/ 0 w 21807"/>
                <a:gd name="T3" fmla="*/ 0 h 21600"/>
                <a:gd name="T4" fmla="*/ 0 w 21807"/>
                <a:gd name="T5" fmla="*/ 0 h 21600"/>
                <a:gd name="T6" fmla="*/ 0 60000 65536"/>
                <a:gd name="T7" fmla="*/ 0 60000 65536"/>
                <a:gd name="T8" fmla="*/ 0 60000 65536"/>
                <a:gd name="T9" fmla="*/ 0 w 21807"/>
                <a:gd name="T10" fmla="*/ 0 h 21600"/>
                <a:gd name="T11" fmla="*/ 21807 w 21807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807" h="21600" fill="none" extrusionOk="0">
                  <a:moveTo>
                    <a:pt x="21806" y="231"/>
                  </a:moveTo>
                  <a:cubicBezTo>
                    <a:pt x="21679" y="12070"/>
                    <a:pt x="12046" y="21599"/>
                    <a:pt x="208" y="21600"/>
                  </a:cubicBezTo>
                  <a:cubicBezTo>
                    <a:pt x="138" y="21600"/>
                    <a:pt x="69" y="21599"/>
                    <a:pt x="0" y="21598"/>
                  </a:cubicBezTo>
                </a:path>
                <a:path w="21807" h="21600" stroke="0" extrusionOk="0">
                  <a:moveTo>
                    <a:pt x="21806" y="231"/>
                  </a:moveTo>
                  <a:cubicBezTo>
                    <a:pt x="21679" y="12070"/>
                    <a:pt x="12046" y="21599"/>
                    <a:pt x="208" y="21600"/>
                  </a:cubicBezTo>
                  <a:cubicBezTo>
                    <a:pt x="138" y="21600"/>
                    <a:pt x="69" y="21599"/>
                    <a:pt x="0" y="21598"/>
                  </a:cubicBezTo>
                  <a:lnTo>
                    <a:pt x="208" y="0"/>
                  </a:lnTo>
                  <a:close/>
                </a:path>
              </a:pathLst>
            </a:custGeom>
            <a:noFill/>
            <a:ln w="28575" cap="rnd">
              <a:solidFill>
                <a:srgbClr val="FF33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17" name="Arc 12"/>
            <p:cNvSpPr/>
            <p:nvPr/>
          </p:nvSpPr>
          <p:spPr bwMode="gray">
            <a:xfrm>
              <a:off x="2912" y="2501"/>
              <a:ext cx="832" cy="745"/>
            </a:xfrm>
            <a:custGeom>
              <a:avLst/>
              <a:gdLst>
                <a:gd name="T0" fmla="*/ 0 w 21600"/>
                <a:gd name="T1" fmla="*/ 0 h 21598"/>
                <a:gd name="T2" fmla="*/ 0 w 21600"/>
                <a:gd name="T3" fmla="*/ 0 h 21598"/>
                <a:gd name="T4" fmla="*/ 0 w 21600"/>
                <a:gd name="T5" fmla="*/ 0 h 21598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598"/>
                <a:gd name="T11" fmla="*/ 21600 w 21600"/>
                <a:gd name="T12" fmla="*/ 21598 h 2159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598" fill="none" extrusionOk="0">
                  <a:moveTo>
                    <a:pt x="21339" y="21598"/>
                  </a:moveTo>
                  <a:cubicBezTo>
                    <a:pt x="9512" y="21456"/>
                    <a:pt x="0" y="11827"/>
                    <a:pt x="0" y="0"/>
                  </a:cubicBezTo>
                </a:path>
                <a:path w="21600" h="21598" stroke="0" extrusionOk="0">
                  <a:moveTo>
                    <a:pt x="21339" y="21598"/>
                  </a:moveTo>
                  <a:cubicBezTo>
                    <a:pt x="9512" y="21456"/>
                    <a:pt x="0" y="11827"/>
                    <a:pt x="0" y="0"/>
                  </a:cubicBezTo>
                  <a:lnTo>
                    <a:pt x="21600" y="0"/>
                  </a:lnTo>
                  <a:close/>
                </a:path>
              </a:pathLst>
            </a:custGeom>
            <a:noFill/>
            <a:ln w="28575" cap="rnd">
              <a:solidFill>
                <a:srgbClr val="FF33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18" name="Arc 15"/>
            <p:cNvSpPr/>
            <p:nvPr/>
          </p:nvSpPr>
          <p:spPr bwMode="gray">
            <a:xfrm rot="10800000">
              <a:off x="3730" y="1467"/>
              <a:ext cx="832" cy="745"/>
            </a:xfrm>
            <a:custGeom>
              <a:avLst/>
              <a:gdLst>
                <a:gd name="T0" fmla="*/ 0 w 21600"/>
                <a:gd name="T1" fmla="*/ 0 h 21598"/>
                <a:gd name="T2" fmla="*/ 0 w 21600"/>
                <a:gd name="T3" fmla="*/ 0 h 21598"/>
                <a:gd name="T4" fmla="*/ 0 w 21600"/>
                <a:gd name="T5" fmla="*/ 0 h 21598"/>
                <a:gd name="T6" fmla="*/ 0 60000 65536"/>
                <a:gd name="T7" fmla="*/ 0 60000 65536"/>
                <a:gd name="T8" fmla="*/ 0 60000 65536"/>
                <a:gd name="T9" fmla="*/ 0 w 21600"/>
                <a:gd name="T10" fmla="*/ 0 h 21598"/>
                <a:gd name="T11" fmla="*/ 21600 w 21600"/>
                <a:gd name="T12" fmla="*/ 21598 h 2159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600" h="21598" fill="none" extrusionOk="0">
                  <a:moveTo>
                    <a:pt x="21313" y="21598"/>
                  </a:moveTo>
                  <a:cubicBezTo>
                    <a:pt x="9497" y="21441"/>
                    <a:pt x="0" y="11817"/>
                    <a:pt x="0" y="0"/>
                  </a:cubicBezTo>
                </a:path>
                <a:path w="21600" h="21598" stroke="0" extrusionOk="0">
                  <a:moveTo>
                    <a:pt x="21313" y="21598"/>
                  </a:moveTo>
                  <a:cubicBezTo>
                    <a:pt x="9497" y="21441"/>
                    <a:pt x="0" y="11817"/>
                    <a:pt x="0" y="0"/>
                  </a:cubicBezTo>
                  <a:lnTo>
                    <a:pt x="21600" y="0"/>
                  </a:lnTo>
                  <a:close/>
                </a:path>
              </a:pathLst>
            </a:custGeom>
            <a:noFill/>
            <a:ln w="28575" cap="rnd">
              <a:solidFill>
                <a:srgbClr val="FF3300"/>
              </a:solidFill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19" name="Arc 16"/>
            <p:cNvSpPr/>
            <p:nvPr/>
          </p:nvSpPr>
          <p:spPr bwMode="gray">
            <a:xfrm rot="10800000">
              <a:off x="2904" y="1467"/>
              <a:ext cx="832" cy="745"/>
            </a:xfrm>
            <a:custGeom>
              <a:avLst/>
              <a:gdLst>
                <a:gd name="T0" fmla="*/ 0 w 21599"/>
                <a:gd name="T1" fmla="*/ 0 h 21600"/>
                <a:gd name="T2" fmla="*/ 0 w 21599"/>
                <a:gd name="T3" fmla="*/ 0 h 21600"/>
                <a:gd name="T4" fmla="*/ 0 w 21599"/>
                <a:gd name="T5" fmla="*/ 0 h 21600"/>
                <a:gd name="T6" fmla="*/ 0 60000 65536"/>
                <a:gd name="T7" fmla="*/ 0 60000 65536"/>
                <a:gd name="T8" fmla="*/ 0 60000 65536"/>
                <a:gd name="T9" fmla="*/ 0 w 21599"/>
                <a:gd name="T10" fmla="*/ 0 h 21600"/>
                <a:gd name="T11" fmla="*/ 21599 w 21599"/>
                <a:gd name="T12" fmla="*/ 21600 h 21600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1599" h="21600" fill="none" extrusionOk="0">
                  <a:moveTo>
                    <a:pt x="21599" y="203"/>
                  </a:moveTo>
                  <a:cubicBezTo>
                    <a:pt x="21487" y="12052"/>
                    <a:pt x="11850" y="21599"/>
                    <a:pt x="0" y="21600"/>
                  </a:cubicBezTo>
                </a:path>
                <a:path w="21599" h="21600" stroke="0" extrusionOk="0">
                  <a:moveTo>
                    <a:pt x="21599" y="203"/>
                  </a:moveTo>
                  <a:cubicBezTo>
                    <a:pt x="21487" y="12052"/>
                    <a:pt x="11850" y="21599"/>
                    <a:pt x="0" y="21600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28575" cap="rnd">
              <a:solidFill>
                <a:srgbClr val="FF3300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20" name="Rectangle 17"/>
          <p:cNvSpPr>
            <a:spLocks noChangeArrowheads="1"/>
          </p:cNvSpPr>
          <p:nvPr/>
        </p:nvSpPr>
        <p:spPr bwMode="auto">
          <a:xfrm>
            <a:off x="5170488" y="1785938"/>
            <a:ext cx="1571625" cy="427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en-US" altLang="ru-RU" sz="2200">
                <a:latin typeface="Courier New" panose="02070309020205020404" pitchFamily="49" charset="0"/>
              </a:rPr>
              <a:t>TO_DATE</a:t>
            </a:r>
            <a:endParaRPr lang="en-US" altLang="ru-RU" sz="2200">
              <a:latin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altLang="ru-RU" sz="3200" dirty="0" smtClean="0"/>
              <a:t>Применение </a:t>
            </a:r>
            <a:r>
              <a:rPr lang="en-US" altLang="ru-RU" sz="3200" dirty="0" smtClean="0">
                <a:latin typeface="Courier New" panose="02070309020205020404" pitchFamily="49" charset="0"/>
              </a:rPr>
              <a:t>TO</a:t>
            </a:r>
            <a:r>
              <a:rPr lang="en-US" altLang="ru-RU" sz="3200" dirty="0">
                <a:latin typeface="Courier New" panose="02070309020205020404" pitchFamily="49" charset="0"/>
              </a:rPr>
              <a:t>_</a:t>
            </a:r>
            <a:r>
              <a:rPr lang="ru-RU" altLang="ru-RU" sz="2400" dirty="0" smtClean="0">
                <a:latin typeface="Courier New" panose="02070309020205020404" pitchFamily="49" charset="0"/>
              </a:rPr>
              <a:t>...</a:t>
            </a:r>
            <a:r>
              <a:rPr lang="en-US" altLang="ru-RU" sz="2400" dirty="0" smtClean="0"/>
              <a:t> </a:t>
            </a:r>
            <a:r>
              <a:rPr lang="ru-RU" altLang="ru-RU" sz="3200" dirty="0" smtClean="0"/>
              <a:t>Функций для Даты</a:t>
            </a:r>
            <a:endParaRPr lang="ru-RU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None/>
              <a:defRPr/>
            </a:pPr>
            <a:endParaRPr lang="en-US" dirty="0"/>
          </a:p>
          <a:p>
            <a:pPr>
              <a:buFont typeface="Arial" panose="020B0604020202020204" pitchFamily="34" charset="0"/>
              <a:buNone/>
              <a:defRPr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  <a:defRPr/>
            </a:pPr>
            <a:r>
              <a:rPr lang="ru-RU" dirty="0" smtClean="0">
                <a:latin typeface="Arial" panose="020B0604020202020204" pitchFamily="34" charset="0"/>
              </a:rPr>
              <a:t>Модель формата </a:t>
            </a:r>
            <a:r>
              <a:rPr lang="en-US" dirty="0" smtClean="0">
                <a:latin typeface="Arial" panose="020B0604020202020204" pitchFamily="34" charset="0"/>
              </a:rPr>
              <a:t>:</a:t>
            </a:r>
            <a:endParaRPr lang="en-US" dirty="0">
              <a:latin typeface="Arial" panose="020B0604020202020204" pitchFamily="34" charset="0"/>
            </a:endParaRPr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ru-RU" dirty="0" smtClean="0"/>
              <a:t>Необходимо заключить в одинарные кавычки</a:t>
            </a:r>
            <a:endParaRPr lang="ru-RU" dirty="0" smtClean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ru-RU" dirty="0" smtClean="0"/>
              <a:t>Чувствителен к регистру</a:t>
            </a:r>
            <a:endParaRPr lang="ru-RU" dirty="0" smtClean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ru-RU" dirty="0" smtClean="0"/>
              <a:t>Может включать любую допустимую строку формата</a:t>
            </a:r>
            <a:endParaRPr lang="ru-RU" dirty="0" smtClean="0"/>
          </a:p>
          <a:p>
            <a:pPr lvl="1">
              <a:buFont typeface="Arial" panose="020B0604020202020204" pitchFamily="34" charset="0"/>
              <a:buChar char="•"/>
              <a:defRPr/>
            </a:pPr>
            <a:r>
              <a:rPr lang="ru-RU" dirty="0" smtClean="0"/>
              <a:t>Отделяется от значения данных запятой</a:t>
            </a:r>
            <a:endParaRPr lang="ru-RU" dirty="0"/>
          </a:p>
        </p:txBody>
      </p:sp>
      <p:sp>
        <p:nvSpPr>
          <p:cNvPr id="6" name="Content Placeholder 2"/>
          <p:cNvSpPr txBox="1"/>
          <p:nvPr/>
        </p:nvSpPr>
        <p:spPr>
          <a:xfrm>
            <a:off x="609600" y="1447800"/>
            <a:ext cx="7918450" cy="17510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  <a:defRPr/>
            </a:pPr>
            <a:endParaRPr lang="en-US" dirty="0"/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blackGray">
          <a:xfrm>
            <a:off x="788988" y="1825625"/>
            <a:ext cx="7364412" cy="53181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lnSpc>
                <a:spcPct val="160000"/>
              </a:lnSpc>
              <a:spcBef>
                <a:spcPct val="0"/>
              </a:spcBef>
              <a:buClrTx/>
              <a:buFontTx/>
              <a:buNone/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TO_</a:t>
            </a:r>
            <a:r>
              <a:rPr lang="ru-RU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. . . 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altLang="ru-RU" i="1" dirty="0">
                <a:solidFill>
                  <a:srgbClr val="000000"/>
                </a:solidFill>
                <a:latin typeface="Courier New" panose="02070309020205020404" pitchFamily="49" charset="0"/>
              </a:rPr>
              <a:t>date,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'</a:t>
            </a:r>
            <a:r>
              <a:rPr lang="en-US" altLang="ru-RU" i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format_model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')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altLang="ru-RU" sz="3200" dirty="0" smtClean="0"/>
              <a:t>Использование преобразования типов</a:t>
            </a:r>
            <a:endParaRPr lang="ru-RU" sz="3200" dirty="0"/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blackGray">
          <a:xfrm>
            <a:off x="857250" y="1676399"/>
            <a:ext cx="7299325" cy="217370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SELECT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to_char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current_timestamp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, 'HH:MI:SS')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to_char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(125, '9999')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to_char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(-125.8, '999D99S')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to_date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('05 Dec 2000', 'DD Mon YYYY')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to_number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('12,454.8-', '99G999D9S')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to_timestamp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('05 Dec 2000', 'DD Mon YYYY');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4190863"/>
            <a:ext cx="6258798" cy="9907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799172"/>
          </a:xfrm>
        </p:spPr>
        <p:txBody>
          <a:bodyPr>
            <a:normAutofit/>
          </a:bodyPr>
          <a:lstStyle/>
          <a:p>
            <a:r>
              <a:rPr lang="ru-RU" altLang="ru-RU" sz="3200" dirty="0" smtClean="0"/>
              <a:t>Преобразования даты и времени</a:t>
            </a:r>
            <a:endParaRPr lang="ru-RU" sz="3200" dirty="0"/>
          </a:p>
        </p:txBody>
      </p:sp>
      <p:sp>
        <p:nvSpPr>
          <p:cNvPr id="69633" name="Rectangle 1"/>
          <p:cNvSpPr>
            <a:spLocks noChangeArrowheads="1"/>
          </p:cNvSpPr>
          <p:nvPr/>
        </p:nvSpPr>
        <p:spPr bwMode="auto">
          <a:xfrm>
            <a:off x="658823" y="1584581"/>
            <a:ext cx="4884372" cy="338554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  <a:cs typeface="Arial" panose="020B0604020202020204" pitchFamily="34" charset="0"/>
              </a:rPr>
              <a:t>TO_DATE()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— если строка </a:t>
            </a:r>
            <a:r>
              <a:rPr kumimoji="0" lang="ru-RU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без времени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9634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701695" y="1976162"/>
            <a:ext cx="5990591" cy="5341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9635" name="Rectangle 3"/>
          <p:cNvSpPr>
            <a:spLocks noChangeArrowheads="1"/>
          </p:cNvSpPr>
          <p:nvPr/>
        </p:nvSpPr>
        <p:spPr bwMode="auto">
          <a:xfrm>
            <a:off x="698578" y="3402036"/>
            <a:ext cx="5793509" cy="338554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non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  <a:cs typeface="Arial" panose="020B0604020202020204" pitchFamily="34" charset="0"/>
              </a:rPr>
              <a:t>TO_TIMESTAMP()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— если строка содержит </a:t>
            </a:r>
            <a:r>
              <a:rPr kumimoji="0" lang="ru-RU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дату и время</a:t>
            </a: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9636" name="Picture 4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60877" y="3839999"/>
            <a:ext cx="6111323" cy="7084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Прямоугольник 8"/>
          <p:cNvSpPr/>
          <p:nvPr/>
        </p:nvSpPr>
        <p:spPr>
          <a:xfrm>
            <a:off x="769573" y="2515166"/>
            <a:ext cx="4572000" cy="24622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000" dirty="0" smtClean="0"/>
              <a:t>SELECT TO_DATE('27-05-2024', 'DD-MM-YYYY');</a:t>
            </a:r>
            <a:endParaRPr lang="ru-RU" sz="1000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769572" y="4548428"/>
            <a:ext cx="606286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smtClean="0"/>
              <a:t>SELECT TO_TIMESTAMP('27-05-2024 14:30:00', 'DD-MM-YYYY HH24:MI:SS');</a:t>
            </a:r>
            <a:endParaRPr lang="ru-RU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799172"/>
          </a:xfrm>
        </p:spPr>
        <p:txBody>
          <a:bodyPr>
            <a:normAutofit fontScale="90000"/>
          </a:bodyPr>
          <a:lstStyle/>
          <a:p>
            <a:r>
              <a:rPr lang="ru-RU" sz="3200" dirty="0" smtClean="0"/>
              <a:t>Примеры форматов в TO_DATE и TO_TIMESTAMP</a:t>
            </a:r>
            <a:endParaRPr lang="ru-RU" sz="3200" dirty="0"/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723188" y="2071031"/>
          <a:ext cx="7131564" cy="1219200"/>
        </p:xfrm>
        <a:graphic>
          <a:graphicData uri="http://schemas.openxmlformats.org/drawingml/2006/table">
            <a:tbl>
              <a:tblPr/>
              <a:tblGrid>
                <a:gridCol w="2377188"/>
                <a:gridCol w="2377188"/>
                <a:gridCol w="2377188"/>
              </a:tblGrid>
              <a:tr h="0">
                <a:tc>
                  <a:txBody>
                    <a:bodyPr/>
                    <a:lstStyle/>
                    <a:p>
                      <a:r>
                        <a:rPr lang="ru-RU" sz="1400" dirty="0"/>
                        <a:t>Формат строки</a:t>
                      </a:r>
                      <a:endParaRPr lang="ru-RU" sz="1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Пример</a:t>
                      </a:r>
                      <a:endParaRPr lang="ru-RU" sz="1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dirty="0"/>
                        <a:t>Формат </a:t>
                      </a:r>
                      <a:r>
                        <a:rPr lang="ru-RU" sz="1400" dirty="0" smtClean="0"/>
                        <a:t>шаблона</a:t>
                      </a:r>
                      <a:endParaRPr lang="en-US" sz="1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ru-RU" sz="1400"/>
                        <a:t>27/05/2024</a:t>
                      </a:r>
                      <a:endParaRPr lang="ru-RU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'27/05/2024'</a:t>
                      </a:r>
                      <a:endParaRPr lang="ru-RU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'DD/MM/YYYY'</a:t>
                      </a:r>
                      <a:endParaRPr lang="en-US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ru-RU" sz="1400"/>
                        <a:t>2024.05.27</a:t>
                      </a:r>
                      <a:endParaRPr lang="ru-RU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'2024.05.27'</a:t>
                      </a:r>
                      <a:endParaRPr lang="ru-RU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'YYYY.MM.DD'</a:t>
                      </a:r>
                      <a:endParaRPr lang="en-US" sz="1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ru-RU" sz="1400"/>
                        <a:t>27-05-2024 15:45:00</a:t>
                      </a:r>
                      <a:endParaRPr lang="ru-RU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400"/>
                        <a:t>'27-05-2024 15:45:00'</a:t>
                      </a:r>
                      <a:endParaRPr lang="ru-RU" sz="14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'DD-MM-YYYY HH24:MI:SS'</a:t>
                      </a:r>
                      <a:endParaRPr lang="en-US" sz="1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799172"/>
          </a:xfrm>
        </p:spPr>
        <p:txBody>
          <a:bodyPr>
            <a:normAutofit/>
          </a:bodyPr>
          <a:lstStyle/>
          <a:p>
            <a:r>
              <a:rPr lang="ru-RU" sz="2800" dirty="0" smtClean="0"/>
              <a:t>Получение текущей даты или Временной отметки</a:t>
            </a:r>
            <a:endParaRPr lang="ru-RU" sz="2800" dirty="0"/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/>
        </p:nvGraphicFramePr>
        <p:xfrm>
          <a:off x="721295" y="1494800"/>
          <a:ext cx="7548060" cy="4064001"/>
        </p:xfrm>
        <a:graphic>
          <a:graphicData uri="http://schemas.openxmlformats.org/drawingml/2006/table">
            <a:tbl>
              <a:tblPr/>
              <a:tblGrid>
                <a:gridCol w="2516020"/>
                <a:gridCol w="2516020"/>
                <a:gridCol w="2516020"/>
              </a:tblGrid>
              <a:tr h="557804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 </a:t>
                      </a:r>
                      <a:r>
                        <a:rPr lang="ru-RU" sz="1400" dirty="0"/>
                        <a:t>Что нужно получить</a:t>
                      </a:r>
                      <a:endParaRPr lang="ru-RU" sz="1400" dirty="0"/>
                    </a:p>
                  </a:txBody>
                  <a:tcPr marL="79686" marR="79686" marT="39843" marB="398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1" dirty="0" smtClean="0"/>
                        <a:t> </a:t>
                      </a:r>
                      <a:r>
                        <a:rPr lang="en-US" sz="1400" b="1" dirty="0"/>
                        <a:t>Hive</a:t>
                      </a:r>
                      <a:endParaRPr lang="en-US" sz="1400" b="1" dirty="0"/>
                    </a:p>
                  </a:txBody>
                  <a:tcPr marL="79686" marR="79686" marT="39843" marB="398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err="1" smtClean="0"/>
                        <a:t>PostgreSQL</a:t>
                      </a:r>
                      <a:endParaRPr lang="en-US" sz="1400" b="1" dirty="0"/>
                    </a:p>
                  </a:txBody>
                  <a:tcPr marL="79686" marR="79686" marT="39843" marB="398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18745">
                <a:tc>
                  <a:txBody>
                    <a:bodyPr/>
                    <a:lstStyle/>
                    <a:p>
                      <a:r>
                        <a:rPr lang="ru-RU" sz="1400" dirty="0"/>
                        <a:t>📅 Текущая дата</a:t>
                      </a:r>
                      <a:endParaRPr lang="ru-RU" sz="1400" dirty="0"/>
                    </a:p>
                  </a:txBody>
                  <a:tcPr marL="79686" marR="79686" marT="39843" marB="398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CURRENT_DATE</a:t>
                      </a:r>
                      <a:endParaRPr lang="en-US" sz="1400"/>
                    </a:p>
                  </a:txBody>
                  <a:tcPr marL="79686" marR="79686" marT="39843" marB="398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CURRENT_DATE</a:t>
                      </a:r>
                      <a:endParaRPr lang="en-US" sz="1400"/>
                    </a:p>
                  </a:txBody>
                  <a:tcPr marL="79686" marR="79686" marT="39843" marB="398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57804">
                <a:tc>
                  <a:txBody>
                    <a:bodyPr/>
                    <a:lstStyle/>
                    <a:p>
                      <a:r>
                        <a:rPr lang="ru-RU" sz="1400"/>
                        <a:t>🕒 Текущий </a:t>
                      </a:r>
                      <a:r>
                        <a:rPr lang="en-US" sz="1400"/>
                        <a:t>timestamp</a:t>
                      </a:r>
                      <a:endParaRPr lang="en-US" sz="1400"/>
                    </a:p>
                  </a:txBody>
                  <a:tcPr marL="79686" marR="79686" marT="39843" marB="398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CURRENT_TIMESTAMP</a:t>
                      </a:r>
                      <a:endParaRPr lang="en-US" sz="1400" dirty="0" smtClean="0"/>
                    </a:p>
                    <a:p>
                      <a:r>
                        <a:rPr lang="en-US" sz="1400" dirty="0" smtClean="0"/>
                        <a:t>NOW</a:t>
                      </a:r>
                      <a:r>
                        <a:rPr lang="en-US" sz="1400" dirty="0"/>
                        <a:t>()</a:t>
                      </a:r>
                      <a:endParaRPr lang="en-US" sz="1400" dirty="0"/>
                    </a:p>
                  </a:txBody>
                  <a:tcPr marL="79686" marR="79686" marT="39843" marB="398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CURRENT_TIMESTAMP</a:t>
                      </a:r>
                      <a:endParaRPr lang="en-US" sz="1400" dirty="0" smtClean="0"/>
                    </a:p>
                    <a:p>
                      <a:r>
                        <a:rPr lang="en-US" sz="1400" dirty="0" smtClean="0"/>
                        <a:t>NOW</a:t>
                      </a:r>
                      <a:r>
                        <a:rPr lang="en-US" sz="1400" dirty="0"/>
                        <a:t>()</a:t>
                      </a:r>
                      <a:endParaRPr lang="en-US" sz="1400" dirty="0"/>
                    </a:p>
                  </a:txBody>
                  <a:tcPr marL="79686" marR="79686" marT="39843" marB="398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96863">
                <a:tc>
                  <a:txBody>
                    <a:bodyPr/>
                    <a:lstStyle/>
                    <a:p>
                      <a:r>
                        <a:rPr lang="ru-RU" sz="1400" dirty="0"/>
                        <a:t>🕕 Только время (</a:t>
                      </a:r>
                      <a:r>
                        <a:rPr lang="ru-RU" sz="1400" dirty="0" err="1"/>
                        <a:t>часы:минуты:секунды</a:t>
                      </a:r>
                      <a:r>
                        <a:rPr lang="ru-RU" sz="1400" dirty="0"/>
                        <a:t>)</a:t>
                      </a:r>
                      <a:endParaRPr lang="ru-RU" sz="1400" dirty="0"/>
                    </a:p>
                  </a:txBody>
                  <a:tcPr marL="79686" marR="79686" marT="39843" marB="398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DATE_FORMAT(CURRENT_TIMESTAMP, 'HH:mm:ss')</a:t>
                      </a:r>
                      <a:endParaRPr lang="en-US" sz="1400"/>
                    </a:p>
                  </a:txBody>
                  <a:tcPr marL="79686" marR="79686" marT="39843" marB="398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CURRENT_TIME</a:t>
                      </a:r>
                      <a:endParaRPr lang="en-US" sz="1400" dirty="0"/>
                    </a:p>
                  </a:txBody>
                  <a:tcPr marL="79686" marR="79686" marT="39843" marB="398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96863">
                <a:tc>
                  <a:txBody>
                    <a:bodyPr/>
                    <a:lstStyle/>
                    <a:p>
                      <a:r>
                        <a:rPr lang="ru-RU" sz="1400"/>
                        <a:t>📆 Явное преобразование строки в дату</a:t>
                      </a:r>
                      <a:endParaRPr lang="ru-RU" sz="1400"/>
                    </a:p>
                  </a:txBody>
                  <a:tcPr marL="79686" marR="79686" marT="39843" marB="398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CAST('2024-05-27' AS DATE)</a:t>
                      </a:r>
                      <a:endParaRPr lang="en-US" sz="1400"/>
                    </a:p>
                  </a:txBody>
                  <a:tcPr marL="79686" marR="79686" marT="39843" marB="398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TO_DATE('27-05-2024', 'DD-MM-YYYY')</a:t>
                      </a:r>
                      <a:endParaRPr lang="en-US" sz="1400"/>
                    </a:p>
                  </a:txBody>
                  <a:tcPr marL="79686" marR="79686" marT="39843" marB="398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5922">
                <a:tc>
                  <a:txBody>
                    <a:bodyPr/>
                    <a:lstStyle/>
                    <a:p>
                      <a:r>
                        <a:rPr lang="ru-RU" sz="1400"/>
                        <a:t>🕓 Явное преобразование строки в timestamp</a:t>
                      </a:r>
                      <a:endParaRPr lang="ru-RU" sz="1400"/>
                    </a:p>
                  </a:txBody>
                  <a:tcPr marL="79686" marR="79686" marT="39843" marB="398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CAST('2024-05-27 14:30:00' AS TIMESTAMP)</a:t>
                      </a:r>
                      <a:endParaRPr lang="en-US" sz="1400"/>
                    </a:p>
                  </a:txBody>
                  <a:tcPr marL="79686" marR="79686" marT="39843" marB="398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TO_TIMESTAMP('27-05-2024 14:30:00', 'DD-MM-YYYY HH24:MI:SS')</a:t>
                      </a:r>
                      <a:endParaRPr lang="en-US" sz="1400" dirty="0"/>
                    </a:p>
                  </a:txBody>
                  <a:tcPr marL="79686" marR="79686" marT="39843" marB="3984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ru-RU" dirty="0" smtClean="0"/>
              <a:t>Полезные Функции</a:t>
            </a:r>
            <a:endParaRPr lang="ru-RU" dirty="0"/>
          </a:p>
        </p:txBody>
      </p:sp>
      <p:sp>
        <p:nvSpPr>
          <p:cNvPr id="4" name="Rectangle 5"/>
          <p:cNvSpPr txBox="1">
            <a:spLocks noChangeArrowheads="1"/>
          </p:cNvSpPr>
          <p:nvPr/>
        </p:nvSpPr>
        <p:spPr>
          <a:xfrm>
            <a:off x="609600" y="1744748"/>
            <a:ext cx="7918450" cy="23018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altLang="ru-RU" sz="2400" dirty="0" smtClean="0"/>
              <a:t>Универсальная функция </a:t>
            </a:r>
            <a:r>
              <a:rPr lang="ru-RU" altLang="ru-RU" sz="2400" dirty="0" err="1" smtClean="0"/>
              <a:t>преборазования</a:t>
            </a:r>
            <a:r>
              <a:rPr lang="ru-RU" altLang="ru-RU" sz="2400" dirty="0" smtClean="0"/>
              <a:t> данных к заданному типу:</a:t>
            </a:r>
            <a:endParaRPr lang="en-US" altLang="ru-RU" dirty="0" smtClean="0"/>
          </a:p>
          <a:p>
            <a:pPr lvl="1"/>
            <a:r>
              <a:rPr lang="en-US" altLang="ru-RU" dirty="0" smtClean="0">
                <a:latin typeface="Courier New" panose="02070309020205020404" pitchFamily="49" charset="0"/>
              </a:rPr>
              <a:t>CAST(&lt;</a:t>
            </a:r>
            <a:r>
              <a:rPr lang="ru-RU" altLang="ru-RU" dirty="0" smtClean="0">
                <a:latin typeface="Courier New" panose="02070309020205020404" pitchFamily="49" charset="0"/>
              </a:rPr>
              <a:t>выражение&gt; </a:t>
            </a:r>
            <a:r>
              <a:rPr lang="en-US" altLang="ru-RU" dirty="0" smtClean="0">
                <a:latin typeface="Courier New" panose="02070309020205020404" pitchFamily="49" charset="0"/>
              </a:rPr>
              <a:t>AS &lt;</a:t>
            </a:r>
            <a:r>
              <a:rPr lang="ru-RU" altLang="ru-RU" dirty="0" err="1" smtClean="0">
                <a:latin typeface="Courier New" panose="02070309020205020404" pitchFamily="49" charset="0"/>
              </a:rPr>
              <a:t>тип_данных</a:t>
            </a:r>
            <a:r>
              <a:rPr lang="ru-RU" altLang="ru-RU" dirty="0" smtClean="0">
                <a:latin typeface="Courier New" panose="02070309020205020404" pitchFamily="49" charset="0"/>
              </a:rPr>
              <a:t>&gt;)</a:t>
            </a:r>
            <a:endParaRPr lang="en-US" altLang="ru-RU" dirty="0">
              <a:latin typeface="Courier New" panose="02070309020205020404" pitchFamily="49" charset="0"/>
            </a:endParaRPr>
          </a:p>
        </p:txBody>
      </p:sp>
      <p:sp>
        <p:nvSpPr>
          <p:cNvPr id="51201" name="Rectangle 1"/>
          <p:cNvSpPr>
            <a:spLocks noChangeArrowheads="1"/>
          </p:cNvSpPr>
          <p:nvPr/>
        </p:nvSpPr>
        <p:spPr bwMode="auto">
          <a:xfrm>
            <a:off x="596348" y="3180523"/>
            <a:ext cx="5196746" cy="2062103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ru-RU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1. Преобразование строки в число:</a:t>
            </a:r>
            <a:endParaRPr kumimoji="0" lang="ru-RU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  <a:cs typeface="Arial" panose="020B0604020202020204" pitchFamily="34" charset="0"/>
              </a:rPr>
              <a:t>SELECT CAST('123' AS INT); → 123 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Unicode MS" panose="020B060402020202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ru-RU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ru-RU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2. Преобразование числа в строку:</a:t>
            </a:r>
            <a:endParaRPr kumimoji="0" lang="ru-RU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  <a:cs typeface="Arial" panose="020B0604020202020204" pitchFamily="34" charset="0"/>
              </a:rPr>
              <a:t>SELECT CAST(456 AS STRING); → '456' 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 Unicode MS" panose="020B0604020202020204" pitchFamily="34" charset="-128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ru-RU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ru-RU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3. Преобразование строки в дату:</a:t>
            </a:r>
            <a:endParaRPr kumimoji="0" lang="ru-RU" sz="16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ru-RU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  <a:cs typeface="Arial" panose="020B0604020202020204" pitchFamily="34" charset="0"/>
              </a:rPr>
              <a:t>SELECT CAST('2024-05-27' AS DATE); → 2024-05-27</a:t>
            </a:r>
            <a:endParaRPr kumimoji="0" lang="ru-RU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202" name="Rectangle 2"/>
          <p:cNvSpPr>
            <a:spLocks noChangeArrowheads="1"/>
          </p:cNvSpPr>
          <p:nvPr/>
        </p:nvSpPr>
        <p:spPr bwMode="auto">
          <a:xfrm>
            <a:off x="5930659" y="3193606"/>
            <a:ext cx="2877675" cy="198515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</a:pPr>
            <a:r>
              <a:rPr kumimoji="0" lang="ru-RU" sz="1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Поддерживаемые типы:</a:t>
            </a:r>
            <a:endParaRPr kumimoji="0" lang="ru-RU" sz="14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  <a:cs typeface="Arial" panose="020B0604020202020204" pitchFamily="34" charset="0"/>
              </a:rPr>
              <a:t> 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  <a:cs typeface="Arial" panose="020B0604020202020204" pitchFamily="34" charset="0"/>
              </a:rPr>
              <a:t>STRING</a:t>
            </a:r>
            <a:endParaRPr kumimoji="0" lang="ru-RU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  <a:cs typeface="Arial" panose="020B0604020202020204" pitchFamily="34" charset="0"/>
              </a:rPr>
              <a:t> I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  <a:cs typeface="Arial" panose="020B0604020202020204" pitchFamily="34" charset="0"/>
              </a:rPr>
              <a:t>NT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  <a:cs typeface="Arial" panose="020B0604020202020204" pitchFamily="34" charset="0"/>
              </a:rPr>
              <a:t>BIGINT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  <a:cs typeface="Arial" panose="020B0604020202020204" pitchFamily="34" charset="0"/>
              </a:rPr>
              <a:t>FLOAT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  <a:cs typeface="Arial" panose="020B0604020202020204" pitchFamily="34" charset="0"/>
              </a:rPr>
              <a:t>DOUBLE</a:t>
            </a:r>
            <a:endParaRPr kumimoji="0" lang="ru-RU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  <a:cs typeface="Arial" panose="020B0604020202020204" pitchFamily="34" charset="0"/>
              </a:rPr>
              <a:t> 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  <a:cs typeface="Arial" panose="020B0604020202020204" pitchFamily="34" charset="0"/>
              </a:rPr>
              <a:t>BOOLEAN</a:t>
            </a:r>
            <a:endParaRPr kumimoji="0" lang="ru-RU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  <a:cs typeface="Arial" panose="020B0604020202020204" pitchFamily="34" charset="0"/>
              </a:rPr>
              <a:t> 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  <a:cs typeface="Arial" panose="020B0604020202020204" pitchFamily="34" charset="0"/>
              </a:rPr>
              <a:t>DATE</a:t>
            </a:r>
            <a:endParaRPr kumimoji="0" lang="ru-RU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kumimoji="0" lang="en-US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  <a:cs typeface="Arial" panose="020B0604020202020204" pitchFamily="34" charset="0"/>
              </a:rPr>
              <a:t> </a:t>
            </a:r>
            <a:r>
              <a:rPr kumimoji="0" lang="ru-RU" sz="1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 panose="020B0604020202020204" pitchFamily="34" charset="-128"/>
                <a:cs typeface="Arial" panose="020B0604020202020204" pitchFamily="34" charset="0"/>
              </a:rPr>
              <a:t>TIMESTAMP</a:t>
            </a:r>
            <a:endParaRPr kumimoji="0" lang="ru-RU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ru-RU" sz="14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ru-RU" dirty="0" smtClean="0"/>
              <a:t>Полезные Функции</a:t>
            </a:r>
            <a:endParaRPr lang="ru-RU" dirty="0"/>
          </a:p>
        </p:txBody>
      </p:sp>
      <p:sp>
        <p:nvSpPr>
          <p:cNvPr id="4" name="Rectangle 5"/>
          <p:cNvSpPr txBox="1">
            <a:spLocks noChangeArrowheads="1"/>
          </p:cNvSpPr>
          <p:nvPr/>
        </p:nvSpPr>
        <p:spPr>
          <a:xfrm>
            <a:off x="609600" y="1744748"/>
            <a:ext cx="7918450" cy="23018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altLang="ru-RU" sz="2400" dirty="0" smtClean="0"/>
              <a:t>Следующая функции работает с любым типом данных и относятся к использованию значений NULL:</a:t>
            </a:r>
            <a:endParaRPr lang="en-US" altLang="ru-RU" dirty="0" smtClean="0"/>
          </a:p>
          <a:p>
            <a:pPr lvl="1"/>
            <a:r>
              <a:rPr lang="en-US" altLang="ru-RU" dirty="0" smtClean="0">
                <a:latin typeface="Courier New" panose="02070309020205020404" pitchFamily="49" charset="0"/>
              </a:rPr>
              <a:t>COALESCE</a:t>
            </a:r>
            <a:r>
              <a:rPr lang="en-US" altLang="ru-RU" dirty="0" smtClean="0"/>
              <a:t> </a:t>
            </a:r>
            <a:r>
              <a:rPr lang="en-US" altLang="ru-RU" dirty="0">
                <a:latin typeface="Courier New" panose="02070309020205020404" pitchFamily="49" charset="0"/>
              </a:rPr>
              <a:t>(expr1, expr2, ..., </a:t>
            </a:r>
            <a:r>
              <a:rPr lang="en-US" altLang="ru-RU" dirty="0" err="1">
                <a:latin typeface="Courier New" panose="02070309020205020404" pitchFamily="49" charset="0"/>
              </a:rPr>
              <a:t>exprn</a:t>
            </a:r>
            <a:r>
              <a:rPr lang="en-US" altLang="ru-RU" dirty="0">
                <a:latin typeface="Courier New" panose="02070309020205020404" pitchFamily="49" charset="0"/>
              </a:rPr>
              <a:t>)</a:t>
            </a:r>
            <a:endParaRPr lang="en-US" altLang="ru-RU" dirty="0">
              <a:latin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altLang="ru-RU" sz="3600" dirty="0" smtClean="0"/>
              <a:t>Применение </a:t>
            </a:r>
            <a:r>
              <a:rPr lang="en-US" altLang="ru-RU" sz="3600" dirty="0" smtClean="0">
                <a:latin typeface="Courier New" panose="02070309020205020404" pitchFamily="49" charset="0"/>
              </a:rPr>
              <a:t>COALESCE</a:t>
            </a:r>
            <a:r>
              <a:rPr lang="en-US" altLang="ru-RU" sz="3600" dirty="0" smtClean="0"/>
              <a:t> </a:t>
            </a:r>
            <a:r>
              <a:rPr lang="ru-RU" altLang="ru-RU" sz="3600" dirty="0" smtClean="0"/>
              <a:t>Функции</a:t>
            </a:r>
            <a:endParaRPr lang="ru-RU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ru-RU" altLang="ru-RU" dirty="0" smtClean="0"/>
              <a:t>Особенность функции COALESCE заключается в том, что функция COALESCE может принимать несколько альтернативных значений.</a:t>
            </a:r>
            <a:endParaRPr lang="ru-RU" altLang="ru-RU" dirty="0" smtClean="0"/>
          </a:p>
          <a:p>
            <a:pPr lvl="1"/>
            <a:r>
              <a:rPr lang="ru-RU" altLang="ru-RU" dirty="0" smtClean="0"/>
              <a:t>Если первое выражение не равно </a:t>
            </a:r>
            <a:r>
              <a:rPr lang="ru-RU" altLang="ru-RU" dirty="0" err="1" smtClean="0"/>
              <a:t>null</a:t>
            </a:r>
            <a:r>
              <a:rPr lang="ru-RU" altLang="ru-RU" dirty="0" smtClean="0"/>
              <a:t>, функция COALESCE возвращает это выражение; </a:t>
            </a:r>
            <a:br>
              <a:rPr lang="ru-RU" altLang="ru-RU" dirty="0" smtClean="0"/>
            </a:br>
            <a:r>
              <a:rPr lang="ru-RU" altLang="ru-RU" dirty="0" smtClean="0"/>
              <a:t>В противном случае она выполняет COALESCE оставшихся выражений.</a:t>
            </a:r>
            <a:endParaRPr lang="ru-RU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altLang="ru-RU" sz="3600" dirty="0" smtClean="0"/>
              <a:t>Пример применения </a:t>
            </a:r>
            <a:r>
              <a:rPr lang="en-US" altLang="ru-RU" sz="3600" dirty="0" smtClean="0"/>
              <a:t>COALESCE</a:t>
            </a:r>
            <a:endParaRPr lang="ru-RU" sz="3600" dirty="0"/>
          </a:p>
        </p:txBody>
      </p:sp>
      <p:sp>
        <p:nvSpPr>
          <p:cNvPr id="5" name="Rectangle 3"/>
          <p:cNvSpPr>
            <a:spLocks noChangeArrowheads="1"/>
          </p:cNvSpPr>
          <p:nvPr/>
        </p:nvSpPr>
        <p:spPr bwMode="blackGray">
          <a:xfrm>
            <a:off x="838200" y="1371599"/>
            <a:ext cx="7364413" cy="196114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select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employee_id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first_name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last_name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manager_id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coalesce(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manager_id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, 0)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from employees;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3429000"/>
            <a:ext cx="6611273" cy="274358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ru-RU" dirty="0" smtClean="0"/>
              <a:t>Условные выражения</a:t>
            </a:r>
            <a:endParaRPr lang="ru-RU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/>
          <a:lstStyle/>
          <a:p>
            <a:pPr lvl="1">
              <a:buNone/>
            </a:pPr>
            <a:r>
              <a:rPr lang="ru-RU" altLang="ru-RU" dirty="0" smtClean="0"/>
              <a:t>Применение логики IF-THEN-ELSE в операторе SQL:</a:t>
            </a:r>
            <a:endParaRPr lang="ru-RU" altLang="ru-RU" dirty="0" smtClean="0"/>
          </a:p>
          <a:p>
            <a:pPr lvl="1">
              <a:buNone/>
            </a:pPr>
            <a:r>
              <a:rPr lang="ru-RU" altLang="ru-RU" b="1" dirty="0" smtClean="0"/>
              <a:t>CASE</a:t>
            </a:r>
            <a:endParaRPr lang="en-US" altLang="ru-RU" b="1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ru-RU" dirty="0">
                <a:latin typeface="Courier New" panose="02070309020205020404" pitchFamily="49" charset="0"/>
              </a:rPr>
              <a:t>CASE</a:t>
            </a:r>
            <a:r>
              <a:rPr lang="en-US" altLang="ru-RU" dirty="0"/>
              <a:t> </a:t>
            </a:r>
            <a:r>
              <a:rPr lang="ru-RU" altLang="ru-RU" dirty="0" smtClean="0"/>
              <a:t>Выражение</a:t>
            </a:r>
            <a:endParaRPr lang="ru-RU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idx="1"/>
          </p:nvPr>
        </p:nvSpPr>
        <p:spPr>
          <a:xfrm>
            <a:off x="636104" y="1799962"/>
            <a:ext cx="8102087" cy="8694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altLang="ru-RU" sz="2400" dirty="0" smtClean="0"/>
              <a:t>Облегчает условные запросы, выполняя работу оператора IF-THEN-ELSE:</a:t>
            </a:r>
            <a:endParaRPr lang="en-US" altLang="ru-RU" sz="2400" dirty="0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blackGray">
          <a:xfrm>
            <a:off x="692544" y="2773396"/>
            <a:ext cx="7364413" cy="158908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lnSpc>
                <a:spcPct val="105000"/>
              </a:lnSpc>
              <a:spcBef>
                <a:spcPct val="0"/>
              </a:spcBef>
              <a:buClrTx/>
              <a:buFontTx/>
              <a:buNone/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CASE </a:t>
            </a:r>
            <a:r>
              <a:rPr lang="en-US" altLang="ru-RU" i="1" dirty="0">
                <a:solidFill>
                  <a:srgbClr val="000000"/>
                </a:solidFill>
                <a:latin typeface="Courier New" panose="02070309020205020404" pitchFamily="49" charset="0"/>
              </a:rPr>
              <a:t>expr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WHEN </a:t>
            </a:r>
            <a:r>
              <a:rPr lang="en-US" altLang="ru-RU" i="1" dirty="0">
                <a:solidFill>
                  <a:srgbClr val="000000"/>
                </a:solidFill>
                <a:latin typeface="Courier New" panose="02070309020205020404" pitchFamily="49" charset="0"/>
              </a:rPr>
              <a:t>comparison_expr1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THEN </a:t>
            </a:r>
            <a:r>
              <a:rPr lang="en-US" altLang="ru-RU" i="1" dirty="0">
                <a:solidFill>
                  <a:srgbClr val="000000"/>
                </a:solidFill>
                <a:latin typeface="Courier New" panose="02070309020205020404" pitchFamily="49" charset="0"/>
              </a:rPr>
              <a:t>return_expr1</a:t>
            </a:r>
            <a:endParaRPr lang="en-US" altLang="ru-RU" i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lnSpc>
                <a:spcPct val="105000"/>
              </a:lnSpc>
              <a:spcBef>
                <a:spcPct val="0"/>
              </a:spcBef>
              <a:buClrTx/>
              <a:buFontTx/>
              <a:buNone/>
            </a:pPr>
            <a:r>
              <a:rPr lang="en-US" altLang="ru-RU" i="1" dirty="0">
                <a:solidFill>
                  <a:srgbClr val="000000"/>
                </a:solidFill>
                <a:latin typeface="Courier New" panose="02070309020205020404" pitchFamily="49" charset="0"/>
              </a:rPr>
              <a:t>         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[WHEN</a:t>
            </a:r>
            <a:r>
              <a:rPr lang="en-US" altLang="ru-RU" i="1" dirty="0">
                <a:solidFill>
                  <a:srgbClr val="000000"/>
                </a:solidFill>
                <a:latin typeface="Courier New" panose="02070309020205020404" pitchFamily="49" charset="0"/>
              </a:rPr>
              <a:t> comparison_expr2 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THEN</a:t>
            </a:r>
            <a:r>
              <a:rPr lang="en-US" altLang="ru-RU" i="1" dirty="0">
                <a:solidFill>
                  <a:srgbClr val="000000"/>
                </a:solidFill>
                <a:latin typeface="Courier New" panose="02070309020205020404" pitchFamily="49" charset="0"/>
              </a:rPr>
              <a:t> return_expr2</a:t>
            </a:r>
            <a:endParaRPr lang="en-US" altLang="ru-RU" i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lnSpc>
                <a:spcPct val="105000"/>
              </a:lnSpc>
              <a:spcBef>
                <a:spcPct val="0"/>
              </a:spcBef>
              <a:buClrTx/>
              <a:buFontTx/>
              <a:buNone/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        WHEN</a:t>
            </a:r>
            <a:r>
              <a:rPr lang="en-US" altLang="ru-RU" i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ru-RU" i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comparison_exprn</a:t>
            </a:r>
            <a:r>
              <a:rPr lang="en-US" altLang="ru-RU" i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THEN</a:t>
            </a:r>
            <a:r>
              <a:rPr lang="en-US" altLang="ru-RU" i="1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ru-RU" i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return_exprn</a:t>
            </a:r>
            <a:endParaRPr lang="en-US" altLang="ru-RU" i="1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lnSpc>
                <a:spcPct val="105000"/>
              </a:lnSpc>
              <a:spcBef>
                <a:spcPct val="0"/>
              </a:spcBef>
              <a:buClrTx/>
              <a:buFontTx/>
              <a:buNone/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        ELSE </a:t>
            </a:r>
            <a:r>
              <a:rPr lang="en-US" altLang="ru-RU" i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else_expr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]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lnSpc>
                <a:spcPct val="105000"/>
              </a:lnSpc>
              <a:spcBef>
                <a:spcPct val="0"/>
              </a:spcBef>
              <a:buClrTx/>
              <a:buFontTx/>
              <a:buNone/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END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82164"/>
            <a:ext cx="7886700" cy="1325563"/>
          </a:xfrm>
        </p:spPr>
        <p:txBody>
          <a:bodyPr/>
          <a:lstStyle/>
          <a:p>
            <a:r>
              <a:rPr lang="en-US" altLang="ru-RU" dirty="0" smtClean="0">
                <a:latin typeface="Courier New" panose="02070309020205020404" pitchFamily="49" charset="0"/>
              </a:rPr>
              <a:t>CASE</a:t>
            </a:r>
            <a:r>
              <a:rPr lang="en-US" altLang="ru-RU" dirty="0" smtClean="0"/>
              <a:t> </a:t>
            </a:r>
            <a:r>
              <a:rPr lang="ru-RU" altLang="ru-RU" dirty="0" smtClean="0"/>
              <a:t>Выражение</a:t>
            </a:r>
            <a:endParaRPr lang="ru-RU" dirty="0"/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blackGray">
          <a:xfrm>
            <a:off x="753007" y="1894871"/>
            <a:ext cx="7364413" cy="370589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select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region_id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region_name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case 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      when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region_name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= 'Asia' THEN '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Азия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'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	    else '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Не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Азия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'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	end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case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region_name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      when 'Asia' then '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Азия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'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		else '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Не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Азия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'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	end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from regions;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992275"/>
          </a:xfrm>
        </p:spPr>
        <p:txBody>
          <a:bodyPr/>
          <a:lstStyle/>
          <a:p>
            <a:r>
              <a:rPr lang="en-US" altLang="ru-RU" dirty="0" smtClean="0">
                <a:latin typeface="Courier New" panose="02070309020205020404" pitchFamily="49" charset="0"/>
              </a:rPr>
              <a:t>CASE</a:t>
            </a:r>
            <a:r>
              <a:rPr lang="en-US" altLang="ru-RU" dirty="0" smtClean="0"/>
              <a:t> </a:t>
            </a:r>
            <a:r>
              <a:rPr lang="ru-RU" altLang="ru-RU" dirty="0" smtClean="0"/>
              <a:t>Выражение</a:t>
            </a:r>
            <a:endParaRPr lang="ru-RU" dirty="0"/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blackGray">
          <a:xfrm>
            <a:off x="753008" y="1537014"/>
            <a:ext cx="7364413" cy="466842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select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first_name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last_name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salary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case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      when salary between 0.00 and 4999.99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          then 'Low salary'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	    when salary between 5000.00 and 9999.99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	        then 'Normal salary'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		when salary between 10000.00 and 14999.99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	        then 'High salary'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		else 'TOP'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	end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from employees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order by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employee_id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105000"/>
              </a:lnSpc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limit 10;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05736" y="3170869"/>
            <a:ext cx="5744210" cy="4283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2700" dirty="0" smtClean="0">
                <a:solidFill>
                  <a:srgbClr val="FFFFFF"/>
                </a:solidFill>
              </a:rPr>
              <a:t>Модель данных – Клиент</a:t>
            </a:r>
            <a:endParaRPr sz="2700"/>
          </a:p>
        </p:txBody>
      </p:sp>
      <p:sp>
        <p:nvSpPr>
          <p:cNvPr id="3" name="object 3"/>
          <p:cNvSpPr txBox="1"/>
          <p:nvPr/>
        </p:nvSpPr>
        <p:spPr>
          <a:xfrm>
            <a:off x="103715" y="1594867"/>
            <a:ext cx="123111" cy="2499360"/>
          </a:xfrm>
          <a:prstGeom prst="rect">
            <a:avLst/>
          </a:prstGeom>
        </p:spPr>
        <p:txBody>
          <a:bodyPr vert="vert270" wrap="square" lIns="0" tIns="2032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60"/>
              </a:spcBef>
            </a:pPr>
            <a:r>
              <a:rPr sz="800" spc="-2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СМОТРИ</a:t>
            </a:r>
            <a:r>
              <a:rPr sz="80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 В</a:t>
            </a:r>
            <a:r>
              <a:rPr sz="800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800" spc="-4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БУДУЩЕЕ.</a:t>
            </a:r>
            <a:r>
              <a:rPr sz="800" spc="1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800" spc="-4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ИНВЕСТИРУЙ</a:t>
            </a:r>
            <a:r>
              <a:rPr sz="800" spc="2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800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В</a:t>
            </a:r>
            <a:r>
              <a:rPr sz="800" spc="50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800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ЗНАНИЯ.</a:t>
            </a:r>
            <a:endParaRPr sz="8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0" y="0"/>
            <a:ext cx="9167663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Соединения таблиц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ru-RU" altLang="ru-RU" dirty="0" smtClean="0"/>
              <a:t>Типы </a:t>
            </a:r>
            <a:r>
              <a:rPr lang="en-US" altLang="ru-RU" dirty="0" smtClean="0"/>
              <a:t>JOINS </a:t>
            </a:r>
            <a:r>
              <a:rPr lang="ru-RU" altLang="ru-RU" dirty="0" smtClean="0"/>
              <a:t>и их синтаксис</a:t>
            </a:r>
            <a:endParaRPr lang="ru-RU" altLang="ru-RU" dirty="0" smtClean="0"/>
          </a:p>
          <a:p>
            <a:pPr lvl="2"/>
            <a:r>
              <a:rPr lang="en-US" altLang="ru-RU" dirty="0" smtClean="0"/>
              <a:t>Joins </a:t>
            </a:r>
            <a:r>
              <a:rPr lang="ru-RU" altLang="ru-RU" dirty="0" smtClean="0"/>
              <a:t>с предложением </a:t>
            </a:r>
            <a:r>
              <a:rPr lang="en-US" altLang="ru-RU" dirty="0" smtClean="0"/>
              <a:t>ON</a:t>
            </a:r>
            <a:endParaRPr lang="en-US" altLang="ru-RU" dirty="0" smtClean="0"/>
          </a:p>
          <a:p>
            <a:pPr lvl="2"/>
            <a:r>
              <a:rPr lang="en-US" altLang="ru-RU" dirty="0" smtClean="0"/>
              <a:t>Self-join</a:t>
            </a:r>
            <a:endParaRPr lang="en-US" altLang="ru-RU" dirty="0" smtClean="0"/>
          </a:p>
          <a:p>
            <a:pPr lvl="2"/>
            <a:r>
              <a:rPr lang="en-US" altLang="ru-RU" dirty="0" smtClean="0"/>
              <a:t>Non</a:t>
            </a:r>
            <a:r>
              <a:rPr lang="ru-RU" altLang="ru-RU" dirty="0" smtClean="0"/>
              <a:t> </a:t>
            </a:r>
            <a:r>
              <a:rPr lang="en-US" altLang="ru-RU" dirty="0" err="1" smtClean="0"/>
              <a:t>equl</a:t>
            </a:r>
            <a:r>
              <a:rPr lang="en-US" altLang="ru-RU" dirty="0" smtClean="0"/>
              <a:t> joins</a:t>
            </a:r>
            <a:endParaRPr lang="en-US" altLang="ru-RU" dirty="0" smtClean="0"/>
          </a:p>
          <a:p>
            <a:pPr lvl="2"/>
            <a:r>
              <a:rPr lang="en-US" altLang="ru-RU" dirty="0" smtClean="0"/>
              <a:t>OUTER join:</a:t>
            </a:r>
            <a:endParaRPr lang="en-US" altLang="ru-RU" dirty="0" smtClean="0"/>
          </a:p>
          <a:p>
            <a:pPr lvl="2"/>
            <a:r>
              <a:rPr lang="en-US" altLang="ru-RU" dirty="0" smtClean="0"/>
              <a:t>LEFT OUTER join</a:t>
            </a:r>
            <a:endParaRPr lang="en-US" altLang="ru-RU" dirty="0" smtClean="0"/>
          </a:p>
          <a:p>
            <a:pPr lvl="2"/>
            <a:r>
              <a:rPr lang="en-US" altLang="ru-RU" dirty="0" smtClean="0"/>
              <a:t>RIGHT OUTER join</a:t>
            </a:r>
            <a:endParaRPr lang="en-US" altLang="ru-RU" dirty="0" smtClean="0"/>
          </a:p>
          <a:p>
            <a:pPr lvl="2"/>
            <a:r>
              <a:rPr lang="en-US" altLang="ru-RU" dirty="0" smtClean="0"/>
              <a:t>FULL OUTER join</a:t>
            </a:r>
            <a:endParaRPr lang="en-US" altLang="ru-RU" dirty="0" smtClean="0"/>
          </a:p>
          <a:p>
            <a:pPr lvl="1"/>
            <a:r>
              <a:rPr lang="ru-RU" altLang="ru-RU" dirty="0" smtClean="0"/>
              <a:t>Декартово произведение</a:t>
            </a:r>
            <a:endParaRPr lang="en-US" altLang="ru-RU" dirty="0" smtClean="0"/>
          </a:p>
          <a:p>
            <a:pPr lvl="2"/>
            <a:r>
              <a:rPr lang="en-US" altLang="ru-RU" dirty="0" smtClean="0"/>
              <a:t>Cross join</a:t>
            </a:r>
            <a:endParaRPr lang="ru-RU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 rtl="0"/>
            <a:r>
              <a:rPr lang="en-US" sz="3600" dirty="0"/>
              <a:t>Схема </a:t>
            </a:r>
            <a:r>
              <a:rPr lang="en-US" sz="3600" dirty="0" err="1"/>
              <a:t>управления</a:t>
            </a:r>
            <a:r>
              <a:rPr lang="en-US" sz="3600" dirty="0"/>
              <a:t> </a:t>
            </a:r>
            <a:r>
              <a:rPr lang="ru-RU" sz="3600" dirty="0" smtClean="0"/>
              <a:t>сотрудниками </a:t>
            </a:r>
            <a:r>
              <a:rPr lang="en-US" sz="3600" dirty="0" smtClean="0"/>
              <a:t>(HR</a:t>
            </a:r>
            <a:r>
              <a:rPr lang="en-US" sz="3600" dirty="0"/>
              <a:t>)</a:t>
            </a:r>
            <a:endParaRPr lang="ru-RU" sz="3600" dirty="0"/>
          </a:p>
        </p:txBody>
      </p:sp>
      <p:pic>
        <p:nvPicPr>
          <p:cNvPr id="130050" name="Picture 2" descr="Employee management icon on white background 5972892 Vector Art at Vecteezy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4897776" y="1643050"/>
            <a:ext cx="2476452" cy="2476452"/>
          </a:xfrm>
          <a:prstGeom prst="rect">
            <a:avLst/>
          </a:prstGeom>
          <a:noFill/>
        </p:spPr>
      </p:pic>
      <p:pic>
        <p:nvPicPr>
          <p:cNvPr id="130052" name="Picture 4" descr="Organization Department Monotone Icon In Powerpoint Pptx Png And Editable  Eps Format PPT Template"/>
          <p:cNvPicPr>
            <a:picLocks noChangeAspect="1" noChangeArrowheads="1"/>
          </p:cNvPicPr>
          <p:nvPr/>
        </p:nvPicPr>
        <p:blipFill>
          <a:blip r:embed="rId2"/>
          <a:srcRect l="29297" t="21875" r="29687" b="7291"/>
          <a:stretch>
            <a:fillRect/>
          </a:stretch>
        </p:blipFill>
        <p:spPr bwMode="auto">
          <a:xfrm>
            <a:off x="1825942" y="1857364"/>
            <a:ext cx="2059095" cy="2000264"/>
          </a:xfrm>
          <a:prstGeom prst="rect">
            <a:avLst/>
          </a:prstGeom>
          <a:noFill/>
        </p:spPr>
      </p:pic>
      <p:pic>
        <p:nvPicPr>
          <p:cNvPr id="130056" name="Picture 8" descr="countries Icon - Free PNG &amp; SVG 3437694 - Noun Project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897380" y="4214818"/>
            <a:ext cx="2019280" cy="2019280"/>
          </a:xfrm>
          <a:prstGeom prst="rect">
            <a:avLst/>
          </a:prstGeom>
          <a:noFill/>
        </p:spPr>
      </p:pic>
      <p:pic>
        <p:nvPicPr>
          <p:cNvPr id="130058" name="Picture 10" descr="Id Card Icon Identity Symbol Id: стоковая векторная графика (без  лицензионных платежей), 2102135422 | Shutterstock"/>
          <p:cNvPicPr>
            <a:picLocks noChangeAspect="1" noChangeArrowheads="1"/>
          </p:cNvPicPr>
          <p:nvPr/>
        </p:nvPicPr>
        <p:blipFill>
          <a:blip r:embed="rId4"/>
          <a:srcRect t="18750" b="14285"/>
          <a:stretch>
            <a:fillRect/>
          </a:stretch>
        </p:blipFill>
        <p:spPr bwMode="auto">
          <a:xfrm>
            <a:off x="4897776" y="4429132"/>
            <a:ext cx="2674620" cy="19288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 rtl="0"/>
            <a:r>
              <a:rPr lang="en-US" sz="3600" dirty="0"/>
              <a:t>Схема </a:t>
            </a:r>
            <a:r>
              <a:rPr lang="en-US" sz="3600" dirty="0" err="1"/>
              <a:t>управления</a:t>
            </a:r>
            <a:r>
              <a:rPr lang="en-US" sz="3600" dirty="0"/>
              <a:t> </a:t>
            </a:r>
            <a:r>
              <a:rPr lang="ru-RU" sz="3600" dirty="0" smtClean="0"/>
              <a:t>сотрудниками </a:t>
            </a:r>
            <a:r>
              <a:rPr lang="en-US" sz="3600" dirty="0" smtClean="0"/>
              <a:t>(HR</a:t>
            </a:r>
            <a:r>
              <a:rPr lang="en-US" sz="3600" dirty="0"/>
              <a:t>)</a:t>
            </a:r>
            <a:endParaRPr lang="ru-RU" sz="3600" dirty="0"/>
          </a:p>
        </p:txBody>
      </p:sp>
      <p:sp>
        <p:nvSpPr>
          <p:cNvPr id="72" name="AutoShape 7"/>
          <p:cNvSpPr>
            <a:spLocks noChangeArrowheads="1"/>
          </p:cNvSpPr>
          <p:nvPr/>
        </p:nvSpPr>
        <p:spPr bwMode="blackWhite">
          <a:xfrm>
            <a:off x="3678238" y="1676400"/>
            <a:ext cx="1260475" cy="930275"/>
          </a:xfrm>
          <a:prstGeom prst="flowChartAlternateProcess">
            <a:avLst/>
          </a:prstGeom>
          <a:solidFill>
            <a:srgbClr val="FFFFCC"/>
          </a:solidFill>
          <a:ln w="28575">
            <a:solidFill>
              <a:srgbClr val="000000"/>
            </a:solidFill>
            <a:miter lim="800000"/>
          </a:ln>
        </p:spPr>
        <p:txBody>
          <a:bodyPr wrap="none" lIns="45476" tIns="45476" rIns="45476" bIns="45476" anchor="ctr"/>
          <a:lstStyle>
            <a:lvl1pPr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95000"/>
              </a:lnSpc>
            </a:pPr>
            <a:endParaRPr lang="ru-RU" altLang="ru-RU"/>
          </a:p>
        </p:txBody>
      </p:sp>
      <p:sp>
        <p:nvSpPr>
          <p:cNvPr id="73" name="AutoShape 9"/>
          <p:cNvSpPr>
            <a:spLocks noChangeArrowheads="1"/>
          </p:cNvSpPr>
          <p:nvPr/>
        </p:nvSpPr>
        <p:spPr bwMode="blackWhite">
          <a:xfrm>
            <a:off x="5832475" y="1676400"/>
            <a:ext cx="1282700" cy="1222375"/>
          </a:xfrm>
          <a:prstGeom prst="flowChartAlternateProcess">
            <a:avLst/>
          </a:prstGeom>
          <a:solidFill>
            <a:srgbClr val="FFFFCC"/>
          </a:solidFill>
          <a:ln w="28575">
            <a:solidFill>
              <a:srgbClr val="000000"/>
            </a:solidFill>
            <a:miter lim="800000"/>
          </a:ln>
        </p:spPr>
        <p:txBody>
          <a:bodyPr wrap="none" lIns="45476" tIns="45476" rIns="45476" bIns="45476" anchor="ctr"/>
          <a:lstStyle>
            <a:lvl1pPr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95000"/>
              </a:lnSpc>
            </a:pPr>
            <a:endParaRPr lang="ru-RU" altLang="ru-RU"/>
          </a:p>
        </p:txBody>
      </p:sp>
      <p:sp>
        <p:nvSpPr>
          <p:cNvPr id="74" name="AutoShape 10"/>
          <p:cNvSpPr>
            <a:spLocks noChangeArrowheads="1"/>
          </p:cNvSpPr>
          <p:nvPr/>
        </p:nvSpPr>
        <p:spPr bwMode="blackWhite">
          <a:xfrm>
            <a:off x="5876925" y="3429000"/>
            <a:ext cx="1206500" cy="838200"/>
          </a:xfrm>
          <a:prstGeom prst="flowChartAlternateProcess">
            <a:avLst/>
          </a:prstGeom>
          <a:solidFill>
            <a:srgbClr val="FFFFCC"/>
          </a:solidFill>
          <a:ln w="28575">
            <a:solidFill>
              <a:srgbClr val="000000"/>
            </a:solidFill>
            <a:miter lim="800000"/>
          </a:ln>
        </p:spPr>
        <p:txBody>
          <a:bodyPr wrap="none" lIns="45476" tIns="45476" rIns="45476" bIns="45476" anchor="ctr"/>
          <a:lstStyle>
            <a:lvl1pPr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95000"/>
              </a:lnSpc>
            </a:pPr>
            <a:endParaRPr lang="ru-RU" altLang="ru-RU"/>
          </a:p>
        </p:txBody>
      </p:sp>
      <p:sp>
        <p:nvSpPr>
          <p:cNvPr id="75" name="AutoShape 13"/>
          <p:cNvSpPr>
            <a:spLocks noChangeArrowheads="1"/>
          </p:cNvSpPr>
          <p:nvPr/>
        </p:nvSpPr>
        <p:spPr bwMode="blackWhite">
          <a:xfrm>
            <a:off x="5918200" y="4786313"/>
            <a:ext cx="1206500" cy="747712"/>
          </a:xfrm>
          <a:prstGeom prst="flowChartAlternateProcess">
            <a:avLst/>
          </a:prstGeom>
          <a:solidFill>
            <a:srgbClr val="FFFFCC"/>
          </a:solidFill>
          <a:ln w="28575">
            <a:solidFill>
              <a:srgbClr val="000000"/>
            </a:solidFill>
            <a:miter lim="800000"/>
          </a:ln>
        </p:spPr>
        <p:txBody>
          <a:bodyPr wrap="none" lIns="45476" tIns="45476" rIns="45476" bIns="45476" anchor="ctr"/>
          <a:lstStyle>
            <a:lvl1pPr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95000"/>
              </a:lnSpc>
            </a:pPr>
            <a:endParaRPr lang="ru-RU" altLang="ru-RU"/>
          </a:p>
        </p:txBody>
      </p:sp>
      <p:sp>
        <p:nvSpPr>
          <p:cNvPr id="76" name="AutoShape 16"/>
          <p:cNvSpPr>
            <a:spLocks noChangeArrowheads="1"/>
          </p:cNvSpPr>
          <p:nvPr/>
        </p:nvSpPr>
        <p:spPr bwMode="blackWhite">
          <a:xfrm>
            <a:off x="3692525" y="3067050"/>
            <a:ext cx="1260475" cy="1905000"/>
          </a:xfrm>
          <a:prstGeom prst="flowChartAlternateProcess">
            <a:avLst/>
          </a:prstGeom>
          <a:solidFill>
            <a:srgbClr val="FFFFCC"/>
          </a:solidFill>
          <a:ln w="28575">
            <a:solidFill>
              <a:srgbClr val="000000"/>
            </a:solidFill>
            <a:miter lim="800000"/>
          </a:ln>
        </p:spPr>
        <p:txBody>
          <a:bodyPr wrap="none" lIns="45476" tIns="45476" rIns="45476" bIns="45476" anchor="ctr"/>
          <a:lstStyle>
            <a:lvl1pPr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95000"/>
              </a:lnSpc>
            </a:pPr>
            <a:endParaRPr lang="ru-RU" altLang="ru-RU"/>
          </a:p>
        </p:txBody>
      </p:sp>
      <p:sp>
        <p:nvSpPr>
          <p:cNvPr id="77" name="AutoShape 18"/>
          <p:cNvSpPr>
            <a:spLocks noChangeArrowheads="1"/>
          </p:cNvSpPr>
          <p:nvPr/>
        </p:nvSpPr>
        <p:spPr bwMode="blackWhite">
          <a:xfrm>
            <a:off x="1628775" y="4489450"/>
            <a:ext cx="1323975" cy="920750"/>
          </a:xfrm>
          <a:prstGeom prst="flowChartAlternateProcess">
            <a:avLst/>
          </a:prstGeom>
          <a:solidFill>
            <a:srgbClr val="FFFFCC"/>
          </a:solidFill>
          <a:ln w="28575">
            <a:solidFill>
              <a:srgbClr val="000000"/>
            </a:solidFill>
            <a:miter lim="800000"/>
          </a:ln>
        </p:spPr>
        <p:txBody>
          <a:bodyPr wrap="none" lIns="45476" tIns="45476" rIns="45476" bIns="45476" anchor="ctr"/>
          <a:lstStyle>
            <a:lvl1pPr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95000"/>
              </a:lnSpc>
            </a:pPr>
            <a:endParaRPr lang="ru-RU" altLang="ru-RU"/>
          </a:p>
        </p:txBody>
      </p:sp>
      <p:grpSp>
        <p:nvGrpSpPr>
          <p:cNvPr id="3" name="Group 3"/>
          <p:cNvGrpSpPr/>
          <p:nvPr/>
        </p:nvGrpSpPr>
        <p:grpSpPr bwMode="auto">
          <a:xfrm>
            <a:off x="6357938" y="4275138"/>
            <a:ext cx="280987" cy="138112"/>
            <a:chOff x="4968" y="1240"/>
            <a:chExt cx="136" cy="66"/>
          </a:xfrm>
        </p:grpSpPr>
        <p:sp>
          <p:nvSpPr>
            <p:cNvPr id="79" name="Line 4"/>
            <p:cNvSpPr>
              <a:spLocks noChangeShapeType="1"/>
            </p:cNvSpPr>
            <p:nvPr/>
          </p:nvSpPr>
          <p:spPr bwMode="blackWhite">
            <a:xfrm flipV="1">
              <a:off x="5038" y="1240"/>
              <a:ext cx="66" cy="6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46038" tIns="46038" rIns="46038" bIns="46038" anchor="ctr"/>
            <a:lstStyle/>
            <a:p>
              <a:endParaRPr lang="ru-RU"/>
            </a:p>
          </p:txBody>
        </p:sp>
        <p:sp>
          <p:nvSpPr>
            <p:cNvPr id="80" name="Line 5"/>
            <p:cNvSpPr>
              <a:spLocks noChangeShapeType="1"/>
            </p:cNvSpPr>
            <p:nvPr/>
          </p:nvSpPr>
          <p:spPr bwMode="blackWhite">
            <a:xfrm flipH="1" flipV="1">
              <a:off x="4968" y="1240"/>
              <a:ext cx="66" cy="6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46038" tIns="46038" rIns="46038" bIns="46038" anchor="ctr"/>
            <a:lstStyle/>
            <a:p>
              <a:endParaRPr lang="ru-RU"/>
            </a:p>
          </p:txBody>
        </p:sp>
      </p:grpSp>
      <p:sp>
        <p:nvSpPr>
          <p:cNvPr id="81" name="Rectangle 6"/>
          <p:cNvSpPr>
            <a:spLocks noChangeArrowheads="1"/>
          </p:cNvSpPr>
          <p:nvPr/>
        </p:nvSpPr>
        <p:spPr bwMode="blackWhite">
          <a:xfrm>
            <a:off x="3700463" y="1752600"/>
            <a:ext cx="1201737" cy="754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85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952" tIns="45476" rIns="90952" bIns="45476"/>
          <a:lstStyle>
            <a:lvl1pPr marL="123825" indent="-123825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200"/>
              <a:t>DEPARTMENTS</a:t>
            </a:r>
            <a:endParaRPr lang="en-US" altLang="ru-RU" sz="1200"/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>
                <a:solidFill>
                  <a:srgbClr val="0000FF"/>
                </a:solidFill>
              </a:rPr>
              <a:t>department_id</a:t>
            </a:r>
            <a:endParaRPr lang="en-US" altLang="ru-RU" sz="1000">
              <a:solidFill>
                <a:srgbClr val="0000FF"/>
              </a:solidFill>
            </a:endParaRPr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department name</a:t>
            </a:r>
            <a:endParaRPr lang="en-US" altLang="ru-RU" sz="1000">
              <a:cs typeface="Times New Roman" panose="02020603050405020304" pitchFamily="18" charset="0"/>
            </a:endParaRPr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manager_id</a:t>
            </a:r>
            <a:endParaRPr lang="en-US" altLang="ru-RU" sz="1000"/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location_id</a:t>
            </a:r>
            <a:endParaRPr lang="en-US" altLang="ru-RU" sz="1000">
              <a:cs typeface="Times New Roman" panose="02020603050405020304" pitchFamily="18" charset="0"/>
            </a:endParaRPr>
          </a:p>
        </p:txBody>
      </p:sp>
      <p:sp>
        <p:nvSpPr>
          <p:cNvPr id="82" name="Rectangle 8"/>
          <p:cNvSpPr>
            <a:spLocks noChangeArrowheads="1"/>
          </p:cNvSpPr>
          <p:nvPr/>
        </p:nvSpPr>
        <p:spPr bwMode="blackWhite">
          <a:xfrm>
            <a:off x="6019800" y="1752600"/>
            <a:ext cx="9763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85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952" tIns="45476" rIns="90952" bIns="45476"/>
          <a:lstStyle>
            <a:lvl1pPr marL="123825" indent="-123825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200"/>
              <a:t>LOCATIONS</a:t>
            </a:r>
            <a:endParaRPr lang="en-US" altLang="ru-RU" sz="1200"/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>
                <a:solidFill>
                  <a:srgbClr val="0000FF"/>
                </a:solidFill>
              </a:rPr>
              <a:t>location_id</a:t>
            </a:r>
            <a:endParaRPr lang="en-US" altLang="ru-RU" sz="1000">
              <a:solidFill>
                <a:srgbClr val="0000FF"/>
              </a:solidFill>
            </a:endParaRPr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street address</a:t>
            </a:r>
            <a:endParaRPr lang="en-US" altLang="ru-RU" sz="1000"/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postal code</a:t>
            </a:r>
            <a:endParaRPr lang="en-US" altLang="ru-RU" sz="1000"/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city</a:t>
            </a:r>
            <a:endParaRPr lang="en-US" altLang="ru-RU" sz="1000"/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state province</a:t>
            </a:r>
            <a:endParaRPr lang="en-US" altLang="ru-RU" sz="1000"/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Country id</a:t>
            </a:r>
            <a:endParaRPr lang="en-US" altLang="ru-RU" sz="1000"/>
          </a:p>
        </p:txBody>
      </p:sp>
      <p:sp>
        <p:nvSpPr>
          <p:cNvPr id="83" name="Rectangle 11"/>
          <p:cNvSpPr>
            <a:spLocks noChangeArrowheads="1"/>
          </p:cNvSpPr>
          <p:nvPr/>
        </p:nvSpPr>
        <p:spPr bwMode="blackWhite">
          <a:xfrm>
            <a:off x="6046788" y="3594100"/>
            <a:ext cx="901700" cy="62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85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952" tIns="45476" rIns="90952" bIns="45476"/>
          <a:lstStyle>
            <a:lvl1pPr marL="123825" indent="-123825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200"/>
              <a:t>COUNTRIES</a:t>
            </a:r>
            <a:endParaRPr lang="en-US" altLang="ru-RU" sz="1200"/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>
                <a:solidFill>
                  <a:srgbClr val="0000FF"/>
                </a:solidFill>
              </a:rPr>
              <a:t>country_id</a:t>
            </a:r>
            <a:endParaRPr lang="en-US" altLang="ru-RU" sz="1000">
              <a:solidFill>
                <a:srgbClr val="0000FF"/>
              </a:solidFill>
            </a:endParaRPr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country_name</a:t>
            </a:r>
            <a:endParaRPr lang="en-US" altLang="ru-RU" sz="1000"/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region_id</a:t>
            </a:r>
            <a:endParaRPr lang="en-US" altLang="ru-RU" sz="1000"/>
          </a:p>
        </p:txBody>
      </p:sp>
      <p:sp>
        <p:nvSpPr>
          <p:cNvPr id="84" name="Rectangle 12"/>
          <p:cNvSpPr>
            <a:spLocks noChangeArrowheads="1"/>
          </p:cNvSpPr>
          <p:nvPr/>
        </p:nvSpPr>
        <p:spPr bwMode="blackWhite">
          <a:xfrm>
            <a:off x="6126163" y="4924425"/>
            <a:ext cx="827087" cy="441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85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952" tIns="45476" rIns="90952" bIns="45476"/>
          <a:lstStyle>
            <a:lvl1pPr marL="123825" indent="-123825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200"/>
              <a:t>REGIONS</a:t>
            </a:r>
            <a:endParaRPr lang="en-US" altLang="ru-RU" sz="1200"/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>
                <a:solidFill>
                  <a:srgbClr val="0000FF"/>
                </a:solidFill>
              </a:rPr>
              <a:t>region_id</a:t>
            </a:r>
            <a:endParaRPr lang="en-US" altLang="ru-RU" sz="1000">
              <a:solidFill>
                <a:srgbClr val="0000FF"/>
              </a:solidFill>
            </a:endParaRPr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region_name</a:t>
            </a:r>
            <a:endParaRPr lang="en-US" altLang="ru-RU" sz="1000"/>
          </a:p>
        </p:txBody>
      </p:sp>
      <p:sp>
        <p:nvSpPr>
          <p:cNvPr id="85" name="Rectangle 14"/>
          <p:cNvSpPr>
            <a:spLocks noChangeArrowheads="1"/>
          </p:cNvSpPr>
          <p:nvPr/>
        </p:nvSpPr>
        <p:spPr bwMode="blackWhite">
          <a:xfrm>
            <a:off x="3581400" y="3121025"/>
            <a:ext cx="1501775" cy="1784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85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952" tIns="45476" rIns="90952" bIns="45476"/>
          <a:lstStyle>
            <a:lvl1pPr marL="123825" indent="-123825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200"/>
              <a:t>EMPLOYEES</a:t>
            </a:r>
            <a:endParaRPr lang="en-US" altLang="ru-RU" sz="1200"/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>
                <a:solidFill>
                  <a:srgbClr val="0000FF"/>
                </a:solidFill>
              </a:rPr>
              <a:t>employee_id</a:t>
            </a:r>
            <a:endParaRPr lang="en-US" altLang="ru-RU" sz="1000">
              <a:solidFill>
                <a:srgbClr val="0000FF"/>
              </a:solidFill>
            </a:endParaRPr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first_name</a:t>
            </a:r>
            <a:endParaRPr lang="en-US" altLang="ru-RU" sz="1000"/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last_name</a:t>
            </a:r>
            <a:endParaRPr lang="en-US" altLang="ru-RU" sz="1000"/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email</a:t>
            </a:r>
            <a:endParaRPr lang="en-US" altLang="ru-RU" sz="1000"/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phone_number</a:t>
            </a:r>
            <a:endParaRPr lang="en-US" altLang="ru-RU" sz="1000"/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hire_date</a:t>
            </a:r>
            <a:endParaRPr lang="en-US" altLang="ru-RU" sz="1000"/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job_id</a:t>
            </a:r>
            <a:endParaRPr lang="en-US" altLang="ru-RU" sz="1000"/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salary</a:t>
            </a:r>
            <a:endParaRPr lang="en-US" altLang="ru-RU" sz="1000"/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commission_pct</a:t>
            </a:r>
            <a:endParaRPr lang="en-US" altLang="ru-RU" sz="1000"/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manager_id</a:t>
            </a:r>
            <a:endParaRPr lang="en-US" altLang="ru-RU" sz="1000"/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department_id</a:t>
            </a:r>
            <a:endParaRPr lang="en-US" altLang="ru-RU" sz="1000"/>
          </a:p>
        </p:txBody>
      </p:sp>
      <p:sp>
        <p:nvSpPr>
          <p:cNvPr id="86" name="Rectangle 15"/>
          <p:cNvSpPr>
            <a:spLocks noChangeArrowheads="1"/>
          </p:cNvSpPr>
          <p:nvPr/>
        </p:nvSpPr>
        <p:spPr bwMode="blackWhite">
          <a:xfrm>
            <a:off x="1857375" y="4579938"/>
            <a:ext cx="827088" cy="754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85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952" tIns="45476" rIns="90952" bIns="45476"/>
          <a:lstStyle>
            <a:lvl1pPr marL="123825" indent="-123825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200"/>
              <a:t>JOBS</a:t>
            </a:r>
            <a:br>
              <a:rPr lang="en-US" altLang="ru-RU" sz="1200"/>
            </a:br>
            <a:r>
              <a:rPr lang="en-US" altLang="ru-RU" sz="1000">
                <a:solidFill>
                  <a:srgbClr val="0000FF"/>
                </a:solidFill>
              </a:rPr>
              <a:t>job_id</a:t>
            </a:r>
            <a:endParaRPr lang="en-US" altLang="ru-RU" sz="1000">
              <a:solidFill>
                <a:srgbClr val="0000FF"/>
              </a:solidFill>
            </a:endParaRPr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job_title</a:t>
            </a:r>
            <a:endParaRPr lang="en-US" altLang="ru-RU" sz="1000"/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min_salary</a:t>
            </a:r>
            <a:endParaRPr lang="en-US" altLang="ru-RU" sz="1000"/>
          </a:p>
          <a:p>
            <a:pPr algn="ctr" eaLnBrk="1" hangingPunct="1">
              <a:lnSpc>
                <a:spcPct val="75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max_salary</a:t>
            </a:r>
            <a:endParaRPr lang="en-US" altLang="ru-RU" sz="1000"/>
          </a:p>
        </p:txBody>
      </p:sp>
      <p:sp>
        <p:nvSpPr>
          <p:cNvPr id="87" name="AutoShape 17"/>
          <p:cNvSpPr>
            <a:spLocks noChangeArrowheads="1"/>
          </p:cNvSpPr>
          <p:nvPr/>
        </p:nvSpPr>
        <p:spPr bwMode="blackWhite">
          <a:xfrm>
            <a:off x="1552575" y="2776538"/>
            <a:ext cx="1414463" cy="1109662"/>
          </a:xfrm>
          <a:prstGeom prst="flowChartAlternateProcess">
            <a:avLst/>
          </a:prstGeom>
          <a:solidFill>
            <a:srgbClr val="FFFFCC"/>
          </a:solidFill>
          <a:ln w="28575">
            <a:solidFill>
              <a:srgbClr val="000000"/>
            </a:solidFill>
            <a:miter lim="800000"/>
          </a:ln>
        </p:spPr>
        <p:txBody>
          <a:bodyPr wrap="none" lIns="45476" tIns="45476" rIns="45476" bIns="45476" anchor="ctr"/>
          <a:lstStyle>
            <a:lvl1pPr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defTabSz="2254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defTabSz="2254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lnSpc>
                <a:spcPct val="95000"/>
              </a:lnSpc>
            </a:pPr>
            <a:endParaRPr lang="ru-RU" altLang="ru-RU"/>
          </a:p>
        </p:txBody>
      </p:sp>
      <p:grpSp>
        <p:nvGrpSpPr>
          <p:cNvPr id="4" name="Group 19"/>
          <p:cNvGrpSpPr/>
          <p:nvPr/>
        </p:nvGrpSpPr>
        <p:grpSpPr bwMode="auto">
          <a:xfrm rot="-5400000">
            <a:off x="4868069" y="2135981"/>
            <a:ext cx="282575" cy="138113"/>
            <a:chOff x="4968" y="1240"/>
            <a:chExt cx="136" cy="66"/>
          </a:xfrm>
        </p:grpSpPr>
        <p:sp>
          <p:nvSpPr>
            <p:cNvPr id="89" name="Line 20"/>
            <p:cNvSpPr>
              <a:spLocks noChangeShapeType="1"/>
            </p:cNvSpPr>
            <p:nvPr/>
          </p:nvSpPr>
          <p:spPr bwMode="blackWhite">
            <a:xfrm flipV="1">
              <a:off x="5038" y="1240"/>
              <a:ext cx="66" cy="6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46038" tIns="46038" rIns="46038" bIns="46038" anchor="ctr"/>
            <a:lstStyle/>
            <a:p>
              <a:endParaRPr lang="ru-RU"/>
            </a:p>
          </p:txBody>
        </p:sp>
        <p:sp>
          <p:nvSpPr>
            <p:cNvPr id="90" name="Line 21"/>
            <p:cNvSpPr>
              <a:spLocks noChangeShapeType="1"/>
            </p:cNvSpPr>
            <p:nvPr/>
          </p:nvSpPr>
          <p:spPr bwMode="blackWhite">
            <a:xfrm flipH="1" flipV="1">
              <a:off x="4968" y="1240"/>
              <a:ext cx="66" cy="6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46038" tIns="46038" rIns="46038" bIns="46038" anchor="ctr"/>
            <a:lstStyle/>
            <a:p>
              <a:endParaRPr lang="ru-RU"/>
            </a:p>
          </p:txBody>
        </p:sp>
      </p:grpSp>
      <p:sp>
        <p:nvSpPr>
          <p:cNvPr id="91" name="Rectangle 22"/>
          <p:cNvSpPr>
            <a:spLocks noChangeArrowheads="1"/>
          </p:cNvSpPr>
          <p:nvPr/>
        </p:nvSpPr>
        <p:spPr bwMode="blackWhite">
          <a:xfrm>
            <a:off x="1771650" y="2830513"/>
            <a:ext cx="976313" cy="9794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857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952" tIns="45476" rIns="90952" bIns="45476"/>
          <a:lstStyle>
            <a:lvl1pPr marL="123825" indent="-123825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defTabSz="90360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defTabSz="90360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200"/>
              <a:t>JOB_HISTORY</a:t>
            </a:r>
            <a:br>
              <a:rPr lang="en-US" altLang="ru-RU" sz="1600"/>
            </a:br>
            <a:r>
              <a:rPr lang="en-US" altLang="ru-RU" sz="1000">
                <a:solidFill>
                  <a:srgbClr val="0000FF"/>
                </a:solidFill>
              </a:rPr>
              <a:t>employee_id</a:t>
            </a:r>
            <a:endParaRPr lang="en-US" altLang="ru-RU" sz="1000">
              <a:solidFill>
                <a:srgbClr val="0000FF"/>
              </a:solidFill>
            </a:endParaRPr>
          </a:p>
          <a:p>
            <a:pPr algn="ctr" eaLnBrk="1" hangingPunct="1">
              <a:lnSpc>
                <a:spcPct val="80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>
                <a:solidFill>
                  <a:srgbClr val="0000FF"/>
                </a:solidFill>
              </a:rPr>
              <a:t>start_date</a:t>
            </a:r>
            <a:endParaRPr lang="en-US" altLang="ru-RU" sz="1000">
              <a:solidFill>
                <a:srgbClr val="0000FF"/>
              </a:solidFill>
            </a:endParaRPr>
          </a:p>
          <a:p>
            <a:pPr algn="ctr" eaLnBrk="1" hangingPunct="1">
              <a:lnSpc>
                <a:spcPct val="80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end_date</a:t>
            </a:r>
            <a:endParaRPr lang="en-US" altLang="ru-RU" sz="1000"/>
          </a:p>
          <a:p>
            <a:pPr algn="ctr" eaLnBrk="1" hangingPunct="1">
              <a:lnSpc>
                <a:spcPct val="80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job_id</a:t>
            </a:r>
            <a:endParaRPr lang="en-US" altLang="ru-RU" sz="1000"/>
          </a:p>
          <a:p>
            <a:pPr algn="ctr" eaLnBrk="1" hangingPunct="1">
              <a:lnSpc>
                <a:spcPct val="80000"/>
              </a:lnSpc>
              <a:spcBef>
                <a:spcPct val="20000"/>
              </a:spcBef>
              <a:buClr>
                <a:srgbClr val="FF3300"/>
              </a:buClr>
              <a:buSzPct val="125000"/>
            </a:pPr>
            <a:r>
              <a:rPr lang="en-US" altLang="ru-RU" sz="1000"/>
              <a:t>department_id</a:t>
            </a:r>
            <a:endParaRPr lang="en-US" altLang="ru-RU" sz="1000"/>
          </a:p>
        </p:txBody>
      </p:sp>
      <p:grpSp>
        <p:nvGrpSpPr>
          <p:cNvPr id="5" name="Group 23"/>
          <p:cNvGrpSpPr/>
          <p:nvPr/>
        </p:nvGrpSpPr>
        <p:grpSpPr bwMode="auto">
          <a:xfrm>
            <a:off x="2085975" y="2190750"/>
            <a:ext cx="269875" cy="588963"/>
            <a:chOff x="795" y="887"/>
            <a:chExt cx="173" cy="375"/>
          </a:xfrm>
        </p:grpSpPr>
        <p:grpSp>
          <p:nvGrpSpPr>
            <p:cNvPr id="6" name="Group 24"/>
            <p:cNvGrpSpPr/>
            <p:nvPr/>
          </p:nvGrpSpPr>
          <p:grpSpPr bwMode="auto">
            <a:xfrm>
              <a:off x="795" y="1175"/>
              <a:ext cx="173" cy="87"/>
              <a:chOff x="795" y="1223"/>
              <a:chExt cx="173" cy="87"/>
            </a:xfrm>
          </p:grpSpPr>
          <p:sp>
            <p:nvSpPr>
              <p:cNvPr id="95" name="Line 25"/>
              <p:cNvSpPr>
                <a:spLocks noChangeShapeType="1"/>
              </p:cNvSpPr>
              <p:nvPr/>
            </p:nvSpPr>
            <p:spPr bwMode="blackWhite">
              <a:xfrm rot="10800000" flipV="1">
                <a:off x="795" y="1223"/>
                <a:ext cx="87" cy="87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lIns="46038" tIns="46038" rIns="46038" bIns="46038" anchor="ctr"/>
              <a:lstStyle/>
              <a:p>
                <a:endParaRPr lang="ru-RU"/>
              </a:p>
            </p:txBody>
          </p:sp>
          <p:sp>
            <p:nvSpPr>
              <p:cNvPr id="96" name="Line 26"/>
              <p:cNvSpPr>
                <a:spLocks noChangeShapeType="1"/>
              </p:cNvSpPr>
              <p:nvPr/>
            </p:nvSpPr>
            <p:spPr bwMode="blackWhite">
              <a:xfrm rot="10800000" flipH="1" flipV="1">
                <a:off x="881" y="1223"/>
                <a:ext cx="87" cy="87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lIns="46038" tIns="46038" rIns="46038" bIns="46038" anchor="ctr"/>
              <a:lstStyle/>
              <a:p>
                <a:endParaRPr lang="ru-RU"/>
              </a:p>
            </p:txBody>
          </p:sp>
        </p:grpSp>
        <p:sp>
          <p:nvSpPr>
            <p:cNvPr id="94" name="Freeform 27"/>
            <p:cNvSpPr/>
            <p:nvPr/>
          </p:nvSpPr>
          <p:spPr bwMode="blackWhite">
            <a:xfrm>
              <a:off x="875" y="887"/>
              <a:ext cx="1" cy="374"/>
            </a:xfrm>
            <a:custGeom>
              <a:avLst/>
              <a:gdLst>
                <a:gd name="T0" fmla="*/ 0 w 1"/>
                <a:gd name="T1" fmla="*/ 4 h 417"/>
                <a:gd name="T2" fmla="*/ 1 w 1"/>
                <a:gd name="T3" fmla="*/ 0 h 417"/>
                <a:gd name="T4" fmla="*/ 0 60000 65536"/>
                <a:gd name="T5" fmla="*/ 0 60000 65536"/>
                <a:gd name="T6" fmla="*/ 0 w 1"/>
                <a:gd name="T7" fmla="*/ 0 h 417"/>
                <a:gd name="T8" fmla="*/ 1 w 1"/>
                <a:gd name="T9" fmla="*/ 417 h 417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" h="417">
                  <a:moveTo>
                    <a:pt x="0" y="417"/>
                  </a:moveTo>
                  <a:lnTo>
                    <a:pt x="1" y="0"/>
                  </a:lnTo>
                </a:path>
              </a:pathLst>
            </a:custGeom>
            <a:noFill/>
            <a:ln w="28575">
              <a:solidFill>
                <a:schemeClr val="tx1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grpSp>
        <p:nvGrpSpPr>
          <p:cNvPr id="7" name="Group 28"/>
          <p:cNvGrpSpPr/>
          <p:nvPr/>
        </p:nvGrpSpPr>
        <p:grpSpPr bwMode="auto">
          <a:xfrm>
            <a:off x="4384675" y="2616200"/>
            <a:ext cx="274638" cy="138113"/>
            <a:chOff x="2150" y="1152"/>
            <a:chExt cx="175" cy="88"/>
          </a:xfrm>
        </p:grpSpPr>
        <p:sp>
          <p:nvSpPr>
            <p:cNvPr id="98" name="Line 29"/>
            <p:cNvSpPr>
              <a:spLocks noChangeShapeType="1"/>
            </p:cNvSpPr>
            <p:nvPr/>
          </p:nvSpPr>
          <p:spPr bwMode="blackWhite">
            <a:xfrm flipV="1">
              <a:off x="2237" y="1152"/>
              <a:ext cx="88" cy="8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46038" tIns="46038" rIns="46038" bIns="46038" anchor="ctr"/>
            <a:lstStyle/>
            <a:p>
              <a:endParaRPr lang="ru-RU"/>
            </a:p>
          </p:txBody>
        </p:sp>
        <p:sp>
          <p:nvSpPr>
            <p:cNvPr id="99" name="Line 30"/>
            <p:cNvSpPr>
              <a:spLocks noChangeShapeType="1"/>
            </p:cNvSpPr>
            <p:nvPr/>
          </p:nvSpPr>
          <p:spPr bwMode="blackWhite">
            <a:xfrm flipH="1" flipV="1">
              <a:off x="2150" y="1152"/>
              <a:ext cx="88" cy="8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46038" tIns="46038" rIns="46038" bIns="46038" anchor="ctr"/>
            <a:lstStyle/>
            <a:p>
              <a:endParaRPr lang="ru-RU"/>
            </a:p>
          </p:txBody>
        </p:sp>
      </p:grpSp>
      <p:grpSp>
        <p:nvGrpSpPr>
          <p:cNvPr id="8" name="Group 31"/>
          <p:cNvGrpSpPr/>
          <p:nvPr/>
        </p:nvGrpSpPr>
        <p:grpSpPr bwMode="auto">
          <a:xfrm>
            <a:off x="3965575" y="2924175"/>
            <a:ext cx="271463" cy="136525"/>
            <a:chOff x="1882" y="1283"/>
            <a:chExt cx="173" cy="87"/>
          </a:xfrm>
        </p:grpSpPr>
        <p:sp>
          <p:nvSpPr>
            <p:cNvPr id="101" name="Line 32"/>
            <p:cNvSpPr>
              <a:spLocks noChangeShapeType="1"/>
            </p:cNvSpPr>
            <p:nvPr/>
          </p:nvSpPr>
          <p:spPr bwMode="blackWhite">
            <a:xfrm rot="10800000" flipV="1">
              <a:off x="1882" y="1283"/>
              <a:ext cx="87" cy="87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46038" tIns="46038" rIns="46038" bIns="46038" anchor="ctr"/>
            <a:lstStyle/>
            <a:p>
              <a:endParaRPr lang="ru-RU"/>
            </a:p>
          </p:txBody>
        </p:sp>
        <p:sp>
          <p:nvSpPr>
            <p:cNvPr id="102" name="Line 33"/>
            <p:cNvSpPr>
              <a:spLocks noChangeShapeType="1"/>
            </p:cNvSpPr>
            <p:nvPr/>
          </p:nvSpPr>
          <p:spPr bwMode="blackWhite">
            <a:xfrm rot="10800000" flipH="1" flipV="1">
              <a:off x="1968" y="1283"/>
              <a:ext cx="87" cy="87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46038" tIns="46038" rIns="46038" bIns="46038" anchor="ctr"/>
            <a:lstStyle/>
            <a:p>
              <a:endParaRPr lang="ru-RU"/>
            </a:p>
          </p:txBody>
        </p:sp>
      </p:grpSp>
      <p:grpSp>
        <p:nvGrpSpPr>
          <p:cNvPr id="9" name="Group 34"/>
          <p:cNvGrpSpPr/>
          <p:nvPr/>
        </p:nvGrpSpPr>
        <p:grpSpPr bwMode="auto">
          <a:xfrm>
            <a:off x="2970213" y="3128963"/>
            <a:ext cx="125412" cy="273050"/>
            <a:chOff x="1303" y="1497"/>
            <a:chExt cx="87" cy="174"/>
          </a:xfrm>
        </p:grpSpPr>
        <p:sp>
          <p:nvSpPr>
            <p:cNvPr id="104" name="Line 35"/>
            <p:cNvSpPr>
              <a:spLocks noChangeShapeType="1"/>
            </p:cNvSpPr>
            <p:nvPr/>
          </p:nvSpPr>
          <p:spPr bwMode="blackWhite">
            <a:xfrm rot="5400000" flipH="1" flipV="1">
              <a:off x="1303" y="1584"/>
              <a:ext cx="87" cy="87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46038" tIns="46038" rIns="46038" bIns="46038" anchor="ctr"/>
            <a:lstStyle/>
            <a:p>
              <a:endParaRPr lang="ru-RU"/>
            </a:p>
          </p:txBody>
        </p:sp>
        <p:sp>
          <p:nvSpPr>
            <p:cNvPr id="105" name="Line 36"/>
            <p:cNvSpPr>
              <a:spLocks noChangeShapeType="1"/>
            </p:cNvSpPr>
            <p:nvPr/>
          </p:nvSpPr>
          <p:spPr bwMode="blackWhite">
            <a:xfrm rot="5400000" flipV="1">
              <a:off x="1303" y="1497"/>
              <a:ext cx="87" cy="87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46038" tIns="46038" rIns="46038" bIns="46038" anchor="ctr"/>
            <a:lstStyle/>
            <a:p>
              <a:endParaRPr lang="ru-RU"/>
            </a:p>
          </p:txBody>
        </p:sp>
      </p:grpSp>
      <p:grpSp>
        <p:nvGrpSpPr>
          <p:cNvPr id="10" name="Group 37"/>
          <p:cNvGrpSpPr/>
          <p:nvPr/>
        </p:nvGrpSpPr>
        <p:grpSpPr bwMode="auto">
          <a:xfrm>
            <a:off x="2162175" y="3878263"/>
            <a:ext cx="273050" cy="138112"/>
            <a:chOff x="2150" y="1152"/>
            <a:chExt cx="175" cy="88"/>
          </a:xfrm>
        </p:grpSpPr>
        <p:sp>
          <p:nvSpPr>
            <p:cNvPr id="107" name="Line 38"/>
            <p:cNvSpPr>
              <a:spLocks noChangeShapeType="1"/>
            </p:cNvSpPr>
            <p:nvPr/>
          </p:nvSpPr>
          <p:spPr bwMode="blackWhite">
            <a:xfrm flipV="1">
              <a:off x="2237" y="1152"/>
              <a:ext cx="88" cy="8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46038" tIns="46038" rIns="46038" bIns="46038" anchor="ctr"/>
            <a:lstStyle/>
            <a:p>
              <a:endParaRPr lang="ru-RU"/>
            </a:p>
          </p:txBody>
        </p:sp>
        <p:sp>
          <p:nvSpPr>
            <p:cNvPr id="108" name="Line 39"/>
            <p:cNvSpPr>
              <a:spLocks noChangeShapeType="1"/>
            </p:cNvSpPr>
            <p:nvPr/>
          </p:nvSpPr>
          <p:spPr bwMode="blackWhite">
            <a:xfrm flipH="1" flipV="1">
              <a:off x="2150" y="1152"/>
              <a:ext cx="88" cy="88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46038" tIns="46038" rIns="46038" bIns="46038" anchor="ctr"/>
            <a:lstStyle/>
            <a:p>
              <a:endParaRPr lang="ru-RU"/>
            </a:p>
          </p:txBody>
        </p:sp>
      </p:grpSp>
      <p:grpSp>
        <p:nvGrpSpPr>
          <p:cNvPr id="11" name="Group 40"/>
          <p:cNvGrpSpPr/>
          <p:nvPr/>
        </p:nvGrpSpPr>
        <p:grpSpPr bwMode="auto">
          <a:xfrm>
            <a:off x="6337300" y="2917825"/>
            <a:ext cx="280988" cy="138113"/>
            <a:chOff x="4968" y="1240"/>
            <a:chExt cx="136" cy="66"/>
          </a:xfrm>
        </p:grpSpPr>
        <p:sp>
          <p:nvSpPr>
            <p:cNvPr id="110" name="Line 41"/>
            <p:cNvSpPr>
              <a:spLocks noChangeShapeType="1"/>
            </p:cNvSpPr>
            <p:nvPr/>
          </p:nvSpPr>
          <p:spPr bwMode="blackWhite">
            <a:xfrm flipV="1">
              <a:off x="5038" y="1240"/>
              <a:ext cx="66" cy="6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46038" tIns="46038" rIns="46038" bIns="46038" anchor="ctr"/>
            <a:lstStyle/>
            <a:p>
              <a:endParaRPr lang="ru-RU"/>
            </a:p>
          </p:txBody>
        </p:sp>
        <p:sp>
          <p:nvSpPr>
            <p:cNvPr id="111" name="Line 42"/>
            <p:cNvSpPr>
              <a:spLocks noChangeShapeType="1"/>
            </p:cNvSpPr>
            <p:nvPr/>
          </p:nvSpPr>
          <p:spPr bwMode="blackWhite">
            <a:xfrm flipH="1" flipV="1">
              <a:off x="4968" y="1240"/>
              <a:ext cx="66" cy="66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46038" tIns="46038" rIns="46038" bIns="46038" anchor="ctr"/>
            <a:lstStyle/>
            <a:p>
              <a:endParaRPr lang="ru-RU"/>
            </a:p>
          </p:txBody>
        </p:sp>
      </p:grpSp>
      <p:grpSp>
        <p:nvGrpSpPr>
          <p:cNvPr id="12" name="Group 43"/>
          <p:cNvGrpSpPr/>
          <p:nvPr/>
        </p:nvGrpSpPr>
        <p:grpSpPr bwMode="auto">
          <a:xfrm flipH="1">
            <a:off x="3556000" y="4532313"/>
            <a:ext cx="136525" cy="273050"/>
            <a:chOff x="1303" y="1497"/>
            <a:chExt cx="87" cy="174"/>
          </a:xfrm>
        </p:grpSpPr>
        <p:sp>
          <p:nvSpPr>
            <p:cNvPr id="113" name="Line 44"/>
            <p:cNvSpPr>
              <a:spLocks noChangeShapeType="1"/>
            </p:cNvSpPr>
            <p:nvPr/>
          </p:nvSpPr>
          <p:spPr bwMode="blackWhite">
            <a:xfrm rot="5400000" flipH="1" flipV="1">
              <a:off x="1303" y="1584"/>
              <a:ext cx="87" cy="87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46038" tIns="46038" rIns="46038" bIns="46038" anchor="ctr"/>
            <a:lstStyle/>
            <a:p>
              <a:endParaRPr lang="ru-RU"/>
            </a:p>
          </p:txBody>
        </p:sp>
        <p:sp>
          <p:nvSpPr>
            <p:cNvPr id="114" name="Line 45"/>
            <p:cNvSpPr>
              <a:spLocks noChangeShapeType="1"/>
            </p:cNvSpPr>
            <p:nvPr/>
          </p:nvSpPr>
          <p:spPr bwMode="blackWhite">
            <a:xfrm rot="5400000" flipV="1">
              <a:off x="1303" y="1497"/>
              <a:ext cx="87" cy="87"/>
            </a:xfrm>
            <a:prstGeom prst="line">
              <a:avLst/>
            </a:prstGeom>
            <a:noFill/>
            <a:ln w="28575">
              <a:solidFill>
                <a:srgbClr val="000000"/>
              </a:solidFill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46038" tIns="46038" rIns="46038" bIns="46038" anchor="ctr"/>
            <a:lstStyle/>
            <a:p>
              <a:endParaRPr lang="ru-RU"/>
            </a:p>
          </p:txBody>
        </p:sp>
      </p:grpSp>
      <p:grpSp>
        <p:nvGrpSpPr>
          <p:cNvPr id="13" name="Group 46"/>
          <p:cNvGrpSpPr/>
          <p:nvPr/>
        </p:nvGrpSpPr>
        <p:grpSpPr bwMode="auto">
          <a:xfrm>
            <a:off x="4953000" y="3544888"/>
            <a:ext cx="352425" cy="528637"/>
            <a:chOff x="2460" y="1482"/>
            <a:chExt cx="225" cy="336"/>
          </a:xfrm>
        </p:grpSpPr>
        <p:sp>
          <p:nvSpPr>
            <p:cNvPr id="116" name="Freeform 47"/>
            <p:cNvSpPr/>
            <p:nvPr/>
          </p:nvSpPr>
          <p:spPr bwMode="blackWhite">
            <a:xfrm>
              <a:off x="2470" y="1575"/>
              <a:ext cx="215" cy="243"/>
            </a:xfrm>
            <a:custGeom>
              <a:avLst/>
              <a:gdLst>
                <a:gd name="T0" fmla="*/ 0 w 192"/>
                <a:gd name="T1" fmla="*/ 0 h 336"/>
                <a:gd name="T2" fmla="*/ 49021 w 192"/>
                <a:gd name="T3" fmla="*/ 0 h 336"/>
                <a:gd name="T4" fmla="*/ 49021 w 192"/>
                <a:gd name="T5" fmla="*/ 1 h 336"/>
                <a:gd name="T6" fmla="*/ 0 60000 65536"/>
                <a:gd name="T7" fmla="*/ 0 60000 65536"/>
                <a:gd name="T8" fmla="*/ 0 60000 65536"/>
                <a:gd name="T9" fmla="*/ 0 w 192"/>
                <a:gd name="T10" fmla="*/ 0 h 336"/>
                <a:gd name="T11" fmla="*/ 192 w 192"/>
                <a:gd name="T12" fmla="*/ 336 h 3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92" h="336">
                  <a:moveTo>
                    <a:pt x="0" y="0"/>
                  </a:moveTo>
                  <a:lnTo>
                    <a:pt x="192" y="0"/>
                  </a:lnTo>
                  <a:lnTo>
                    <a:pt x="192" y="336"/>
                  </a:lnTo>
                </a:path>
              </a:pathLst>
            </a:custGeom>
            <a:noFill/>
            <a:ln w="28575" cap="flat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117" name="Line 48"/>
            <p:cNvSpPr>
              <a:spLocks noChangeShapeType="1"/>
            </p:cNvSpPr>
            <p:nvPr/>
          </p:nvSpPr>
          <p:spPr bwMode="blackWhite">
            <a:xfrm rot="5400000">
              <a:off x="2557" y="1721"/>
              <a:ext cx="0" cy="19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prstDash val="dash"/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ru-RU"/>
            </a:p>
          </p:txBody>
        </p:sp>
        <p:grpSp>
          <p:nvGrpSpPr>
            <p:cNvPr id="14" name="Group 49"/>
            <p:cNvGrpSpPr/>
            <p:nvPr/>
          </p:nvGrpSpPr>
          <p:grpSpPr bwMode="auto">
            <a:xfrm rot="-5400000">
              <a:off x="2421" y="1565"/>
              <a:ext cx="179" cy="88"/>
              <a:chOff x="4968" y="1240"/>
              <a:chExt cx="136" cy="66"/>
            </a:xfrm>
          </p:grpSpPr>
          <p:sp>
            <p:nvSpPr>
              <p:cNvPr id="119" name="Line 50"/>
              <p:cNvSpPr>
                <a:spLocks noChangeShapeType="1"/>
              </p:cNvSpPr>
              <p:nvPr/>
            </p:nvSpPr>
            <p:spPr bwMode="blackWhite">
              <a:xfrm flipV="1">
                <a:off x="5038" y="1240"/>
                <a:ext cx="66" cy="66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lIns="46038" tIns="46038" rIns="46038" bIns="46038" anchor="ctr"/>
              <a:lstStyle/>
              <a:p>
                <a:endParaRPr lang="ru-RU"/>
              </a:p>
            </p:txBody>
          </p:sp>
          <p:sp>
            <p:nvSpPr>
              <p:cNvPr id="120" name="Line 51"/>
              <p:cNvSpPr>
                <a:spLocks noChangeShapeType="1"/>
              </p:cNvSpPr>
              <p:nvPr/>
            </p:nvSpPr>
            <p:spPr bwMode="blackWhite">
              <a:xfrm flipH="1" flipV="1">
                <a:off x="4968" y="1240"/>
                <a:ext cx="66" cy="66"/>
              </a:xfrm>
              <a:prstGeom prst="line">
                <a:avLst/>
              </a:prstGeom>
              <a:noFill/>
              <a:ln w="28575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lIns="46038" tIns="46038" rIns="46038" bIns="46038" anchor="ctr"/>
              <a:lstStyle/>
              <a:p>
                <a:endParaRPr lang="ru-RU"/>
              </a:p>
            </p:txBody>
          </p:sp>
        </p:grpSp>
      </p:grpSp>
      <p:sp>
        <p:nvSpPr>
          <p:cNvPr id="121" name="Line 52"/>
          <p:cNvSpPr>
            <a:spLocks noChangeShapeType="1"/>
          </p:cNvSpPr>
          <p:nvPr/>
        </p:nvSpPr>
        <p:spPr bwMode="blackWhite">
          <a:xfrm>
            <a:off x="3530600" y="4667250"/>
            <a:ext cx="152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22" name="Line 53"/>
          <p:cNvSpPr>
            <a:spLocks noChangeShapeType="1"/>
          </p:cNvSpPr>
          <p:nvPr/>
        </p:nvSpPr>
        <p:spPr bwMode="blackWhite">
          <a:xfrm flipH="1">
            <a:off x="2944813" y="4662488"/>
            <a:ext cx="609600" cy="0"/>
          </a:xfrm>
          <a:prstGeom prst="line">
            <a:avLst/>
          </a:prstGeom>
          <a:noFill/>
          <a:ln w="28575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23" name="Line 54"/>
          <p:cNvSpPr>
            <a:spLocks noChangeShapeType="1"/>
          </p:cNvSpPr>
          <p:nvPr/>
        </p:nvSpPr>
        <p:spPr bwMode="blackWhite">
          <a:xfrm>
            <a:off x="2959100" y="3263900"/>
            <a:ext cx="152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24" name="Line 55"/>
          <p:cNvSpPr>
            <a:spLocks noChangeShapeType="1"/>
          </p:cNvSpPr>
          <p:nvPr/>
        </p:nvSpPr>
        <p:spPr bwMode="blackWhite">
          <a:xfrm>
            <a:off x="3140075" y="3263900"/>
            <a:ext cx="533400" cy="0"/>
          </a:xfrm>
          <a:prstGeom prst="line">
            <a:avLst/>
          </a:prstGeom>
          <a:noFill/>
          <a:ln w="28575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25" name="Line 56"/>
          <p:cNvSpPr>
            <a:spLocks noChangeShapeType="1"/>
          </p:cNvSpPr>
          <p:nvPr/>
        </p:nvSpPr>
        <p:spPr bwMode="blackWhite">
          <a:xfrm flipH="1">
            <a:off x="4940300" y="2201863"/>
            <a:ext cx="1524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26" name="Line 57"/>
          <p:cNvSpPr>
            <a:spLocks noChangeShapeType="1"/>
          </p:cNvSpPr>
          <p:nvPr/>
        </p:nvSpPr>
        <p:spPr bwMode="blackWhite">
          <a:xfrm>
            <a:off x="5102225" y="2206625"/>
            <a:ext cx="762000" cy="0"/>
          </a:xfrm>
          <a:prstGeom prst="line">
            <a:avLst/>
          </a:prstGeom>
          <a:noFill/>
          <a:ln w="28575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27" name="Line 58"/>
          <p:cNvSpPr>
            <a:spLocks noChangeShapeType="1"/>
          </p:cNvSpPr>
          <p:nvPr/>
        </p:nvSpPr>
        <p:spPr bwMode="blackWhite">
          <a:xfrm flipV="1">
            <a:off x="4521200" y="2606675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28" name="Line 59"/>
          <p:cNvSpPr>
            <a:spLocks noChangeShapeType="1"/>
          </p:cNvSpPr>
          <p:nvPr/>
        </p:nvSpPr>
        <p:spPr bwMode="blackWhite">
          <a:xfrm flipV="1">
            <a:off x="4102100" y="2930525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29" name="Line 60"/>
          <p:cNvSpPr>
            <a:spLocks noChangeShapeType="1"/>
          </p:cNvSpPr>
          <p:nvPr/>
        </p:nvSpPr>
        <p:spPr bwMode="blackWhite">
          <a:xfrm flipV="1">
            <a:off x="4102100" y="2601913"/>
            <a:ext cx="0" cy="304800"/>
          </a:xfrm>
          <a:prstGeom prst="line">
            <a:avLst/>
          </a:prstGeom>
          <a:noFill/>
          <a:ln w="28575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0" name="Line 61"/>
          <p:cNvSpPr>
            <a:spLocks noChangeShapeType="1"/>
          </p:cNvSpPr>
          <p:nvPr/>
        </p:nvSpPr>
        <p:spPr bwMode="blackWhite">
          <a:xfrm flipV="1">
            <a:off x="4521200" y="2754313"/>
            <a:ext cx="0" cy="304800"/>
          </a:xfrm>
          <a:prstGeom prst="line">
            <a:avLst/>
          </a:prstGeom>
          <a:noFill/>
          <a:ln w="28575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1" name="Line 62"/>
          <p:cNvSpPr>
            <a:spLocks noChangeShapeType="1"/>
          </p:cNvSpPr>
          <p:nvPr/>
        </p:nvSpPr>
        <p:spPr bwMode="blackWhite">
          <a:xfrm flipV="1">
            <a:off x="6477000" y="2914650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2" name="Line 63"/>
          <p:cNvSpPr>
            <a:spLocks noChangeShapeType="1"/>
          </p:cNvSpPr>
          <p:nvPr/>
        </p:nvSpPr>
        <p:spPr bwMode="blackWhite">
          <a:xfrm flipV="1">
            <a:off x="6478588" y="3121025"/>
            <a:ext cx="0" cy="304800"/>
          </a:xfrm>
          <a:prstGeom prst="line">
            <a:avLst/>
          </a:prstGeom>
          <a:noFill/>
          <a:ln w="28575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3" name="Line 64"/>
          <p:cNvSpPr>
            <a:spLocks noChangeShapeType="1"/>
          </p:cNvSpPr>
          <p:nvPr/>
        </p:nvSpPr>
        <p:spPr bwMode="blackWhite">
          <a:xfrm flipV="1">
            <a:off x="6497638" y="4264025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4" name="Line 65"/>
          <p:cNvSpPr>
            <a:spLocks noChangeShapeType="1"/>
          </p:cNvSpPr>
          <p:nvPr/>
        </p:nvSpPr>
        <p:spPr bwMode="blackWhite">
          <a:xfrm flipV="1">
            <a:off x="6502400" y="4468813"/>
            <a:ext cx="0" cy="304800"/>
          </a:xfrm>
          <a:prstGeom prst="line">
            <a:avLst/>
          </a:prstGeom>
          <a:noFill/>
          <a:ln w="28575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5" name="Line 66"/>
          <p:cNvSpPr>
            <a:spLocks noChangeShapeType="1"/>
          </p:cNvSpPr>
          <p:nvPr/>
        </p:nvSpPr>
        <p:spPr bwMode="blackWhite">
          <a:xfrm flipV="1">
            <a:off x="2295525" y="3876675"/>
            <a:ext cx="0" cy="1524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6" name="Line 67"/>
          <p:cNvSpPr>
            <a:spLocks noChangeShapeType="1"/>
          </p:cNvSpPr>
          <p:nvPr/>
        </p:nvSpPr>
        <p:spPr bwMode="blackWhite">
          <a:xfrm>
            <a:off x="2295525" y="4038600"/>
            <a:ext cx="0" cy="457200"/>
          </a:xfrm>
          <a:prstGeom prst="line">
            <a:avLst/>
          </a:prstGeom>
          <a:noFill/>
          <a:ln w="28575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7" name="Line 68"/>
          <p:cNvSpPr>
            <a:spLocks noChangeShapeType="1"/>
          </p:cNvSpPr>
          <p:nvPr/>
        </p:nvSpPr>
        <p:spPr bwMode="blackWhite">
          <a:xfrm>
            <a:off x="2209800" y="2133600"/>
            <a:ext cx="1447800" cy="0"/>
          </a:xfrm>
          <a:prstGeom prst="line">
            <a:avLst/>
          </a:prstGeom>
          <a:noFill/>
          <a:ln w="28575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4430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14960" algn="ctr">
              <a:lnSpc>
                <a:spcPct val="100000"/>
              </a:lnSpc>
              <a:spcBef>
                <a:spcPts val="95"/>
              </a:spcBef>
            </a:pPr>
            <a:r>
              <a:rPr sz="2800" smtClean="0">
                <a:solidFill>
                  <a:srgbClr val="434343"/>
                </a:solidFill>
                <a:latin typeface="+mn-lt"/>
                <a:cs typeface="Arial" panose="020B0604020202020204"/>
              </a:rPr>
              <a:t>JOI</a:t>
            </a:r>
            <a:r>
              <a:rPr lang="en-US" sz="2800" dirty="0" smtClean="0">
                <a:solidFill>
                  <a:srgbClr val="434343"/>
                </a:solidFill>
                <a:latin typeface="+mn-lt"/>
                <a:cs typeface="Arial" panose="020B0604020202020204"/>
              </a:rPr>
              <a:t>N`</a:t>
            </a:r>
            <a:r>
              <a:rPr lang="ru-RU" sz="2800" dirty="0" err="1" smtClean="0">
                <a:solidFill>
                  <a:srgbClr val="434343"/>
                </a:solidFill>
                <a:latin typeface="+mn-lt"/>
                <a:cs typeface="Arial" panose="020B0604020202020204"/>
              </a:rPr>
              <a:t>ы</a:t>
            </a:r>
            <a:r>
              <a:rPr lang="ru-RU" sz="2800" dirty="0" smtClean="0">
                <a:solidFill>
                  <a:srgbClr val="434343"/>
                </a:solidFill>
                <a:latin typeface="+mn-lt"/>
                <a:cs typeface="Arial" panose="020B0604020202020204"/>
              </a:rPr>
              <a:t> </a:t>
            </a:r>
            <a:r>
              <a:rPr lang="en-US" sz="2800" dirty="0" smtClean="0">
                <a:solidFill>
                  <a:srgbClr val="434343"/>
                </a:solidFill>
                <a:latin typeface="+mn-lt"/>
                <a:cs typeface="Arial" panose="020B0604020202020204"/>
              </a:rPr>
              <a:t>(</a:t>
            </a:r>
            <a:r>
              <a:rPr lang="ru-RU" sz="2800" dirty="0" smtClean="0">
                <a:solidFill>
                  <a:srgbClr val="434343"/>
                </a:solidFill>
                <a:latin typeface="+mn-lt"/>
                <a:cs typeface="Arial" panose="020B0604020202020204"/>
              </a:rPr>
              <a:t>Соединения</a:t>
            </a:r>
            <a:r>
              <a:rPr lang="en-US" sz="2800" dirty="0" smtClean="0">
                <a:solidFill>
                  <a:srgbClr val="434343"/>
                </a:solidFill>
                <a:latin typeface="+mn-lt"/>
                <a:cs typeface="Arial" panose="020B0604020202020204"/>
              </a:rPr>
              <a:t>) </a:t>
            </a:r>
            <a:r>
              <a:rPr lang="ru-RU" sz="2800" dirty="0" smtClean="0">
                <a:solidFill>
                  <a:srgbClr val="434343"/>
                </a:solidFill>
                <a:latin typeface="+mn-lt"/>
                <a:cs typeface="Arial" panose="020B0604020202020204"/>
              </a:rPr>
              <a:t>в </a:t>
            </a:r>
            <a:r>
              <a:rPr lang="en-US" sz="2800" dirty="0" smtClean="0">
                <a:solidFill>
                  <a:srgbClr val="434343"/>
                </a:solidFill>
                <a:latin typeface="+mn-lt"/>
                <a:cs typeface="Arial" panose="020B0604020202020204"/>
              </a:rPr>
              <a:t>SQL</a:t>
            </a:r>
            <a:endParaRPr sz="2800">
              <a:latin typeface="+mn-lt"/>
              <a:cs typeface="Arial" panose="020B060402020202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9036558" y="6568857"/>
            <a:ext cx="67945" cy="225062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600" spc="-50" dirty="0">
                <a:solidFill>
                  <a:srgbClr val="878787"/>
                </a:solidFill>
                <a:latin typeface="Arial MT"/>
                <a:cs typeface="Arial MT"/>
              </a:rPr>
              <a:t>7</a:t>
            </a:r>
            <a:endParaRPr sz="6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600" spc="-50" dirty="0">
                <a:solidFill>
                  <a:srgbClr val="878787"/>
                </a:solidFill>
                <a:latin typeface="Arial MT"/>
                <a:cs typeface="Arial MT"/>
              </a:rPr>
              <a:t>5</a:t>
            </a:r>
            <a:endParaRPr sz="600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94993" y="1260849"/>
            <a:ext cx="7594850" cy="4554962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3561048" y="3101009"/>
            <a:ext cx="1658415" cy="11245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/>
          <p:cNvSpPr>
            <a:spLocks noGrp="1" noChangeArrowheads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pPr eaLnBrk="1" hangingPunct="1"/>
            <a:r>
              <a:rPr lang="ru-RU" altLang="ru-RU" sz="3200" dirty="0" smtClean="0"/>
              <a:t>Получение данных из нескольких таблиц</a:t>
            </a:r>
            <a:endParaRPr lang="en-US" altLang="ru-RU" sz="3200" dirty="0"/>
          </a:p>
        </p:txBody>
      </p:sp>
      <p:pic>
        <p:nvPicPr>
          <p:cNvPr id="5" name="Picture 29" descr="C:\salome_official\projects\11gR2\screenshots\les6_4s_c.gif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8025" y="1946275"/>
            <a:ext cx="4341813" cy="19685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8" descr="C:\salome_official\projects\11gR2\screenshots\les6_4s_b.gif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" y="3178175"/>
            <a:ext cx="3802063" cy="65087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7" descr="C:\salome_official\projects\11gR2\screenshots\les6_4s_a.gif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" y="1943100"/>
            <a:ext cx="3811588" cy="8683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6"/>
          <p:cNvSpPr>
            <a:spLocks noChangeArrowheads="1"/>
          </p:cNvSpPr>
          <p:nvPr/>
        </p:nvSpPr>
        <p:spPr bwMode="auto">
          <a:xfrm>
            <a:off x="650875" y="1600200"/>
            <a:ext cx="16256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ru-RU" sz="2000">
                <a:latin typeface="Courier New" panose="02070309020205020404" pitchFamily="49" charset="0"/>
              </a:rPr>
              <a:t>EMPLOYEES</a:t>
            </a:r>
            <a:r>
              <a:rPr lang="en-US" altLang="ru-RU" sz="2000"/>
              <a:t> </a:t>
            </a:r>
            <a:endParaRPr lang="en-US" altLang="ru-RU" sz="2000"/>
          </a:p>
        </p:txBody>
      </p:sp>
      <p:sp>
        <p:nvSpPr>
          <p:cNvPr id="9" name="Rectangle 7"/>
          <p:cNvSpPr>
            <a:spLocks noChangeArrowheads="1"/>
          </p:cNvSpPr>
          <p:nvPr/>
        </p:nvSpPr>
        <p:spPr bwMode="auto">
          <a:xfrm>
            <a:off x="4940300" y="1614488"/>
            <a:ext cx="2012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ru-RU" sz="2000">
                <a:latin typeface="Courier New" panose="02070309020205020404" pitchFamily="49" charset="0"/>
              </a:rPr>
              <a:t>DEPARTMENTS </a:t>
            </a:r>
            <a:endParaRPr lang="en-US" altLang="ru-RU" sz="2000">
              <a:latin typeface="Courier New" panose="02070309020205020404" pitchFamily="49" charset="0"/>
            </a:endParaRPr>
          </a:p>
        </p:txBody>
      </p:sp>
      <p:grpSp>
        <p:nvGrpSpPr>
          <p:cNvPr id="10" name="Group 8"/>
          <p:cNvGrpSpPr/>
          <p:nvPr/>
        </p:nvGrpSpPr>
        <p:grpSpPr bwMode="auto">
          <a:xfrm>
            <a:off x="4195763" y="3976688"/>
            <a:ext cx="606425" cy="473075"/>
            <a:chOff x="2480" y="2024"/>
            <a:chExt cx="609" cy="298"/>
          </a:xfrm>
        </p:grpSpPr>
        <p:sp>
          <p:nvSpPr>
            <p:cNvPr id="11" name="Line 9"/>
            <p:cNvSpPr>
              <a:spLocks noChangeShapeType="1"/>
            </p:cNvSpPr>
            <p:nvPr/>
          </p:nvSpPr>
          <p:spPr bwMode="gray">
            <a:xfrm flipV="1">
              <a:off x="2480" y="2024"/>
              <a:ext cx="0" cy="298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ru-RU"/>
            </a:p>
          </p:txBody>
        </p:sp>
        <p:sp>
          <p:nvSpPr>
            <p:cNvPr id="12" name="Line 10"/>
            <p:cNvSpPr>
              <a:spLocks noChangeShapeType="1"/>
            </p:cNvSpPr>
            <p:nvPr/>
          </p:nvSpPr>
          <p:spPr bwMode="gray">
            <a:xfrm flipV="1">
              <a:off x="3089" y="2024"/>
              <a:ext cx="0" cy="298"/>
            </a:xfrm>
            <a:prstGeom prst="line">
              <a:avLst/>
            </a:prstGeom>
            <a:noFill/>
            <a:ln w="28575">
              <a:solidFill>
                <a:schemeClr val="accent2"/>
              </a:solidFill>
              <a:round/>
              <a:head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ru-RU"/>
            </a:p>
          </p:txBody>
        </p:sp>
      </p:grpSp>
      <p:sp>
        <p:nvSpPr>
          <p:cNvPr id="13" name="Text Box 14"/>
          <p:cNvSpPr txBox="1">
            <a:spLocks noChangeArrowheads="1"/>
          </p:cNvSpPr>
          <p:nvPr/>
        </p:nvSpPr>
        <p:spPr bwMode="gray">
          <a:xfrm>
            <a:off x="769938" y="2757488"/>
            <a:ext cx="366712" cy="390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lIns="12700" tIns="12700" rIns="12700" bIns="12700">
            <a:spAutoFit/>
          </a:bodyPr>
          <a:lstStyle>
            <a:lvl1pPr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ru-RU" sz="2400"/>
              <a:t>…</a:t>
            </a:r>
            <a:endParaRPr lang="en-US" altLang="ru-RU" sz="2400"/>
          </a:p>
        </p:txBody>
      </p:sp>
      <p:sp>
        <p:nvSpPr>
          <p:cNvPr id="14" name="Text Box 17"/>
          <p:cNvSpPr txBox="1">
            <a:spLocks noChangeArrowheads="1"/>
          </p:cNvSpPr>
          <p:nvPr/>
        </p:nvSpPr>
        <p:spPr bwMode="auto">
          <a:xfrm>
            <a:off x="2338388" y="5473700"/>
            <a:ext cx="366712" cy="390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lIns="12700" tIns="12700" rIns="12700" bIns="12700">
            <a:spAutoFit/>
          </a:bodyPr>
          <a:lstStyle>
            <a:lvl1pPr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ru-RU" sz="2400"/>
              <a:t>…</a:t>
            </a:r>
            <a:endParaRPr lang="en-US" altLang="ru-RU" sz="2400"/>
          </a:p>
        </p:txBody>
      </p:sp>
      <p:sp>
        <p:nvSpPr>
          <p:cNvPr id="15" name="Rectangle 22"/>
          <p:cNvSpPr>
            <a:spLocks noChangeArrowheads="1"/>
          </p:cNvSpPr>
          <p:nvPr/>
        </p:nvSpPr>
        <p:spPr bwMode="gray">
          <a:xfrm>
            <a:off x="3108325" y="1917700"/>
            <a:ext cx="1265238" cy="1909763"/>
          </a:xfrm>
          <a:prstGeom prst="rect">
            <a:avLst/>
          </a:prstGeom>
          <a:noFill/>
          <a:ln w="28575">
            <a:solidFill>
              <a:schemeClr val="accent2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IN" altLang="ru-RU"/>
          </a:p>
        </p:txBody>
      </p:sp>
      <p:sp>
        <p:nvSpPr>
          <p:cNvPr id="16" name="Rectangle 23"/>
          <p:cNvSpPr>
            <a:spLocks noChangeArrowheads="1"/>
          </p:cNvSpPr>
          <p:nvPr/>
        </p:nvSpPr>
        <p:spPr bwMode="gray">
          <a:xfrm>
            <a:off x="6230938" y="1917700"/>
            <a:ext cx="1524000" cy="1993900"/>
          </a:xfrm>
          <a:prstGeom prst="rect">
            <a:avLst/>
          </a:prstGeom>
          <a:noFill/>
          <a:ln w="28575">
            <a:solidFill>
              <a:schemeClr val="accent2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IN" altLang="ru-RU"/>
          </a:p>
        </p:txBody>
      </p:sp>
      <p:sp>
        <p:nvSpPr>
          <p:cNvPr id="17" name="Rectangle 26"/>
          <p:cNvSpPr>
            <a:spLocks noChangeArrowheads="1"/>
          </p:cNvSpPr>
          <p:nvPr/>
        </p:nvSpPr>
        <p:spPr bwMode="gray">
          <a:xfrm>
            <a:off x="1038225" y="1917700"/>
            <a:ext cx="1081088" cy="1908175"/>
          </a:xfrm>
          <a:prstGeom prst="rect">
            <a:avLst/>
          </a:prstGeom>
          <a:noFill/>
          <a:ln w="28575">
            <a:solidFill>
              <a:schemeClr val="accent2"/>
            </a:solidFill>
            <a:miter lim="800000"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IN" altLang="ru-RU"/>
          </a:p>
        </p:txBody>
      </p:sp>
      <p:pic>
        <p:nvPicPr>
          <p:cNvPr id="18" name="Picture 31" descr="C:\salome_official\projects\11gR2\screenshots\les6_4s_d.gif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2363" y="4497388"/>
            <a:ext cx="4305300" cy="10874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32" descr="C:\salome_official\projects\11gR2\screenshots\les6_4s_e.gif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3950" y="5878513"/>
            <a:ext cx="4298950" cy="43497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ru-RU" dirty="0" smtClean="0"/>
              <a:t>Типы Соединений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altLang="ru-RU" sz="2000" dirty="0" smtClean="0"/>
              <a:t>Соединения, соответствующие стандарту SQL:1999, включают следующее:</a:t>
            </a:r>
            <a:endParaRPr lang="ru-RU" altLang="ru-RU" sz="2000" dirty="0" smtClean="0"/>
          </a:p>
          <a:p>
            <a:pPr marL="457200" lvl="1" indent="0"/>
            <a:r>
              <a:rPr lang="ru-RU" altLang="ru-RU" sz="1600" dirty="0" smtClean="0"/>
              <a:t> </a:t>
            </a:r>
            <a:r>
              <a:rPr lang="ru-RU" altLang="ru-RU" sz="2000" dirty="0" smtClean="0"/>
              <a:t>Соединения с оператором USING</a:t>
            </a:r>
            <a:endParaRPr lang="ru-RU" altLang="ru-RU" sz="2000" dirty="0" smtClean="0"/>
          </a:p>
          <a:p>
            <a:pPr marL="457200" lvl="1" indent="0"/>
            <a:r>
              <a:rPr lang="ru-RU" altLang="ru-RU" sz="2000" dirty="0" smtClean="0"/>
              <a:t> Соединения с оператором ON</a:t>
            </a:r>
            <a:endParaRPr lang="en-US" altLang="ru-RU" sz="2000" dirty="0" smtClean="0"/>
          </a:p>
          <a:p>
            <a:pPr lvl="1"/>
            <a:r>
              <a:rPr lang="en-US" altLang="ru-RU" sz="2000" dirty="0" smtClean="0">
                <a:latin typeface="Courier New" panose="02070309020205020404" pitchFamily="49" charset="0"/>
              </a:rPr>
              <a:t>OUTER</a:t>
            </a:r>
            <a:r>
              <a:rPr lang="en-US" altLang="ru-RU" sz="2000" dirty="0" smtClean="0"/>
              <a:t> </a:t>
            </a:r>
            <a:r>
              <a:rPr lang="ru-RU" altLang="ru-RU" sz="2000" dirty="0" smtClean="0"/>
              <a:t>соединения</a:t>
            </a:r>
            <a:r>
              <a:rPr lang="en-US" altLang="ru-RU" sz="2000" dirty="0" smtClean="0"/>
              <a:t>:</a:t>
            </a:r>
            <a:endParaRPr lang="en-US" altLang="ru-RU" sz="2000" dirty="0" smtClean="0"/>
          </a:p>
          <a:p>
            <a:pPr lvl="2"/>
            <a:r>
              <a:rPr lang="en-US" altLang="ru-RU" dirty="0" smtClean="0">
                <a:latin typeface="Courier New" panose="02070309020205020404" pitchFamily="49" charset="0"/>
              </a:rPr>
              <a:t>LEFT</a:t>
            </a:r>
            <a:r>
              <a:rPr lang="en-US" altLang="ru-RU" dirty="0" smtClean="0"/>
              <a:t> </a:t>
            </a:r>
            <a:r>
              <a:rPr lang="en-US" altLang="ru-RU" dirty="0">
                <a:latin typeface="Courier New" panose="02070309020205020404" pitchFamily="49" charset="0"/>
              </a:rPr>
              <a:t>OUTER</a:t>
            </a:r>
            <a:r>
              <a:rPr lang="en-US" altLang="ru-RU" dirty="0"/>
              <a:t> </a:t>
            </a:r>
            <a:r>
              <a:rPr lang="en-US" altLang="ru-RU" dirty="0">
                <a:latin typeface="Courier New" panose="02070309020205020404" pitchFamily="49" charset="0"/>
              </a:rPr>
              <a:t>JOIN</a:t>
            </a:r>
            <a:endParaRPr lang="en-US" altLang="ru-RU" dirty="0">
              <a:latin typeface="Courier New" panose="02070309020205020404" pitchFamily="49" charset="0"/>
            </a:endParaRPr>
          </a:p>
          <a:p>
            <a:pPr lvl="2"/>
            <a:r>
              <a:rPr lang="en-US" altLang="ru-RU" dirty="0">
                <a:latin typeface="Courier New" panose="02070309020205020404" pitchFamily="49" charset="0"/>
              </a:rPr>
              <a:t>RIGHT</a:t>
            </a:r>
            <a:r>
              <a:rPr lang="en-US" altLang="ru-RU" dirty="0"/>
              <a:t> </a:t>
            </a:r>
            <a:r>
              <a:rPr lang="en-US" altLang="ru-RU" dirty="0">
                <a:latin typeface="Courier New" panose="02070309020205020404" pitchFamily="49" charset="0"/>
              </a:rPr>
              <a:t>OUTER</a:t>
            </a:r>
            <a:r>
              <a:rPr lang="en-US" altLang="ru-RU" dirty="0"/>
              <a:t> </a:t>
            </a:r>
            <a:r>
              <a:rPr lang="en-US" altLang="ru-RU" dirty="0">
                <a:latin typeface="Courier New" panose="02070309020205020404" pitchFamily="49" charset="0"/>
              </a:rPr>
              <a:t>JOIN</a:t>
            </a:r>
            <a:endParaRPr lang="en-US" altLang="ru-RU" dirty="0">
              <a:latin typeface="Courier New" panose="02070309020205020404" pitchFamily="49" charset="0"/>
            </a:endParaRPr>
          </a:p>
          <a:p>
            <a:pPr lvl="2"/>
            <a:r>
              <a:rPr lang="en-US" altLang="ru-RU" dirty="0">
                <a:latin typeface="Courier New" panose="02070309020205020404" pitchFamily="49" charset="0"/>
              </a:rPr>
              <a:t>FULL</a:t>
            </a:r>
            <a:r>
              <a:rPr lang="en-US" altLang="ru-RU" dirty="0"/>
              <a:t> </a:t>
            </a:r>
            <a:r>
              <a:rPr lang="en-US" altLang="ru-RU" dirty="0">
                <a:latin typeface="Courier New" panose="02070309020205020404" pitchFamily="49" charset="0"/>
              </a:rPr>
              <a:t>OUTER</a:t>
            </a:r>
            <a:r>
              <a:rPr lang="en-US" altLang="ru-RU" dirty="0"/>
              <a:t> </a:t>
            </a:r>
            <a:r>
              <a:rPr lang="en-US" altLang="ru-RU" dirty="0">
                <a:latin typeface="Courier New" panose="02070309020205020404" pitchFamily="49" charset="0"/>
              </a:rPr>
              <a:t>JOIN</a:t>
            </a:r>
            <a:endParaRPr lang="en-US" altLang="ru-RU" dirty="0">
              <a:latin typeface="Courier New" panose="02070309020205020404" pitchFamily="49" charset="0"/>
            </a:endParaRPr>
          </a:p>
          <a:p>
            <a:pPr lvl="1"/>
            <a:r>
              <a:rPr lang="en-US" altLang="ru-RU" sz="20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CROSS JOIN</a:t>
            </a:r>
            <a:endParaRPr lang="en-US" altLang="ru-RU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ru-RU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/>
          <p:cNvSpPr>
            <a:spLocks noGrp="1" noChangeArrowheads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ru-RU" altLang="ru-RU" sz="3200" dirty="0" smtClean="0"/>
              <a:t>Типы Соединений</a:t>
            </a:r>
            <a:endParaRPr lang="en-US" altLang="ru-RU" sz="3200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587829" y="1728961"/>
            <a:ext cx="8308068" cy="47056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altLang="ru-RU" sz="4000" dirty="0" smtClean="0"/>
              <a:t>Соединение таблиц с использованием синтаксиса SQL:1999</a:t>
            </a:r>
            <a:endParaRPr lang="ru-RU" sz="4000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idx="1"/>
          </p:nvPr>
        </p:nvSpPr>
        <p:spPr>
          <a:xfrm>
            <a:off x="609600" y="1937186"/>
            <a:ext cx="7918450" cy="4936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altLang="ru-RU" sz="2000" dirty="0" smtClean="0"/>
              <a:t>Используйте соединение для запроса данных из нескольких таблиц:</a:t>
            </a:r>
            <a:endParaRPr lang="en-US" altLang="ru-RU" sz="2000" dirty="0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blackGray">
          <a:xfrm>
            <a:off x="866775" y="2622985"/>
            <a:ext cx="7286625" cy="25193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SELECT	</a:t>
            </a:r>
            <a:r>
              <a:rPr lang="en-US" altLang="ru-RU" i="1" dirty="0">
                <a:solidFill>
                  <a:srgbClr val="000000"/>
                </a:solidFill>
                <a:latin typeface="Courier New" panose="02070309020205020404" pitchFamily="49" charset="0"/>
              </a:rPr>
              <a:t>table1.column, table2.column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FROM	</a:t>
            </a:r>
            <a:r>
              <a:rPr lang="en-US" altLang="ru-RU" i="1" dirty="0">
                <a:solidFill>
                  <a:srgbClr val="000000"/>
                </a:solidFill>
                <a:latin typeface="Courier New" panose="02070309020205020404" pitchFamily="49" charset="0"/>
              </a:rPr>
              <a:t>table1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ru-RU" dirty="0" smtClean="0">
                <a:solidFill>
                  <a:srgbClr val="000000"/>
                </a:solidFill>
                <a:latin typeface="Courier New" panose="02070309020205020404" pitchFamily="49" charset="0"/>
              </a:rPr>
              <a:t>[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JOIN </a:t>
            </a:r>
            <a:r>
              <a:rPr lang="en-US" altLang="ru-RU" i="1" dirty="0">
                <a:solidFill>
                  <a:srgbClr val="000000"/>
                </a:solidFill>
                <a:latin typeface="Courier New" panose="02070309020205020404" pitchFamily="49" charset="0"/>
              </a:rPr>
              <a:t>table2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USING (</a:t>
            </a:r>
            <a:r>
              <a:rPr lang="en-US" altLang="ru-RU" i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column_name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)] |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[JOIN </a:t>
            </a:r>
            <a:r>
              <a:rPr lang="en-US" altLang="ru-RU" i="1" dirty="0">
                <a:solidFill>
                  <a:srgbClr val="000000"/>
                </a:solidFill>
                <a:latin typeface="Courier New" panose="02070309020205020404" pitchFamily="49" charset="0"/>
              </a:rPr>
              <a:t>table2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ON (</a:t>
            </a:r>
            <a:r>
              <a:rPr lang="en-US" altLang="ru-RU" i="1" dirty="0">
                <a:solidFill>
                  <a:srgbClr val="000000"/>
                </a:solidFill>
                <a:latin typeface="Courier New" panose="02070309020205020404" pitchFamily="49" charset="0"/>
              </a:rPr>
              <a:t>table1.column_name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altLang="ru-RU" i="1" dirty="0">
                <a:solidFill>
                  <a:srgbClr val="000000"/>
                </a:solidFill>
                <a:latin typeface="Courier New" panose="02070309020205020404" pitchFamily="49" charset="0"/>
              </a:rPr>
              <a:t>table2.column_name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)]|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[LEFT|RIGHT|FULL OUTER JOIN </a:t>
            </a:r>
            <a:r>
              <a:rPr lang="en-US" altLang="ru-RU" i="1" dirty="0">
                <a:solidFill>
                  <a:srgbClr val="000000"/>
                </a:solidFill>
                <a:latin typeface="Courier New" panose="02070309020205020404" pitchFamily="49" charset="0"/>
              </a:rPr>
              <a:t>table2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ON (</a:t>
            </a:r>
            <a:r>
              <a:rPr lang="en-US" altLang="ru-RU" i="1" dirty="0">
                <a:solidFill>
                  <a:srgbClr val="000000"/>
                </a:solidFill>
                <a:latin typeface="Courier New" panose="02070309020205020404" pitchFamily="49" charset="0"/>
              </a:rPr>
              <a:t>table1.column_name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altLang="ru-RU" i="1" dirty="0">
                <a:solidFill>
                  <a:srgbClr val="000000"/>
                </a:solidFill>
                <a:latin typeface="Courier New" panose="02070309020205020404" pitchFamily="49" charset="0"/>
              </a:rPr>
              <a:t>table2.column_name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)]|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[CROSS JOIN </a:t>
            </a:r>
            <a:r>
              <a:rPr lang="en-US" altLang="ru-RU" i="1" dirty="0">
                <a:solidFill>
                  <a:srgbClr val="000000"/>
                </a:solidFill>
                <a:latin typeface="Courier New" panose="02070309020205020404" pitchFamily="49" charset="0"/>
              </a:rPr>
              <a:t>table2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];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altLang="ru-RU" sz="4000" dirty="0" smtClean="0"/>
              <a:t>Соединения по колонками</a:t>
            </a:r>
            <a:endParaRPr lang="ru-RU" sz="4000" dirty="0"/>
          </a:p>
        </p:txBody>
      </p:sp>
      <p:pic>
        <p:nvPicPr>
          <p:cNvPr id="5" name="Picture 36" descr="C:\salome_official\projects\11gR2\screenshots\les6_12s_a.gif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700" y="1917572"/>
            <a:ext cx="2971800" cy="25146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37" descr="C:\salome_official\projects\11gR2\screenshots\les6_12s_b.gif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1213" y="1908047"/>
            <a:ext cx="3394075" cy="20574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762000" y="1433384"/>
            <a:ext cx="16256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ru-RU" sz="2000">
                <a:latin typeface="Courier New" panose="02070309020205020404" pitchFamily="49" charset="0"/>
              </a:rPr>
              <a:t>EMPLOYEES</a:t>
            </a:r>
            <a:r>
              <a:rPr lang="en-US" altLang="ru-RU" sz="2000"/>
              <a:t> </a:t>
            </a:r>
            <a:endParaRPr lang="en-US" altLang="ru-RU" sz="2000"/>
          </a:p>
        </p:txBody>
      </p:sp>
      <p:sp>
        <p:nvSpPr>
          <p:cNvPr id="11" name="Rectangle 4"/>
          <p:cNvSpPr>
            <a:spLocks noChangeArrowheads="1"/>
          </p:cNvSpPr>
          <p:nvPr/>
        </p:nvSpPr>
        <p:spPr bwMode="auto">
          <a:xfrm>
            <a:off x="4343400" y="1433384"/>
            <a:ext cx="20129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ru-RU" sz="2000">
                <a:latin typeface="Courier New" panose="02070309020205020404" pitchFamily="49" charset="0"/>
              </a:rPr>
              <a:t>DEPARTMENTS </a:t>
            </a:r>
            <a:endParaRPr lang="en-US" altLang="ru-RU" sz="2000">
              <a:latin typeface="Courier New" panose="02070309020205020404" pitchFamily="49" charset="0"/>
            </a:endParaRPr>
          </a:p>
        </p:txBody>
      </p:sp>
      <p:sp>
        <p:nvSpPr>
          <p:cNvPr id="13" name="Rectangle 5"/>
          <p:cNvSpPr>
            <a:spLocks noChangeArrowheads="1"/>
          </p:cNvSpPr>
          <p:nvPr/>
        </p:nvSpPr>
        <p:spPr bwMode="auto">
          <a:xfrm>
            <a:off x="3111500" y="5140197"/>
            <a:ext cx="1609725" cy="427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110000"/>
              </a:lnSpc>
              <a:spcBef>
                <a:spcPct val="0"/>
              </a:spcBef>
              <a:buClrTx/>
              <a:buFontTx/>
              <a:buNone/>
            </a:pPr>
            <a:r>
              <a:rPr lang="en-US" altLang="ru-RU" sz="2000"/>
              <a:t>Foreign key</a:t>
            </a:r>
            <a:endParaRPr lang="en-US" altLang="ru-RU" sz="2000"/>
          </a:p>
        </p:txBody>
      </p:sp>
      <p:sp>
        <p:nvSpPr>
          <p:cNvPr id="15" name="Rectangle 6"/>
          <p:cNvSpPr>
            <a:spLocks noChangeArrowheads="1"/>
          </p:cNvSpPr>
          <p:nvPr/>
        </p:nvSpPr>
        <p:spPr bwMode="auto">
          <a:xfrm>
            <a:off x="5516563" y="4709984"/>
            <a:ext cx="1624012" cy="427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lnSpc>
                <a:spcPct val="110000"/>
              </a:lnSpc>
              <a:spcBef>
                <a:spcPct val="0"/>
              </a:spcBef>
              <a:buClrTx/>
              <a:buFontTx/>
              <a:buNone/>
            </a:pPr>
            <a:r>
              <a:rPr lang="en-US" altLang="ru-RU" sz="2000"/>
              <a:t>Primary key</a:t>
            </a:r>
            <a:endParaRPr lang="en-US" altLang="ru-RU" sz="2000"/>
          </a:p>
        </p:txBody>
      </p:sp>
      <p:sp>
        <p:nvSpPr>
          <p:cNvPr id="17" name="Rectangle 9"/>
          <p:cNvSpPr>
            <a:spLocks noChangeArrowheads="1"/>
          </p:cNvSpPr>
          <p:nvPr/>
        </p:nvSpPr>
        <p:spPr bwMode="gray">
          <a:xfrm>
            <a:off x="2670175" y="1901697"/>
            <a:ext cx="1335088" cy="2517775"/>
          </a:xfrm>
          <a:prstGeom prst="rect">
            <a:avLst/>
          </a:prstGeom>
          <a:noFill/>
          <a:ln w="28575">
            <a:solidFill>
              <a:schemeClr val="accent2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IN" altLang="ru-RU"/>
          </a:p>
        </p:txBody>
      </p:sp>
      <p:sp>
        <p:nvSpPr>
          <p:cNvPr id="19" name="Text Box 11"/>
          <p:cNvSpPr txBox="1">
            <a:spLocks noChangeArrowheads="1"/>
          </p:cNvSpPr>
          <p:nvPr/>
        </p:nvSpPr>
        <p:spPr bwMode="auto">
          <a:xfrm>
            <a:off x="969963" y="4308347"/>
            <a:ext cx="366712" cy="390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lIns="12700" tIns="12700" rIns="12700" bIns="12700">
            <a:spAutoFit/>
          </a:bodyPr>
          <a:lstStyle>
            <a:lvl1pPr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ru-RU" sz="2400"/>
              <a:t>…</a:t>
            </a:r>
            <a:endParaRPr lang="en-US" altLang="ru-RU" sz="2400"/>
          </a:p>
        </p:txBody>
      </p:sp>
      <p:sp>
        <p:nvSpPr>
          <p:cNvPr id="21" name="Line 12"/>
          <p:cNvSpPr>
            <a:spLocks noChangeShapeType="1"/>
          </p:cNvSpPr>
          <p:nvPr/>
        </p:nvSpPr>
        <p:spPr bwMode="auto">
          <a:xfrm flipH="1" flipV="1">
            <a:off x="3275013" y="4440109"/>
            <a:ext cx="1587" cy="6572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3" name="Line 13"/>
          <p:cNvSpPr>
            <a:spLocks noChangeShapeType="1"/>
          </p:cNvSpPr>
          <p:nvPr/>
        </p:nvSpPr>
        <p:spPr bwMode="auto">
          <a:xfrm flipH="1" flipV="1">
            <a:off x="5897563" y="4024184"/>
            <a:ext cx="0" cy="60960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5" name="Line 18"/>
          <p:cNvSpPr>
            <a:spLocks noChangeShapeType="1"/>
          </p:cNvSpPr>
          <p:nvPr/>
        </p:nvSpPr>
        <p:spPr bwMode="gray">
          <a:xfrm>
            <a:off x="3986213" y="2479547"/>
            <a:ext cx="804862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7" name="Freeform 21"/>
          <p:cNvSpPr/>
          <p:nvPr/>
        </p:nvSpPr>
        <p:spPr bwMode="gray">
          <a:xfrm>
            <a:off x="4000500" y="2654172"/>
            <a:ext cx="260350" cy="1587"/>
          </a:xfrm>
          <a:custGeom>
            <a:avLst/>
            <a:gdLst>
              <a:gd name="T0" fmla="*/ 0 w 164"/>
              <a:gd name="T1" fmla="*/ 2147483647 h 1"/>
              <a:gd name="T2" fmla="*/ 2147483647 w 164"/>
              <a:gd name="T3" fmla="*/ 0 h 1"/>
              <a:gd name="T4" fmla="*/ 0 60000 65536"/>
              <a:gd name="T5" fmla="*/ 0 60000 65536"/>
              <a:gd name="T6" fmla="*/ 0 w 164"/>
              <a:gd name="T7" fmla="*/ 0 h 1"/>
              <a:gd name="T8" fmla="*/ 164 w 164"/>
              <a:gd name="T9" fmla="*/ 1 h 1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64" h="1">
                <a:moveTo>
                  <a:pt x="0" y="1"/>
                </a:moveTo>
                <a:lnTo>
                  <a:pt x="164" y="0"/>
                </a:lnTo>
              </a:path>
            </a:pathLst>
          </a:custGeom>
          <a:noFill/>
          <a:ln w="28575">
            <a:solidFill>
              <a:schemeClr val="accent2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9" name="Freeform 25"/>
          <p:cNvSpPr/>
          <p:nvPr/>
        </p:nvSpPr>
        <p:spPr bwMode="gray">
          <a:xfrm>
            <a:off x="4257675" y="2479547"/>
            <a:ext cx="1588" cy="198437"/>
          </a:xfrm>
          <a:custGeom>
            <a:avLst/>
            <a:gdLst>
              <a:gd name="T0" fmla="*/ 0 w 1"/>
              <a:gd name="T1" fmla="*/ 0 h 125"/>
              <a:gd name="T2" fmla="*/ 2147483647 w 1"/>
              <a:gd name="T3" fmla="*/ 2147483647 h 125"/>
              <a:gd name="T4" fmla="*/ 0 60000 65536"/>
              <a:gd name="T5" fmla="*/ 0 60000 65536"/>
              <a:gd name="T6" fmla="*/ 0 w 1"/>
              <a:gd name="T7" fmla="*/ 0 h 125"/>
              <a:gd name="T8" fmla="*/ 1 w 1"/>
              <a:gd name="T9" fmla="*/ 125 h 12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" h="125">
                <a:moveTo>
                  <a:pt x="0" y="0"/>
                </a:moveTo>
                <a:lnTo>
                  <a:pt x="1" y="125"/>
                </a:lnTo>
              </a:path>
            </a:pathLst>
          </a:custGeom>
          <a:noFill/>
          <a:ln w="28575">
            <a:solidFill>
              <a:schemeClr val="accent2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31" name="Line 26"/>
          <p:cNvSpPr>
            <a:spLocks noChangeShapeType="1"/>
          </p:cNvSpPr>
          <p:nvPr/>
        </p:nvSpPr>
        <p:spPr bwMode="gray">
          <a:xfrm>
            <a:off x="4335463" y="2479547"/>
            <a:ext cx="1878012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33" name="Line 29"/>
          <p:cNvSpPr>
            <a:spLocks noChangeShapeType="1"/>
          </p:cNvSpPr>
          <p:nvPr/>
        </p:nvSpPr>
        <p:spPr bwMode="gray">
          <a:xfrm>
            <a:off x="4019550" y="4074984"/>
            <a:ext cx="415925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35" name="Line 30"/>
          <p:cNvSpPr>
            <a:spLocks noChangeShapeType="1"/>
          </p:cNvSpPr>
          <p:nvPr/>
        </p:nvSpPr>
        <p:spPr bwMode="gray">
          <a:xfrm>
            <a:off x="4021138" y="4248022"/>
            <a:ext cx="414337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37" name="Freeform 32"/>
          <p:cNvSpPr/>
          <p:nvPr/>
        </p:nvSpPr>
        <p:spPr bwMode="gray">
          <a:xfrm>
            <a:off x="4435475" y="4090859"/>
            <a:ext cx="1588" cy="166688"/>
          </a:xfrm>
          <a:custGeom>
            <a:avLst/>
            <a:gdLst>
              <a:gd name="T0" fmla="*/ 0 w 1"/>
              <a:gd name="T1" fmla="*/ 0 h 105"/>
              <a:gd name="T2" fmla="*/ 0 w 1"/>
              <a:gd name="T3" fmla="*/ 2147483647 h 105"/>
              <a:gd name="T4" fmla="*/ 0 60000 65536"/>
              <a:gd name="T5" fmla="*/ 0 60000 65536"/>
              <a:gd name="T6" fmla="*/ 0 w 1"/>
              <a:gd name="T7" fmla="*/ 0 h 105"/>
              <a:gd name="T8" fmla="*/ 1 w 1"/>
              <a:gd name="T9" fmla="*/ 105 h 10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" h="105">
                <a:moveTo>
                  <a:pt x="0" y="0"/>
                </a:moveTo>
                <a:lnTo>
                  <a:pt x="0" y="105"/>
                </a:lnTo>
              </a:path>
            </a:pathLst>
          </a:custGeom>
          <a:noFill/>
          <a:ln w="28575">
            <a:solidFill>
              <a:schemeClr val="accent2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39" name="Freeform 34"/>
          <p:cNvSpPr/>
          <p:nvPr/>
        </p:nvSpPr>
        <p:spPr bwMode="gray">
          <a:xfrm>
            <a:off x="4437063" y="2884359"/>
            <a:ext cx="1587" cy="1230313"/>
          </a:xfrm>
          <a:custGeom>
            <a:avLst/>
            <a:gdLst>
              <a:gd name="T0" fmla="*/ 0 w 1"/>
              <a:gd name="T1" fmla="*/ 2147483647 h 775"/>
              <a:gd name="T2" fmla="*/ 0 w 1"/>
              <a:gd name="T3" fmla="*/ 0 h 775"/>
              <a:gd name="T4" fmla="*/ 0 60000 65536"/>
              <a:gd name="T5" fmla="*/ 0 60000 65536"/>
              <a:gd name="T6" fmla="*/ 0 w 1"/>
              <a:gd name="T7" fmla="*/ 0 h 775"/>
              <a:gd name="T8" fmla="*/ 1 w 1"/>
              <a:gd name="T9" fmla="*/ 775 h 77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" h="775">
                <a:moveTo>
                  <a:pt x="0" y="775"/>
                </a:moveTo>
                <a:lnTo>
                  <a:pt x="0" y="0"/>
                </a:lnTo>
              </a:path>
            </a:pathLst>
          </a:custGeom>
          <a:noFill/>
          <a:ln w="28575">
            <a:solidFill>
              <a:schemeClr val="accent2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41" name="Freeform 35"/>
          <p:cNvSpPr/>
          <p:nvPr/>
        </p:nvSpPr>
        <p:spPr bwMode="gray">
          <a:xfrm>
            <a:off x="4437063" y="2884359"/>
            <a:ext cx="1744662" cy="1588"/>
          </a:xfrm>
          <a:custGeom>
            <a:avLst/>
            <a:gdLst>
              <a:gd name="T0" fmla="*/ 0 w 1099"/>
              <a:gd name="T1" fmla="*/ 2147483647 h 1"/>
              <a:gd name="T2" fmla="*/ 2147483647 w 1099"/>
              <a:gd name="T3" fmla="*/ 0 h 1"/>
              <a:gd name="T4" fmla="*/ 0 60000 65536"/>
              <a:gd name="T5" fmla="*/ 0 60000 65536"/>
              <a:gd name="T6" fmla="*/ 0 w 1099"/>
              <a:gd name="T7" fmla="*/ 0 h 1"/>
              <a:gd name="T8" fmla="*/ 1099 w 1099"/>
              <a:gd name="T9" fmla="*/ 1 h 1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099" h="1">
                <a:moveTo>
                  <a:pt x="0" y="1"/>
                </a:moveTo>
                <a:lnTo>
                  <a:pt x="1099" y="0"/>
                </a:lnTo>
              </a:path>
            </a:pathLst>
          </a:custGeom>
          <a:noFill/>
          <a:ln w="28575">
            <a:solidFill>
              <a:schemeClr val="accent2"/>
            </a:solidFill>
            <a:round/>
            <a:headEnd type="none" w="sm" len="sm"/>
            <a:tailEnd type="triangl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altLang="ru-RU" sz="3200" dirty="0" smtClean="0"/>
              <a:t>Создание объединений с оператором ON</a:t>
            </a:r>
            <a:endParaRPr lang="ru-RU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ru-RU" altLang="ru-RU" dirty="0" smtClean="0"/>
              <a:t>Условие соединения для естественного соединения в основном представляет собой эквисоединение всех столбцов с одинаковым именем.</a:t>
            </a:r>
            <a:endParaRPr lang="ru-RU" altLang="ru-RU" dirty="0" smtClean="0"/>
          </a:p>
          <a:p>
            <a:pPr lvl="1"/>
            <a:r>
              <a:rPr lang="ru-RU" altLang="ru-RU" dirty="0" smtClean="0"/>
              <a:t>Используйте оператор ON, чтобы указать произвольные условия или указать столбцы для соединения.</a:t>
            </a:r>
            <a:endParaRPr lang="ru-RU" altLang="ru-RU" dirty="0" smtClean="0"/>
          </a:p>
          <a:p>
            <a:pPr lvl="1"/>
            <a:r>
              <a:rPr lang="ru-RU" altLang="ru-RU" dirty="0" smtClean="0"/>
              <a:t>Условие соединения отделено от других условий поиска.</a:t>
            </a:r>
            <a:endParaRPr lang="ru-RU" altLang="ru-RU" dirty="0" smtClean="0"/>
          </a:p>
          <a:p>
            <a:pPr lvl="1"/>
            <a:r>
              <a:rPr lang="ru-RU" altLang="ru-RU" dirty="0" smtClean="0"/>
              <a:t>Оператор ON упрощает понимание кода.</a:t>
            </a:r>
            <a:endParaRPr lang="ru-RU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altLang="ru-RU" sz="3600" dirty="0" smtClean="0"/>
              <a:t>Извлечение записей с помощью оператора ON</a:t>
            </a:r>
            <a:endParaRPr lang="ru-RU" sz="3600" dirty="0"/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blackGray">
          <a:xfrm>
            <a:off x="866775" y="1911351"/>
            <a:ext cx="7286625" cy="207576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select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emp.first_name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emp.last_name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dept.department_name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from employees as emp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join departments as dept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on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emp.department_id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dept.department_id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6775" y="4235117"/>
            <a:ext cx="5353797" cy="245779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3969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14960">
              <a:lnSpc>
                <a:spcPct val="100000"/>
              </a:lnSpc>
              <a:spcBef>
                <a:spcPts val="95"/>
              </a:spcBef>
            </a:pPr>
            <a:r>
              <a:rPr sz="2500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Inner</a:t>
            </a:r>
            <a:r>
              <a:rPr sz="2500" spc="-80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500" spc="-20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Join</a:t>
            </a:r>
            <a:endParaRPr sz="25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860726" y="920079"/>
            <a:ext cx="5795651" cy="44584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036558" y="6568857"/>
            <a:ext cx="67945" cy="225062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600" spc="-50" dirty="0">
                <a:solidFill>
                  <a:srgbClr val="878787"/>
                </a:solidFill>
                <a:latin typeface="Arial MT"/>
                <a:cs typeface="Arial MT"/>
              </a:rPr>
              <a:t>7</a:t>
            </a:r>
            <a:endParaRPr sz="6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600" spc="-50" dirty="0">
                <a:solidFill>
                  <a:srgbClr val="878787"/>
                </a:solidFill>
                <a:latin typeface="Arial MT"/>
                <a:cs typeface="Arial MT"/>
              </a:rPr>
              <a:t>5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86003" y="5785577"/>
            <a:ext cx="6970378" cy="2713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000"/>
              </a:lnSpc>
              <a:spcBef>
                <a:spcPts val="100"/>
              </a:spcBef>
            </a:pPr>
            <a:r>
              <a:rPr sz="1400" b="1" u="sng" spc="-10" dirty="0">
                <a:solidFill>
                  <a:srgbClr val="EF6192"/>
                </a:solidFill>
                <a:uFill>
                  <a:solidFill>
                    <a:srgbClr val="EF6192"/>
                  </a:solidFill>
                </a:uFill>
                <a:latin typeface="Roboto Bk"/>
                <a:cs typeface="Roboto Bk"/>
                <a:hlinkClick r:id="rId2"/>
              </a:rPr>
              <a:t>https://www.db-</a:t>
            </a:r>
            <a:r>
              <a:rPr sz="1400" b="1" spc="-10" dirty="0">
                <a:solidFill>
                  <a:srgbClr val="EF6192"/>
                </a:solidFill>
                <a:latin typeface="Roboto Bk"/>
                <a:cs typeface="Roboto Bk"/>
                <a:hlinkClick r:id="rId2"/>
              </a:rPr>
              <a:t> </a:t>
            </a:r>
            <a:r>
              <a:rPr sz="1400" b="1" u="sng" spc="-10" dirty="0">
                <a:solidFill>
                  <a:srgbClr val="EF6192"/>
                </a:solidFill>
                <a:uFill>
                  <a:solidFill>
                    <a:srgbClr val="EF6192"/>
                  </a:solidFill>
                </a:uFill>
                <a:latin typeface="Roboto Bk"/>
                <a:cs typeface="Roboto Bk"/>
                <a:hlinkClick r:id="rId2"/>
              </a:rPr>
              <a:t>fiddle.com/f/fUfQvv8QaXG5wdMW</a:t>
            </a:r>
            <a:r>
              <a:rPr sz="1400" b="1" spc="-10" dirty="0">
                <a:solidFill>
                  <a:srgbClr val="EF6192"/>
                </a:solidFill>
                <a:latin typeface="Roboto Bk"/>
                <a:cs typeface="Roboto Bk"/>
                <a:hlinkClick r:id="rId2"/>
              </a:rPr>
              <a:t> </a:t>
            </a:r>
            <a:r>
              <a:rPr sz="1400" b="1" u="sng" spc="-10" dirty="0">
                <a:solidFill>
                  <a:srgbClr val="EF6192"/>
                </a:solidFill>
                <a:uFill>
                  <a:solidFill>
                    <a:srgbClr val="EF6192"/>
                  </a:solidFill>
                </a:uFill>
                <a:latin typeface="Roboto Bk"/>
                <a:cs typeface="Roboto Bk"/>
                <a:hlinkClick r:id="rId2"/>
              </a:rPr>
              <a:t>r9zzbA/5</a:t>
            </a:r>
            <a:endParaRPr sz="1400">
              <a:latin typeface="Roboto Bk"/>
              <a:cs typeface="Roboto Bk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altLang="ru-RU" sz="3600" dirty="0" smtClean="0"/>
              <a:t>Создание трехсторонних соединений с помощью оператора ON</a:t>
            </a:r>
            <a:endParaRPr lang="ru-RU" sz="3600" dirty="0"/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blackGray">
          <a:xfrm>
            <a:off x="866775" y="1857375"/>
            <a:ext cx="7286625" cy="282290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ru-RU" dirty="0">
                <a:latin typeface="Courier New" panose="02070309020205020404" pitchFamily="49" charset="0"/>
              </a:rPr>
              <a:t>select</a:t>
            </a:r>
            <a:endParaRPr lang="en-US" altLang="ru-RU" dirty="0"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latin typeface="Courier New" panose="02070309020205020404" pitchFamily="49" charset="0"/>
              </a:rPr>
              <a:t>    </a:t>
            </a:r>
            <a:r>
              <a:rPr lang="en-US" altLang="ru-RU" dirty="0" err="1">
                <a:latin typeface="Courier New" panose="02070309020205020404" pitchFamily="49" charset="0"/>
              </a:rPr>
              <a:t>emp.first_name</a:t>
            </a:r>
            <a:endParaRPr lang="en-US" altLang="ru-RU" dirty="0"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latin typeface="Courier New" panose="02070309020205020404" pitchFamily="49" charset="0"/>
              </a:rPr>
              <a:t>emp.last_name</a:t>
            </a:r>
            <a:endParaRPr lang="en-US" altLang="ru-RU" dirty="0"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latin typeface="Courier New" panose="02070309020205020404" pitchFamily="49" charset="0"/>
              </a:rPr>
              <a:t>dept.department_name</a:t>
            </a:r>
            <a:endParaRPr lang="en-US" altLang="ru-RU" dirty="0"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latin typeface="Courier New" panose="02070309020205020404" pitchFamily="49" charset="0"/>
              </a:rPr>
              <a:t>loc.city</a:t>
            </a:r>
            <a:endParaRPr lang="en-US" altLang="ru-RU" dirty="0"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latin typeface="Courier New" panose="02070309020205020404" pitchFamily="49" charset="0"/>
              </a:rPr>
              <a:t>from employees as emp</a:t>
            </a:r>
            <a:endParaRPr lang="en-US" altLang="ru-RU" dirty="0"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latin typeface="Courier New" panose="02070309020205020404" pitchFamily="49" charset="0"/>
              </a:rPr>
              <a:t>join departments as dept</a:t>
            </a:r>
            <a:endParaRPr lang="en-US" altLang="ru-RU" dirty="0"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latin typeface="Courier New" panose="02070309020205020404" pitchFamily="49" charset="0"/>
              </a:rPr>
              <a:t>on </a:t>
            </a:r>
            <a:r>
              <a:rPr lang="en-US" altLang="ru-RU" dirty="0" err="1">
                <a:latin typeface="Courier New" panose="02070309020205020404" pitchFamily="49" charset="0"/>
              </a:rPr>
              <a:t>emp.department_id</a:t>
            </a:r>
            <a:r>
              <a:rPr lang="en-US" altLang="ru-RU" dirty="0">
                <a:latin typeface="Courier New" panose="02070309020205020404" pitchFamily="49" charset="0"/>
              </a:rPr>
              <a:t> = </a:t>
            </a:r>
            <a:r>
              <a:rPr lang="en-US" altLang="ru-RU" dirty="0" err="1">
                <a:latin typeface="Courier New" panose="02070309020205020404" pitchFamily="49" charset="0"/>
              </a:rPr>
              <a:t>dept.department_id</a:t>
            </a:r>
            <a:endParaRPr lang="en-US" altLang="ru-RU" dirty="0"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latin typeface="Courier New" panose="02070309020205020404" pitchFamily="49" charset="0"/>
              </a:rPr>
              <a:t>join locations as loc</a:t>
            </a:r>
            <a:endParaRPr lang="en-US" altLang="ru-RU" dirty="0"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latin typeface="Courier New" panose="02070309020205020404" pitchFamily="49" charset="0"/>
              </a:rPr>
              <a:t>on </a:t>
            </a:r>
            <a:r>
              <a:rPr lang="en-US" altLang="ru-RU" dirty="0" err="1">
                <a:latin typeface="Courier New" panose="02070309020205020404" pitchFamily="49" charset="0"/>
              </a:rPr>
              <a:t>dept.location_id</a:t>
            </a:r>
            <a:r>
              <a:rPr lang="en-US" altLang="ru-RU" dirty="0">
                <a:latin typeface="Courier New" panose="02070309020205020404" pitchFamily="49" charset="0"/>
              </a:rPr>
              <a:t> = </a:t>
            </a:r>
            <a:r>
              <a:rPr lang="en-US" altLang="ru-RU" dirty="0" err="1">
                <a:latin typeface="Courier New" panose="02070309020205020404" pitchFamily="49" charset="0"/>
              </a:rPr>
              <a:t>loc.location_id</a:t>
            </a:r>
            <a:r>
              <a:rPr lang="en-US" altLang="ru-RU" dirty="0">
                <a:latin typeface="Courier New" panose="02070309020205020404" pitchFamily="49" charset="0"/>
              </a:rPr>
              <a:t>;</a:t>
            </a:r>
            <a:endParaRPr lang="en-US" altLang="ru-RU" dirty="0">
              <a:latin typeface="Courier New" panose="02070309020205020404" pitchFamily="49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1"/>
          <a:srcRect b="48178"/>
          <a:stretch>
            <a:fillRect/>
          </a:stretch>
        </p:blipFill>
        <p:spPr>
          <a:xfrm>
            <a:off x="866775" y="4846970"/>
            <a:ext cx="6982799" cy="150570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altLang="ru-RU" sz="3200" dirty="0" smtClean="0"/>
              <a:t>Применение дополнительных условий к соединению</a:t>
            </a:r>
            <a:endParaRPr lang="ru-RU" sz="3200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47125" y="1913571"/>
            <a:ext cx="7918450" cy="49453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altLang="ru-RU" sz="2000" dirty="0" smtClean="0"/>
              <a:t>Используйте оператор AND или оператор WHERE для применения дополнительных условий:</a:t>
            </a:r>
            <a:endParaRPr lang="en-US" altLang="ru-RU" sz="2000" dirty="0"/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blackGray">
          <a:xfrm>
            <a:off x="990600" y="2526957"/>
            <a:ext cx="7286625" cy="339258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select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emp.employee_id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emp.first_name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emp.last_name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dept.department_name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loc.city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from employees as emp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join departments as dept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on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emp.department_id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dept.department_id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join locations as loc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on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dept.location_id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loc.location_id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and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emp.employee_id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= 200;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ChangeArrowheads="1"/>
          </p:cNvSpPr>
          <p:nvPr/>
        </p:nvSpPr>
        <p:spPr bwMode="blackGray">
          <a:xfrm>
            <a:off x="990600" y="2526957"/>
            <a:ext cx="7286625" cy="372946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select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emp.employee_id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emp.first_name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emp.last_name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dept.department_name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loc.city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from employees as emp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join departments as dept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on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emp.department_id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dept.department_id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join locations as loc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on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dept.location_id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loc.location_id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where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emp.employee_id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= 200;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</p:spPr>
        <p:txBody>
          <a:bodyPr>
            <a:normAutofit/>
          </a:bodyPr>
          <a:lstStyle/>
          <a:p>
            <a:r>
              <a:rPr lang="ru-RU" altLang="ru-RU" sz="3200" dirty="0" smtClean="0"/>
              <a:t>Применение дополнительных условий к соединению</a:t>
            </a:r>
            <a:endParaRPr lang="ru-RU" sz="3200" dirty="0"/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547125" y="1913571"/>
            <a:ext cx="7918450" cy="49453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altLang="ru-RU" sz="2000" dirty="0" smtClean="0"/>
              <a:t>Используйте оператор AND или оператор WHERE для применения дополнительных условий:</a:t>
            </a:r>
            <a:endParaRPr lang="en-US" altLang="ru-RU" sz="2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altLang="ru-RU" sz="3600" dirty="0" smtClean="0"/>
              <a:t>Соединение таблицы самой с собой</a:t>
            </a:r>
            <a:endParaRPr lang="ru-RU" sz="3600" dirty="0"/>
          </a:p>
        </p:txBody>
      </p:sp>
      <p:sp>
        <p:nvSpPr>
          <p:cNvPr id="5" name="Rectangle 3"/>
          <p:cNvSpPr>
            <a:spLocks noChangeArrowheads="1"/>
          </p:cNvSpPr>
          <p:nvPr/>
        </p:nvSpPr>
        <p:spPr bwMode="auto">
          <a:xfrm>
            <a:off x="1195388" y="5576888"/>
            <a:ext cx="6686550" cy="7085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>
            <a:spAutoFit/>
          </a:bodyPr>
          <a:lstStyle>
            <a:lvl1pPr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  <a:buClrTx/>
              <a:buFontTx/>
              <a:buNone/>
            </a:pPr>
            <a:r>
              <a:rPr lang="en-US" altLang="ru-RU" sz="2000" dirty="0">
                <a:latin typeface="Courier New" panose="02070309020205020404" pitchFamily="49" charset="0"/>
              </a:rPr>
              <a:t>MANAGER_ID</a:t>
            </a:r>
            <a:r>
              <a:rPr lang="en-US" altLang="ru-RU" sz="2000" dirty="0"/>
              <a:t> </a:t>
            </a:r>
            <a:r>
              <a:rPr lang="ru-RU" altLang="ru-RU" sz="2000" dirty="0" smtClean="0"/>
              <a:t>в таблице </a:t>
            </a:r>
            <a:r>
              <a:rPr lang="en-US" altLang="ru-RU" sz="2000" dirty="0" smtClean="0">
                <a:latin typeface="Courier New" panose="02070309020205020404" pitchFamily="49" charset="0"/>
              </a:rPr>
              <a:t>WORKER</a:t>
            </a:r>
            <a:r>
              <a:rPr lang="en-US" altLang="ru-RU" sz="2000" dirty="0" smtClean="0"/>
              <a:t> table </a:t>
            </a:r>
            <a:r>
              <a:rPr lang="ru-RU" altLang="ru-RU" sz="2000" dirty="0" smtClean="0"/>
              <a:t>– это </a:t>
            </a:r>
            <a:r>
              <a:rPr lang="en-US" altLang="ru-RU" sz="2000" dirty="0" smtClean="0">
                <a:latin typeface="Courier New" panose="02070309020205020404" pitchFamily="49" charset="0"/>
              </a:rPr>
              <a:t>EMPLOYEE_ID</a:t>
            </a:r>
            <a:r>
              <a:rPr lang="en-US" altLang="ru-RU" sz="2000" dirty="0" smtClean="0"/>
              <a:t> </a:t>
            </a:r>
            <a:r>
              <a:rPr lang="ru-RU" altLang="ru-RU" sz="2000" dirty="0" smtClean="0"/>
              <a:t>в таблице </a:t>
            </a:r>
            <a:r>
              <a:rPr lang="en-US" altLang="ru-RU" sz="2000" dirty="0" smtClean="0">
                <a:latin typeface="Courier New" panose="02070309020205020404" pitchFamily="49" charset="0"/>
              </a:rPr>
              <a:t>MANAGER</a:t>
            </a:r>
            <a:r>
              <a:rPr lang="en-US" altLang="ru-RU" sz="2000" dirty="0" smtClean="0"/>
              <a:t>.</a:t>
            </a:r>
            <a:endParaRPr lang="en-US" altLang="ru-RU" sz="2000" dirty="0"/>
          </a:p>
        </p:txBody>
      </p:sp>
      <p:sp>
        <p:nvSpPr>
          <p:cNvPr id="7" name="Freeform 4"/>
          <p:cNvSpPr/>
          <p:nvPr/>
        </p:nvSpPr>
        <p:spPr bwMode="auto">
          <a:xfrm>
            <a:off x="4133850" y="4756150"/>
            <a:ext cx="1560513" cy="377825"/>
          </a:xfrm>
          <a:custGeom>
            <a:avLst/>
            <a:gdLst>
              <a:gd name="T0" fmla="*/ 0 w 946"/>
              <a:gd name="T1" fmla="*/ 2147483647 h 378"/>
              <a:gd name="T2" fmla="*/ 0 w 946"/>
              <a:gd name="T3" fmla="*/ 2147483647 h 378"/>
              <a:gd name="T4" fmla="*/ 2147483647 w 946"/>
              <a:gd name="T5" fmla="*/ 2147483647 h 378"/>
              <a:gd name="T6" fmla="*/ 2147483647 w 946"/>
              <a:gd name="T7" fmla="*/ 0 h 378"/>
              <a:gd name="T8" fmla="*/ 0 60000 65536"/>
              <a:gd name="T9" fmla="*/ 0 60000 65536"/>
              <a:gd name="T10" fmla="*/ 0 60000 65536"/>
              <a:gd name="T11" fmla="*/ 0 60000 65536"/>
              <a:gd name="T12" fmla="*/ 0 w 946"/>
              <a:gd name="T13" fmla="*/ 0 h 378"/>
              <a:gd name="T14" fmla="*/ 946 w 946"/>
              <a:gd name="T15" fmla="*/ 378 h 378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946" h="378">
                <a:moveTo>
                  <a:pt x="0" y="9"/>
                </a:moveTo>
                <a:lnTo>
                  <a:pt x="0" y="377"/>
                </a:lnTo>
                <a:lnTo>
                  <a:pt x="945" y="377"/>
                </a:lnTo>
                <a:lnTo>
                  <a:pt x="945" y="0"/>
                </a:lnTo>
              </a:path>
            </a:pathLst>
          </a:custGeom>
          <a:noFill/>
          <a:ln w="28575" cap="rnd" cmpd="sng">
            <a:solidFill>
              <a:schemeClr val="tx1"/>
            </a:solidFill>
            <a:prstDash val="solid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9" name="Line 5"/>
          <p:cNvSpPr>
            <a:spLocks noChangeShapeType="1"/>
          </p:cNvSpPr>
          <p:nvPr/>
        </p:nvSpPr>
        <p:spPr bwMode="auto">
          <a:xfrm>
            <a:off x="4865688" y="5126038"/>
            <a:ext cx="0" cy="40005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1" name="Rectangle 6"/>
          <p:cNvSpPr>
            <a:spLocks noChangeArrowheads="1"/>
          </p:cNvSpPr>
          <p:nvPr/>
        </p:nvSpPr>
        <p:spPr bwMode="auto">
          <a:xfrm>
            <a:off x="884238" y="1824038"/>
            <a:ext cx="29273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ru-RU" sz="2000">
                <a:latin typeface="Courier New" panose="02070309020205020404" pitchFamily="49" charset="0"/>
              </a:rPr>
              <a:t>EMPLOYEES (WORKER)</a:t>
            </a:r>
            <a:endParaRPr lang="en-US" altLang="ru-RU" sz="2000">
              <a:latin typeface="Courier New" panose="02070309020205020404" pitchFamily="49" charset="0"/>
            </a:endParaRPr>
          </a:p>
        </p:txBody>
      </p:sp>
      <p:sp>
        <p:nvSpPr>
          <p:cNvPr id="13" name="Rectangle 7"/>
          <p:cNvSpPr>
            <a:spLocks noChangeArrowheads="1"/>
          </p:cNvSpPr>
          <p:nvPr/>
        </p:nvSpPr>
        <p:spPr bwMode="auto">
          <a:xfrm>
            <a:off x="4994275" y="1824038"/>
            <a:ext cx="30797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ru-RU" sz="2000">
                <a:latin typeface="Courier New" panose="02070309020205020404" pitchFamily="49" charset="0"/>
              </a:rPr>
              <a:t>EMPLOYEES (MANAGER)</a:t>
            </a:r>
            <a:endParaRPr lang="en-US" altLang="ru-RU" sz="2000">
              <a:latin typeface="Courier New" panose="02070309020205020404" pitchFamily="49" charset="0"/>
            </a:endParaRPr>
          </a:p>
        </p:txBody>
      </p:sp>
      <p:sp>
        <p:nvSpPr>
          <p:cNvPr id="15" name="Text Box 10"/>
          <p:cNvSpPr txBox="1">
            <a:spLocks noChangeArrowheads="1"/>
          </p:cNvSpPr>
          <p:nvPr/>
        </p:nvSpPr>
        <p:spPr bwMode="auto">
          <a:xfrm>
            <a:off x="1052513" y="4648200"/>
            <a:ext cx="366712" cy="390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lIns="12700" tIns="12700" rIns="12700" bIns="12700">
            <a:spAutoFit/>
          </a:bodyPr>
          <a:lstStyle>
            <a:lvl1pPr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ru-RU" sz="2400"/>
              <a:t>…</a:t>
            </a:r>
            <a:endParaRPr lang="en-US" altLang="ru-RU" sz="2400"/>
          </a:p>
        </p:txBody>
      </p:sp>
      <p:sp>
        <p:nvSpPr>
          <p:cNvPr id="17" name="Text Box 11"/>
          <p:cNvSpPr txBox="1">
            <a:spLocks noChangeArrowheads="1"/>
          </p:cNvSpPr>
          <p:nvPr/>
        </p:nvSpPr>
        <p:spPr bwMode="auto">
          <a:xfrm>
            <a:off x="5210175" y="4625975"/>
            <a:ext cx="366713" cy="390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lIns="12700" tIns="12700" rIns="12700" bIns="12700">
            <a:spAutoFit/>
          </a:bodyPr>
          <a:lstStyle>
            <a:lvl1pPr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ru-RU" sz="2400"/>
              <a:t>…</a:t>
            </a:r>
            <a:endParaRPr lang="en-US" altLang="ru-RU" sz="2400"/>
          </a:p>
        </p:txBody>
      </p:sp>
      <p:pic>
        <p:nvPicPr>
          <p:cNvPr id="19" name="Picture 15" descr="C:\salome_official\projects\11gR2\screenshots\les6_20s_a.gif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138" y="2255838"/>
            <a:ext cx="3292475" cy="25146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16" descr="C:\salome_official\projects\11gR2\screenshots\les6_20s_b.gif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5575" y="2244725"/>
            <a:ext cx="2182813" cy="25146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altLang="ru-RU" sz="3600" dirty="0" smtClean="0"/>
              <a:t>Само-</a:t>
            </a:r>
            <a:r>
              <a:rPr lang="en-US" altLang="ru-RU" sz="3600" dirty="0" smtClean="0"/>
              <a:t>c</a:t>
            </a:r>
            <a:r>
              <a:rPr lang="ru-RU" altLang="ru-RU" sz="3600" dirty="0" err="1" smtClean="0"/>
              <a:t>оединение</a:t>
            </a:r>
            <a:r>
              <a:rPr lang="ru-RU" altLang="ru-RU" sz="3600" dirty="0" smtClean="0"/>
              <a:t> с применением оператора </a:t>
            </a:r>
            <a:r>
              <a:rPr lang="en-US" altLang="ru-RU" sz="3600" dirty="0" smtClean="0"/>
              <a:t>ON</a:t>
            </a:r>
            <a:endParaRPr lang="ru-RU" sz="3600" dirty="0"/>
          </a:p>
        </p:txBody>
      </p:sp>
      <p:sp>
        <p:nvSpPr>
          <p:cNvPr id="5" name="Rectangle 3"/>
          <p:cNvSpPr>
            <a:spLocks noChangeArrowheads="1"/>
          </p:cNvSpPr>
          <p:nvPr/>
        </p:nvSpPr>
        <p:spPr bwMode="blackGray">
          <a:xfrm>
            <a:off x="866775" y="1790700"/>
            <a:ext cx="7286625" cy="228800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SzPct val="100000"/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select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eaLnBrk="1" hangingPunct="1">
              <a:spcBef>
                <a:spcPct val="0"/>
              </a:spcBef>
              <a:buSzPct val="100000"/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emp.first_name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eaLnBrk="1" hangingPunct="1">
              <a:spcBef>
                <a:spcPct val="0"/>
              </a:spcBef>
              <a:buSzPct val="100000"/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emp.last_name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eaLnBrk="1" hangingPunct="1">
              <a:spcBef>
                <a:spcPct val="0"/>
              </a:spcBef>
              <a:buSzPct val="100000"/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mgr.first_name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eaLnBrk="1" hangingPunct="1">
              <a:spcBef>
                <a:spcPct val="0"/>
              </a:spcBef>
              <a:buSzPct val="100000"/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mgr.last_name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eaLnBrk="1" hangingPunct="1">
              <a:spcBef>
                <a:spcPct val="0"/>
              </a:spcBef>
              <a:buSzPct val="100000"/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from employees as emp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eaLnBrk="1" hangingPunct="1">
              <a:spcBef>
                <a:spcPct val="0"/>
              </a:spcBef>
              <a:buSzPct val="100000"/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left join employees as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mgr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eaLnBrk="1" hangingPunct="1">
              <a:spcBef>
                <a:spcPct val="0"/>
              </a:spcBef>
              <a:buSzPct val="100000"/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  on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emp.manager_id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mgr.employee_id</a:t>
            </a: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Неравнозначные соединения</a:t>
            </a:r>
            <a:endParaRPr lang="ru-RU" dirty="0"/>
          </a:p>
        </p:txBody>
      </p:sp>
      <p:pic>
        <p:nvPicPr>
          <p:cNvPr id="5" name="Picture 20" descr="C:\salome_official\projects\11gR2\screenshots\les6_23s_b.gif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538" y="2563813"/>
            <a:ext cx="2343150" cy="25146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9" descr="C:\salome_official\projects\11gR2\screenshots\les6_23s_a.gif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0888" y="2571750"/>
            <a:ext cx="3578225" cy="1589088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4"/>
          <p:cNvSpPr>
            <a:spLocks noChangeArrowheads="1"/>
          </p:cNvSpPr>
          <p:nvPr/>
        </p:nvSpPr>
        <p:spPr bwMode="auto">
          <a:xfrm>
            <a:off x="795338" y="1830388"/>
            <a:ext cx="15557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ru-RU" sz="2000">
                <a:latin typeface="Courier New" panose="02070309020205020404" pitchFamily="49" charset="0"/>
              </a:rPr>
              <a:t>EMPLOYEES</a:t>
            </a:r>
            <a:endParaRPr lang="en-US" altLang="ru-RU" sz="2000">
              <a:latin typeface="Courier New" panose="02070309020205020404" pitchFamily="49" charset="0"/>
            </a:endParaRPr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5105400" y="1828800"/>
            <a:ext cx="801501" cy="400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ru-RU" sz="2000" dirty="0">
                <a:latin typeface="Courier New" panose="02070309020205020404" pitchFamily="49" charset="0"/>
              </a:rPr>
              <a:t>JOBS</a:t>
            </a:r>
            <a:endParaRPr lang="en-US" altLang="ru-RU" sz="2000" dirty="0">
              <a:latin typeface="Courier New" panose="02070309020205020404" pitchFamily="49" charset="0"/>
            </a:endParaRPr>
          </a:p>
        </p:txBody>
      </p:sp>
      <p:sp>
        <p:nvSpPr>
          <p:cNvPr id="13" name="Rectangle 6"/>
          <p:cNvSpPr>
            <a:spLocks noChangeArrowheads="1"/>
          </p:cNvSpPr>
          <p:nvPr/>
        </p:nvSpPr>
        <p:spPr bwMode="gray">
          <a:xfrm>
            <a:off x="5907088" y="2566988"/>
            <a:ext cx="2224087" cy="1582737"/>
          </a:xfrm>
          <a:prstGeom prst="rect">
            <a:avLst/>
          </a:prstGeom>
          <a:noFill/>
          <a:ln w="28575">
            <a:solidFill>
              <a:schemeClr val="accent2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IN" altLang="ru-RU"/>
          </a:p>
        </p:txBody>
      </p:sp>
      <p:sp>
        <p:nvSpPr>
          <p:cNvPr id="15" name="Text Box 12"/>
          <p:cNvSpPr txBox="1">
            <a:spLocks noChangeArrowheads="1"/>
          </p:cNvSpPr>
          <p:nvPr/>
        </p:nvSpPr>
        <p:spPr bwMode="auto">
          <a:xfrm>
            <a:off x="935038" y="4913313"/>
            <a:ext cx="366712" cy="390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lIns="12700" tIns="12700" rIns="12700" bIns="12700">
            <a:spAutoFit/>
          </a:bodyPr>
          <a:lstStyle>
            <a:lvl1pPr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ru-RU" sz="2400"/>
              <a:t>…</a:t>
            </a:r>
            <a:endParaRPr lang="en-US" altLang="ru-RU" sz="2400"/>
          </a:p>
        </p:txBody>
      </p:sp>
      <p:sp>
        <p:nvSpPr>
          <p:cNvPr id="17" name="Line 17"/>
          <p:cNvSpPr>
            <a:spLocks noChangeShapeType="1"/>
          </p:cNvSpPr>
          <p:nvPr/>
        </p:nvSpPr>
        <p:spPr bwMode="gray">
          <a:xfrm>
            <a:off x="3352800" y="3352800"/>
            <a:ext cx="1371600" cy="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9" name="Text Box 18"/>
          <p:cNvSpPr txBox="1">
            <a:spLocks noChangeArrowheads="1"/>
          </p:cNvSpPr>
          <p:nvPr/>
        </p:nvSpPr>
        <p:spPr bwMode="auto">
          <a:xfrm>
            <a:off x="4449417" y="4499113"/>
            <a:ext cx="4041440" cy="11695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8575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 wrap="square">
            <a:spAutoFit/>
          </a:bodyPr>
          <a:lstStyle>
            <a:lvl1pPr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ts val="600"/>
              </a:spcBef>
              <a:spcAft>
                <a:spcPts val="600"/>
              </a:spcAft>
            </a:pPr>
            <a:r>
              <a:rPr lang="ru-RU" altLang="ru-RU" sz="1400" dirty="0" smtClean="0"/>
              <a:t>Таблица JOBS определяет диапазон значений LOWEST_SAL и HIGHEST_SAL для каждого GRADE_LEVEL. Таким образом, столбец GRADE_LEVEL можно использовать для назначения оценок каждому сотруднику.</a:t>
            </a:r>
            <a:endParaRPr lang="en-US" altLang="ru-RU" sz="1400" dirty="0"/>
          </a:p>
        </p:txBody>
      </p:sp>
      <p:pic>
        <p:nvPicPr>
          <p:cNvPr id="21" name="Picture 21" descr="C:\salome_official\projects\11gR2\screenshots\les6_23s_c.gif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538" y="5322888"/>
            <a:ext cx="2343150" cy="4572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angle 11"/>
          <p:cNvSpPr>
            <a:spLocks noChangeArrowheads="1"/>
          </p:cNvSpPr>
          <p:nvPr/>
        </p:nvSpPr>
        <p:spPr bwMode="gray">
          <a:xfrm>
            <a:off x="2530475" y="2555875"/>
            <a:ext cx="811213" cy="3227388"/>
          </a:xfrm>
          <a:prstGeom prst="rect">
            <a:avLst/>
          </a:prstGeom>
          <a:noFill/>
          <a:ln w="28575">
            <a:solidFill>
              <a:schemeClr val="accent2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IN" altLang="ru-RU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2800" dirty="0" smtClean="0"/>
              <a:t>Неравнозначные соединения</a:t>
            </a:r>
            <a:r>
              <a:rPr lang="en-US" sz="2800" dirty="0" smtClean="0"/>
              <a:t>| </a:t>
            </a:r>
            <a:r>
              <a:rPr lang="ru-RU" sz="2800" dirty="0" smtClean="0"/>
              <a:t>Пример запроса</a:t>
            </a:r>
            <a:endParaRPr lang="ru-RU" sz="2800" dirty="0"/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blackGray">
          <a:xfrm>
            <a:off x="866775" y="1919288"/>
            <a:ext cx="8000499" cy="288131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ru-RU" dirty="0">
                <a:latin typeface="Courier New" panose="02070309020205020404" pitchFamily="49" charset="0"/>
              </a:rPr>
              <a:t>select</a:t>
            </a:r>
            <a:endParaRPr lang="en-US" altLang="ru-RU" dirty="0"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latin typeface="Courier New" panose="02070309020205020404" pitchFamily="49" charset="0"/>
              </a:rPr>
              <a:t>    </a:t>
            </a:r>
            <a:r>
              <a:rPr lang="en-US" altLang="ru-RU" dirty="0" err="1">
                <a:latin typeface="Courier New" panose="02070309020205020404" pitchFamily="49" charset="0"/>
              </a:rPr>
              <a:t>emp.employee_id</a:t>
            </a:r>
            <a:endParaRPr lang="en-US" altLang="ru-RU" dirty="0"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latin typeface="Courier New" panose="02070309020205020404" pitchFamily="49" charset="0"/>
              </a:rPr>
              <a:t>emp.first_name</a:t>
            </a:r>
            <a:endParaRPr lang="en-US" altLang="ru-RU" dirty="0"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latin typeface="Courier New" panose="02070309020205020404" pitchFamily="49" charset="0"/>
              </a:rPr>
              <a:t>emp.last_name</a:t>
            </a:r>
            <a:endParaRPr lang="en-US" altLang="ru-RU" dirty="0"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latin typeface="Courier New" panose="02070309020205020404" pitchFamily="49" charset="0"/>
              </a:rPr>
              <a:t>emp.salary</a:t>
            </a:r>
            <a:endParaRPr lang="en-US" altLang="ru-RU" dirty="0"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latin typeface="Courier New" panose="02070309020205020404" pitchFamily="49" charset="0"/>
              </a:rPr>
              <a:t>jobs.job_title</a:t>
            </a:r>
            <a:endParaRPr lang="en-US" altLang="ru-RU" dirty="0"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latin typeface="Courier New" panose="02070309020205020404" pitchFamily="49" charset="0"/>
              </a:rPr>
              <a:t>from employees as emp</a:t>
            </a:r>
            <a:endParaRPr lang="en-US" altLang="ru-RU" dirty="0"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latin typeface="Courier New" panose="02070309020205020404" pitchFamily="49" charset="0"/>
              </a:rPr>
              <a:t>left join jobs</a:t>
            </a:r>
            <a:endParaRPr lang="en-US" altLang="ru-RU" dirty="0"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latin typeface="Courier New" panose="02070309020205020404" pitchFamily="49" charset="0"/>
              </a:rPr>
              <a:t>on </a:t>
            </a:r>
            <a:r>
              <a:rPr lang="en-US" altLang="ru-RU" dirty="0" err="1">
                <a:latin typeface="Courier New" panose="02070309020205020404" pitchFamily="49" charset="0"/>
              </a:rPr>
              <a:t>emp.job_id</a:t>
            </a:r>
            <a:r>
              <a:rPr lang="en-US" altLang="ru-RU" dirty="0">
                <a:latin typeface="Courier New" panose="02070309020205020404" pitchFamily="49" charset="0"/>
              </a:rPr>
              <a:t> = </a:t>
            </a:r>
            <a:r>
              <a:rPr lang="en-US" altLang="ru-RU" dirty="0" err="1">
                <a:latin typeface="Courier New" panose="02070309020205020404" pitchFamily="49" charset="0"/>
              </a:rPr>
              <a:t>jobs.job_id</a:t>
            </a:r>
            <a:r>
              <a:rPr lang="en-US" altLang="ru-RU" dirty="0">
                <a:latin typeface="Courier New" panose="02070309020205020404" pitchFamily="49" charset="0"/>
              </a:rPr>
              <a:t> and</a:t>
            </a:r>
            <a:endParaRPr lang="en-US" altLang="ru-RU" dirty="0"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latin typeface="Courier New" panose="02070309020205020404" pitchFamily="49" charset="0"/>
              </a:rPr>
              <a:t>   </a:t>
            </a:r>
            <a:r>
              <a:rPr lang="en-US" altLang="ru-RU" dirty="0" err="1">
                <a:latin typeface="Courier New" panose="02070309020205020404" pitchFamily="49" charset="0"/>
              </a:rPr>
              <a:t>emp.salary</a:t>
            </a:r>
            <a:r>
              <a:rPr lang="en-US" altLang="ru-RU" dirty="0">
                <a:latin typeface="Courier New" panose="02070309020205020404" pitchFamily="49" charset="0"/>
              </a:rPr>
              <a:t> between </a:t>
            </a:r>
            <a:r>
              <a:rPr lang="en-US" altLang="ru-RU" dirty="0" err="1">
                <a:latin typeface="Courier New" panose="02070309020205020404" pitchFamily="49" charset="0"/>
              </a:rPr>
              <a:t>jobs.min_salary</a:t>
            </a:r>
            <a:r>
              <a:rPr lang="en-US" altLang="ru-RU" dirty="0">
                <a:latin typeface="Courier New" panose="02070309020205020404" pitchFamily="49" charset="0"/>
              </a:rPr>
              <a:t> and </a:t>
            </a:r>
            <a:r>
              <a:rPr lang="en-US" altLang="ru-RU" dirty="0" err="1">
                <a:latin typeface="Courier New" panose="02070309020205020404" pitchFamily="49" charset="0"/>
              </a:rPr>
              <a:t>jobs.max_salary</a:t>
            </a:r>
            <a:r>
              <a:rPr lang="en-US" altLang="ru-RU" dirty="0">
                <a:latin typeface="Courier New" panose="02070309020205020404" pitchFamily="49" charset="0"/>
              </a:rPr>
              <a:t>;</a:t>
            </a:r>
            <a:endParaRPr lang="en-US" altLang="ru-RU" dirty="0">
              <a:latin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3969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14960">
              <a:lnSpc>
                <a:spcPct val="100000"/>
              </a:lnSpc>
              <a:spcBef>
                <a:spcPts val="95"/>
              </a:spcBef>
            </a:pPr>
            <a:r>
              <a:rPr sz="2500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Left</a:t>
            </a:r>
            <a:r>
              <a:rPr sz="2500" spc="-45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500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[OUTER]</a:t>
            </a:r>
            <a:r>
              <a:rPr sz="2500" spc="-40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500" spc="-20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Join</a:t>
            </a:r>
            <a:endParaRPr sz="25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1591671" y="1214262"/>
            <a:ext cx="5212374" cy="4397087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036558" y="6568857"/>
            <a:ext cx="67945" cy="225062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600" spc="-50" dirty="0">
                <a:solidFill>
                  <a:srgbClr val="878787"/>
                </a:solidFill>
                <a:latin typeface="Arial MT"/>
                <a:cs typeface="Arial MT"/>
              </a:rPr>
              <a:t>7</a:t>
            </a:r>
            <a:endParaRPr sz="6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600" spc="-50" dirty="0">
                <a:solidFill>
                  <a:srgbClr val="878787"/>
                </a:solidFill>
                <a:latin typeface="Arial MT"/>
                <a:cs typeface="Arial MT"/>
              </a:rPr>
              <a:t>7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83977" y="6188180"/>
            <a:ext cx="5429604" cy="2713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000"/>
              </a:lnSpc>
              <a:spcBef>
                <a:spcPts val="100"/>
              </a:spcBef>
            </a:pPr>
            <a:r>
              <a:rPr sz="1400" b="1" u="sng" spc="-10" dirty="0">
                <a:solidFill>
                  <a:srgbClr val="EF6192"/>
                </a:solidFill>
                <a:uFill>
                  <a:solidFill>
                    <a:srgbClr val="EF6192"/>
                  </a:solidFill>
                </a:uFill>
                <a:latin typeface="Roboto Bk"/>
                <a:cs typeface="Roboto Bk"/>
                <a:hlinkClick r:id="rId2"/>
              </a:rPr>
              <a:t>https://www.db-</a:t>
            </a:r>
            <a:r>
              <a:rPr sz="1400" b="1" spc="-10" dirty="0">
                <a:solidFill>
                  <a:srgbClr val="EF6192"/>
                </a:solidFill>
                <a:latin typeface="Roboto Bk"/>
                <a:cs typeface="Roboto Bk"/>
                <a:hlinkClick r:id="rId2"/>
              </a:rPr>
              <a:t> </a:t>
            </a:r>
            <a:r>
              <a:rPr sz="1400" b="1" u="sng" spc="-10" dirty="0">
                <a:solidFill>
                  <a:srgbClr val="EF6192"/>
                </a:solidFill>
                <a:uFill>
                  <a:solidFill>
                    <a:srgbClr val="EF6192"/>
                  </a:solidFill>
                </a:uFill>
                <a:latin typeface="Roboto Bk"/>
                <a:cs typeface="Roboto Bk"/>
                <a:hlinkClick r:id="rId2"/>
              </a:rPr>
              <a:t>fiddle.com/f/wHak6mbZeymqcSSg</a:t>
            </a:r>
            <a:r>
              <a:rPr sz="1400" b="1" spc="-10" dirty="0">
                <a:solidFill>
                  <a:srgbClr val="EF6192"/>
                </a:solidFill>
                <a:latin typeface="Roboto Bk"/>
                <a:cs typeface="Roboto Bk"/>
                <a:hlinkClick r:id="rId2"/>
              </a:rPr>
              <a:t> </a:t>
            </a:r>
            <a:r>
              <a:rPr sz="1400" b="1" u="sng" spc="-10" dirty="0">
                <a:solidFill>
                  <a:srgbClr val="EF6192"/>
                </a:solidFill>
                <a:uFill>
                  <a:solidFill>
                    <a:srgbClr val="EF6192"/>
                  </a:solidFill>
                </a:uFill>
                <a:latin typeface="Roboto Bk"/>
                <a:cs typeface="Roboto Bk"/>
                <a:hlinkClick r:id="rId2"/>
              </a:rPr>
              <a:t>FzPEuP/3</a:t>
            </a:r>
            <a:endParaRPr sz="1400">
              <a:latin typeface="Roboto Bk"/>
              <a:cs typeface="Roboto Bk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ru-RU" dirty="0">
                <a:latin typeface="Courier New" panose="02070309020205020404" pitchFamily="49" charset="0"/>
              </a:rPr>
              <a:t>INNER</a:t>
            </a:r>
            <a:r>
              <a:rPr lang="en-US" altLang="ru-RU" dirty="0"/>
              <a:t> </a:t>
            </a:r>
            <a:r>
              <a:rPr lang="ru-RU" altLang="ru-RU" dirty="0" smtClean="0"/>
              <a:t>и </a:t>
            </a:r>
            <a:r>
              <a:rPr lang="en-US" altLang="ru-RU" dirty="0" smtClean="0">
                <a:latin typeface="Courier New" panose="02070309020205020404" pitchFamily="49" charset="0"/>
              </a:rPr>
              <a:t>OUTER</a:t>
            </a:r>
            <a:r>
              <a:rPr lang="en-US" altLang="ru-RU" dirty="0" smtClean="0"/>
              <a:t> </a:t>
            </a:r>
            <a:r>
              <a:rPr lang="ru-RU" altLang="ru-RU" dirty="0" smtClean="0"/>
              <a:t>Соединения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dirty="0" smtClean="0"/>
              <a:t>В SQL:1999 соединение двух таблиц, возвращающее только совпадающие строки, называется INNER-соединением.</a:t>
            </a:r>
            <a:endParaRPr lang="ru-RU" sz="2400" dirty="0" smtClean="0"/>
          </a:p>
          <a:p>
            <a:r>
              <a:rPr lang="ru-RU" sz="2400" dirty="0" smtClean="0"/>
              <a:t>Соединение двух таблиц, возвращающее результаты INNER-соединения, а также несовпадающие строки из левой (или правой) таблицы, называется левым (или правым) OUTER-соединением.</a:t>
            </a:r>
            <a:endParaRPr lang="ru-RU" sz="2400" dirty="0" smtClean="0"/>
          </a:p>
          <a:p>
            <a:r>
              <a:rPr lang="ru-RU" sz="2400" dirty="0" smtClean="0"/>
              <a:t>Соединение двух таблиц, возвращающее результаты INNER-соединения, а также результаты левого и правого соединения, называется полным OUTER-соединением.</a:t>
            </a:r>
            <a:endParaRPr lang="ru-RU" sz="2400" dirty="0" smtClean="0"/>
          </a:p>
          <a:p>
            <a:endParaRPr lang="ru-RU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ru-RU" dirty="0">
                <a:latin typeface="Courier New" panose="02070309020205020404" pitchFamily="49" charset="0"/>
              </a:rPr>
              <a:t>LEFT</a:t>
            </a:r>
            <a:r>
              <a:rPr lang="en-US" altLang="ru-RU" dirty="0"/>
              <a:t> </a:t>
            </a:r>
            <a:r>
              <a:rPr lang="en-US" altLang="ru-RU" dirty="0">
                <a:latin typeface="Courier New" panose="02070309020205020404" pitchFamily="49" charset="0"/>
              </a:rPr>
              <a:t>OUTER</a:t>
            </a:r>
            <a:r>
              <a:rPr lang="en-US" altLang="ru-RU" dirty="0"/>
              <a:t> </a:t>
            </a:r>
            <a:r>
              <a:rPr lang="en-US" altLang="ru-RU" dirty="0">
                <a:latin typeface="Courier New" panose="02070309020205020404" pitchFamily="49" charset="0"/>
              </a:rPr>
              <a:t>JOIN</a:t>
            </a:r>
            <a:endParaRPr lang="ru-RU" dirty="0"/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blackGray">
          <a:xfrm>
            <a:off x="866775" y="1841500"/>
            <a:ext cx="7286625" cy="215298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select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emp.first_name</a:t>
            </a: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as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emp_first_name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emp.last_name</a:t>
            </a: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as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emp_last_name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mgr.first_name</a:t>
            </a: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as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mgr_first_name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mgr.last_name</a:t>
            </a: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as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mgr_last_name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from employees as emp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left join employees as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mgr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   on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emp.manager_id</a:t>
            </a: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mgr.employee_id</a:t>
            </a: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6775" y="4271825"/>
            <a:ext cx="6963747" cy="197195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ru-RU" dirty="0">
                <a:latin typeface="Courier New" panose="02070309020205020404" pitchFamily="49" charset="0"/>
              </a:rPr>
              <a:t>RIGHT</a:t>
            </a:r>
            <a:r>
              <a:rPr lang="en-US" altLang="ru-RU" dirty="0"/>
              <a:t> </a:t>
            </a:r>
            <a:r>
              <a:rPr lang="en-US" altLang="ru-RU" dirty="0">
                <a:latin typeface="Courier New" panose="02070309020205020404" pitchFamily="49" charset="0"/>
              </a:rPr>
              <a:t>OUTER</a:t>
            </a:r>
            <a:r>
              <a:rPr lang="en-US" altLang="ru-RU" dirty="0"/>
              <a:t> </a:t>
            </a:r>
            <a:r>
              <a:rPr lang="en-US" altLang="ru-RU" dirty="0">
                <a:latin typeface="Courier New" panose="02070309020205020404" pitchFamily="49" charset="0"/>
              </a:rPr>
              <a:t>JOIN</a:t>
            </a:r>
            <a:endParaRPr lang="ru-RU" dirty="0"/>
          </a:p>
        </p:txBody>
      </p:sp>
      <p:sp>
        <p:nvSpPr>
          <p:cNvPr id="7" name="Rectangle 3"/>
          <p:cNvSpPr>
            <a:spLocks noChangeArrowheads="1"/>
          </p:cNvSpPr>
          <p:nvPr/>
        </p:nvSpPr>
        <p:spPr bwMode="blackGray">
          <a:xfrm>
            <a:off x="866775" y="1857375"/>
            <a:ext cx="7277100" cy="20649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select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emp.first_name</a:t>
            </a: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as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emp_first_name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emp.last_name</a:t>
            </a: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as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emp_last_name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mgr.first_name</a:t>
            </a: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as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mgr_first_name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mgr.last_name</a:t>
            </a: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as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mgr_last_name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from employees as emp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right join employees as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mgr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   on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emp.manager_id</a:t>
            </a: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mgr.employee_id</a:t>
            </a: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6775" y="4282766"/>
            <a:ext cx="6973273" cy="221010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3969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14960">
              <a:lnSpc>
                <a:spcPct val="100000"/>
              </a:lnSpc>
              <a:spcBef>
                <a:spcPts val="95"/>
              </a:spcBef>
            </a:pPr>
            <a:r>
              <a:rPr sz="2500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Right</a:t>
            </a:r>
            <a:r>
              <a:rPr sz="2500" spc="-55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500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[OUTER]</a:t>
            </a:r>
            <a:r>
              <a:rPr sz="2500" spc="-50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500" spc="-20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Join</a:t>
            </a:r>
            <a:endParaRPr sz="25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33399" y="1092201"/>
            <a:ext cx="5890119" cy="508709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036558" y="6568857"/>
            <a:ext cx="67945" cy="225062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600" spc="-50" dirty="0">
                <a:solidFill>
                  <a:srgbClr val="878787"/>
                </a:solidFill>
                <a:latin typeface="Arial MT"/>
                <a:cs typeface="Arial MT"/>
              </a:rPr>
              <a:t>7</a:t>
            </a:r>
            <a:endParaRPr sz="6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600" spc="-50" dirty="0">
                <a:solidFill>
                  <a:srgbClr val="878787"/>
                </a:solidFill>
                <a:latin typeface="Arial MT"/>
                <a:cs typeface="Arial MT"/>
              </a:rPr>
              <a:t>8</a:t>
            </a:r>
            <a:endParaRPr sz="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3969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14960">
              <a:lnSpc>
                <a:spcPct val="100000"/>
              </a:lnSpc>
              <a:spcBef>
                <a:spcPts val="95"/>
              </a:spcBef>
            </a:pPr>
            <a:r>
              <a:rPr sz="2500" spc="-20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Left-</a:t>
            </a:r>
            <a:r>
              <a:rPr sz="2500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Anti</a:t>
            </a:r>
            <a:r>
              <a:rPr sz="2500" spc="15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500" spc="-20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Join</a:t>
            </a:r>
            <a:endParaRPr sz="25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58435" y="1173225"/>
            <a:ext cx="5393684" cy="4352932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8998967" y="6570858"/>
            <a:ext cx="67945" cy="219291"/>
          </a:xfrm>
          <a:prstGeom prst="rect">
            <a:avLst/>
          </a:prstGeom>
        </p:spPr>
        <p:txBody>
          <a:bodyPr vert="horz" wrap="square" lIns="0" tIns="215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0"/>
              </a:spcBef>
            </a:pPr>
            <a:r>
              <a:rPr sz="600" spc="-50" dirty="0">
                <a:solidFill>
                  <a:srgbClr val="878787"/>
                </a:solidFill>
                <a:latin typeface="Arial MT"/>
                <a:cs typeface="Arial MT"/>
              </a:rPr>
              <a:t>8</a:t>
            </a:r>
            <a:endParaRPr sz="6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sz="600" spc="-50" dirty="0">
                <a:solidFill>
                  <a:srgbClr val="878787"/>
                </a:solidFill>
                <a:latin typeface="Arial MT"/>
                <a:cs typeface="Arial MT"/>
              </a:rPr>
              <a:t>0</a:t>
            </a:r>
            <a:endParaRPr sz="6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45234" y="5983902"/>
            <a:ext cx="7207452" cy="2713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000"/>
              </a:lnSpc>
              <a:spcBef>
                <a:spcPts val="100"/>
              </a:spcBef>
            </a:pPr>
            <a:r>
              <a:rPr sz="1400" b="1" u="sng" spc="-10" dirty="0">
                <a:solidFill>
                  <a:srgbClr val="EF6192"/>
                </a:solidFill>
                <a:uFill>
                  <a:solidFill>
                    <a:srgbClr val="EF6192"/>
                  </a:solidFill>
                </a:uFill>
                <a:latin typeface="Roboto Bk"/>
                <a:cs typeface="Roboto Bk"/>
                <a:hlinkClick r:id="rId2"/>
              </a:rPr>
              <a:t>https://www.db-</a:t>
            </a:r>
            <a:r>
              <a:rPr sz="1400" b="1" spc="-10" dirty="0">
                <a:solidFill>
                  <a:srgbClr val="EF6192"/>
                </a:solidFill>
                <a:latin typeface="Roboto Bk"/>
                <a:cs typeface="Roboto Bk"/>
                <a:hlinkClick r:id="rId2"/>
              </a:rPr>
              <a:t> </a:t>
            </a:r>
            <a:r>
              <a:rPr sz="1400" b="1" u="sng" spc="-20" dirty="0">
                <a:solidFill>
                  <a:srgbClr val="EF6192"/>
                </a:solidFill>
                <a:uFill>
                  <a:solidFill>
                    <a:srgbClr val="EF6192"/>
                  </a:solidFill>
                </a:uFill>
                <a:latin typeface="Roboto Bk"/>
                <a:cs typeface="Roboto Bk"/>
                <a:hlinkClick r:id="rId2"/>
              </a:rPr>
              <a:t>fiddle.com/f/6dPvL1tA3WLc98u7p</a:t>
            </a:r>
            <a:r>
              <a:rPr sz="1400" b="1" spc="-20" dirty="0">
                <a:solidFill>
                  <a:srgbClr val="EF6192"/>
                </a:solidFill>
                <a:latin typeface="Roboto Bk"/>
                <a:cs typeface="Roboto Bk"/>
                <a:hlinkClick r:id="rId2"/>
              </a:rPr>
              <a:t> </a:t>
            </a:r>
            <a:r>
              <a:rPr sz="1400" b="1" u="sng" spc="-10" dirty="0">
                <a:solidFill>
                  <a:srgbClr val="EF6192"/>
                </a:solidFill>
                <a:uFill>
                  <a:solidFill>
                    <a:srgbClr val="EF6192"/>
                  </a:solidFill>
                </a:uFill>
                <a:latin typeface="Roboto Bk"/>
                <a:cs typeface="Roboto Bk"/>
                <a:hlinkClick r:id="rId2"/>
              </a:rPr>
              <a:t>Hz9ZQ/1</a:t>
            </a:r>
            <a:endParaRPr sz="1400">
              <a:latin typeface="Roboto Bk"/>
              <a:cs typeface="Roboto Bk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ru-RU" dirty="0">
                <a:latin typeface="Courier New" panose="02070309020205020404" pitchFamily="49" charset="0"/>
              </a:rPr>
              <a:t>FULL</a:t>
            </a:r>
            <a:r>
              <a:rPr lang="en-US" altLang="ru-RU" dirty="0"/>
              <a:t> </a:t>
            </a:r>
            <a:r>
              <a:rPr lang="en-US" altLang="ru-RU" dirty="0">
                <a:latin typeface="Courier New" panose="02070309020205020404" pitchFamily="49" charset="0"/>
              </a:rPr>
              <a:t>OUTER</a:t>
            </a:r>
            <a:r>
              <a:rPr lang="en-US" altLang="ru-RU" dirty="0"/>
              <a:t> </a:t>
            </a:r>
            <a:r>
              <a:rPr lang="en-US" altLang="ru-RU" dirty="0">
                <a:latin typeface="Courier New" panose="02070309020205020404" pitchFamily="49" charset="0"/>
              </a:rPr>
              <a:t>JOIN</a:t>
            </a:r>
            <a:endParaRPr lang="ru-RU" dirty="0"/>
          </a:p>
        </p:txBody>
      </p:sp>
      <p:sp>
        <p:nvSpPr>
          <p:cNvPr id="5" name="Rectangle 3"/>
          <p:cNvSpPr>
            <a:spLocks noChangeArrowheads="1"/>
          </p:cNvSpPr>
          <p:nvPr/>
        </p:nvSpPr>
        <p:spPr bwMode="blackGray">
          <a:xfrm>
            <a:off x="866775" y="1844675"/>
            <a:ext cx="7277100" cy="21137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select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emp.first_name</a:t>
            </a: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as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emp_first_name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emp.last_name</a:t>
            </a: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as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emp_last_name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mgr.first_name</a:t>
            </a: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as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mgr_first_name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mgr.last_name</a:t>
            </a: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as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mgr_last_name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from employees as emp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full join employees as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mgr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   on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emp.manager_id</a:t>
            </a: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US" altLang="ru-RU" sz="1600" dirty="0" err="1">
                <a:solidFill>
                  <a:srgbClr val="000000"/>
                </a:solidFill>
                <a:latin typeface="Courier New" panose="02070309020205020404" pitchFamily="49" charset="0"/>
              </a:rPr>
              <a:t>mgr.employee_id</a:t>
            </a:r>
            <a:r>
              <a:rPr lang="en-US" altLang="ru-RU" sz="1600" dirty="0">
                <a:solidFill>
                  <a:srgbClr val="000000"/>
                </a:solidFill>
                <a:latin typeface="Courier New" panose="02070309020205020404" pitchFamily="49" charset="0"/>
              </a:rPr>
              <a:t>;</a:t>
            </a:r>
            <a:endParaRPr lang="en-US" altLang="ru-RU" sz="1600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6775" y="4112375"/>
            <a:ext cx="6982799" cy="1276528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t="52722"/>
          <a:stretch>
            <a:fillRect/>
          </a:stretch>
        </p:blipFill>
        <p:spPr>
          <a:xfrm>
            <a:off x="866775" y="5542889"/>
            <a:ext cx="6973273" cy="1044896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3969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14960">
              <a:lnSpc>
                <a:spcPct val="100000"/>
              </a:lnSpc>
              <a:spcBef>
                <a:spcPts val="95"/>
              </a:spcBef>
            </a:pPr>
            <a:r>
              <a:rPr sz="2500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FULL</a:t>
            </a:r>
            <a:r>
              <a:rPr sz="2500" spc="-50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500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[Outer]</a:t>
            </a:r>
            <a:r>
              <a:rPr sz="2500" spc="-15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2500" spc="-20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Join</a:t>
            </a:r>
            <a:endParaRPr sz="25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73961" y="1072613"/>
            <a:ext cx="5690531" cy="536226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036558" y="6568857"/>
            <a:ext cx="67945" cy="225062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600" spc="-50" dirty="0">
                <a:solidFill>
                  <a:srgbClr val="878787"/>
                </a:solidFill>
                <a:latin typeface="Arial MT"/>
                <a:cs typeface="Arial MT"/>
              </a:rPr>
              <a:t>7</a:t>
            </a:r>
            <a:endParaRPr sz="6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600" spc="-50" dirty="0">
                <a:solidFill>
                  <a:srgbClr val="878787"/>
                </a:solidFill>
                <a:latin typeface="Arial MT"/>
                <a:cs typeface="Arial MT"/>
              </a:rPr>
              <a:t>6</a:t>
            </a:r>
            <a:endParaRPr sz="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ru-RU" dirty="0" smtClean="0"/>
              <a:t>Декартовы произведения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Декартово произведение образуется, когда:</a:t>
            </a:r>
            <a:endParaRPr lang="ru-RU" dirty="0" smtClean="0"/>
          </a:p>
          <a:p>
            <a:pPr lvl="1"/>
            <a:r>
              <a:rPr lang="ru-RU" dirty="0" smtClean="0"/>
              <a:t>Условие соединения пропущено.</a:t>
            </a:r>
            <a:endParaRPr lang="ru-RU" dirty="0" smtClean="0"/>
          </a:p>
          <a:p>
            <a:pPr lvl="1"/>
            <a:r>
              <a:rPr lang="ru-RU" dirty="0" smtClean="0"/>
              <a:t>Условие соединения недействительно.</a:t>
            </a:r>
            <a:endParaRPr lang="ru-RU" dirty="0" smtClean="0"/>
          </a:p>
          <a:p>
            <a:pPr lvl="1"/>
            <a:r>
              <a:rPr lang="ru-RU" dirty="0" smtClean="0"/>
              <a:t>Все строки первой таблицы соединяются со всеми строками второй таблицы.</a:t>
            </a:r>
            <a:endParaRPr lang="ru-RU" dirty="0" smtClean="0"/>
          </a:p>
          <a:p>
            <a:r>
              <a:rPr lang="ru-RU" dirty="0" smtClean="0"/>
              <a:t>Всегда включайте действительное условие соединения, если хотите избежать декартова произведения.</a:t>
            </a:r>
            <a:endParaRPr lang="ru-RU" dirty="0" smtClean="0"/>
          </a:p>
          <a:p>
            <a:pPr marL="0" indent="0">
              <a:buNone/>
            </a:pPr>
            <a:endParaRPr lang="ru-RU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 smtClean="0"/>
              <a:t>Создание декартова произведения</a:t>
            </a:r>
            <a:endParaRPr lang="ru-RU" sz="3600" dirty="0"/>
          </a:p>
        </p:txBody>
      </p:sp>
      <p:sp>
        <p:nvSpPr>
          <p:cNvPr id="4" name="Line 4"/>
          <p:cNvSpPr>
            <a:spLocks noChangeShapeType="1"/>
          </p:cNvSpPr>
          <p:nvPr/>
        </p:nvSpPr>
        <p:spPr bwMode="auto">
          <a:xfrm flipV="1">
            <a:off x="3657600" y="3648075"/>
            <a:ext cx="0" cy="5429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5" name="Rectangle 6"/>
          <p:cNvSpPr>
            <a:spLocks noChangeArrowheads="1"/>
          </p:cNvSpPr>
          <p:nvPr/>
        </p:nvSpPr>
        <p:spPr bwMode="auto">
          <a:xfrm>
            <a:off x="420283" y="4267200"/>
            <a:ext cx="2495955" cy="5669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2075" tIns="46038" rIns="92075" bIns="46038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lnSpc>
                <a:spcPct val="110000"/>
              </a:lnSpc>
              <a:spcBef>
                <a:spcPct val="0"/>
              </a:spcBef>
              <a:buClrTx/>
              <a:buFontTx/>
              <a:buNone/>
            </a:pPr>
            <a:r>
              <a:rPr lang="ru-RU" altLang="ru-RU" sz="1400" dirty="0" smtClean="0"/>
              <a:t>Декартово произведение</a:t>
            </a:r>
            <a:r>
              <a:rPr lang="en-US" altLang="ru-RU" sz="1400" dirty="0" smtClean="0"/>
              <a:t>: </a:t>
            </a:r>
            <a:br>
              <a:rPr lang="en-US" altLang="ru-RU" sz="1400" dirty="0"/>
            </a:br>
            <a:r>
              <a:rPr lang="en-US" altLang="ru-RU" sz="1400" dirty="0"/>
              <a:t>20 x 8 = 160 </a:t>
            </a:r>
            <a:r>
              <a:rPr lang="ru-RU" altLang="ru-RU" sz="1400" dirty="0" smtClean="0"/>
              <a:t>строк</a:t>
            </a:r>
            <a:endParaRPr lang="en-US" altLang="ru-RU" sz="1400" dirty="0"/>
          </a:p>
        </p:txBody>
      </p:sp>
      <p:sp>
        <p:nvSpPr>
          <p:cNvPr id="6" name="Rectangle 7"/>
          <p:cNvSpPr>
            <a:spLocks noChangeArrowheads="1"/>
          </p:cNvSpPr>
          <p:nvPr/>
        </p:nvSpPr>
        <p:spPr bwMode="auto">
          <a:xfrm>
            <a:off x="685800" y="1447800"/>
            <a:ext cx="2694648" cy="400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ru-RU" sz="2000" dirty="0">
                <a:latin typeface="Courier New" panose="02070309020205020404" pitchFamily="49" charset="0"/>
              </a:rPr>
              <a:t>EMPLOYEES</a:t>
            </a:r>
            <a:r>
              <a:rPr lang="en-US" altLang="ru-RU" sz="2000" dirty="0"/>
              <a:t> </a:t>
            </a:r>
            <a:r>
              <a:rPr lang="en-US" altLang="ru-RU" dirty="0"/>
              <a:t>(20 </a:t>
            </a:r>
            <a:r>
              <a:rPr lang="ru-RU" altLang="ru-RU" dirty="0" smtClean="0"/>
              <a:t>строк</a:t>
            </a:r>
            <a:r>
              <a:rPr lang="en-US" altLang="ru-RU" dirty="0" smtClean="0"/>
              <a:t>)</a:t>
            </a:r>
            <a:endParaRPr lang="en-US" altLang="ru-RU" dirty="0"/>
          </a:p>
        </p:txBody>
      </p:sp>
      <p:sp>
        <p:nvSpPr>
          <p:cNvPr id="7" name="Rectangle 8"/>
          <p:cNvSpPr>
            <a:spLocks noChangeArrowheads="1"/>
          </p:cNvSpPr>
          <p:nvPr/>
        </p:nvSpPr>
        <p:spPr bwMode="auto">
          <a:xfrm>
            <a:off x="4495800" y="1447800"/>
            <a:ext cx="2874185" cy="400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2075" tIns="46038" rIns="92075" bIns="46038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l">
              <a:spcBef>
                <a:spcPct val="0"/>
              </a:spcBef>
              <a:buClrTx/>
              <a:buFontTx/>
              <a:buNone/>
            </a:pPr>
            <a:r>
              <a:rPr lang="en-US" altLang="ru-RU" sz="2000" dirty="0">
                <a:latin typeface="Courier New" panose="02070309020205020404" pitchFamily="49" charset="0"/>
              </a:rPr>
              <a:t>DEPARTMENTS</a:t>
            </a:r>
            <a:r>
              <a:rPr lang="en-US" altLang="ru-RU" sz="2000" dirty="0"/>
              <a:t> </a:t>
            </a:r>
            <a:r>
              <a:rPr lang="en-US" altLang="ru-RU" dirty="0"/>
              <a:t>(8 </a:t>
            </a:r>
            <a:r>
              <a:rPr lang="ru-RU" altLang="ru-RU" dirty="0" smtClean="0"/>
              <a:t>строк</a:t>
            </a:r>
            <a:r>
              <a:rPr lang="en-US" altLang="ru-RU" dirty="0" smtClean="0"/>
              <a:t>)</a:t>
            </a:r>
            <a:endParaRPr lang="en-US" altLang="ru-RU" dirty="0"/>
          </a:p>
        </p:txBody>
      </p:sp>
      <p:sp>
        <p:nvSpPr>
          <p:cNvPr id="8" name="Text Box 14"/>
          <p:cNvSpPr txBox="1">
            <a:spLocks noChangeArrowheads="1"/>
          </p:cNvSpPr>
          <p:nvPr/>
        </p:nvSpPr>
        <p:spPr bwMode="auto">
          <a:xfrm>
            <a:off x="760413" y="2608263"/>
            <a:ext cx="366712" cy="390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lIns="12700" tIns="12700" rIns="12700" bIns="12700">
            <a:spAutoFit/>
          </a:bodyPr>
          <a:lstStyle>
            <a:lvl1pPr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ru-RU" sz="2400"/>
              <a:t>…</a:t>
            </a:r>
            <a:endParaRPr lang="en-US" altLang="ru-RU" sz="2400"/>
          </a:p>
        </p:txBody>
      </p:sp>
      <p:sp>
        <p:nvSpPr>
          <p:cNvPr id="9" name="Text Box 15"/>
          <p:cNvSpPr txBox="1">
            <a:spLocks noChangeArrowheads="1"/>
          </p:cNvSpPr>
          <p:nvPr/>
        </p:nvSpPr>
        <p:spPr bwMode="auto">
          <a:xfrm>
            <a:off x="2873375" y="5481638"/>
            <a:ext cx="366713" cy="390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lIns="12700" tIns="12700" rIns="12700" bIns="12700">
            <a:spAutoFit/>
          </a:bodyPr>
          <a:lstStyle>
            <a:lvl1pPr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ru-RU" sz="2400"/>
              <a:t>…</a:t>
            </a:r>
            <a:endParaRPr lang="en-US" altLang="ru-RU" sz="2400"/>
          </a:p>
        </p:txBody>
      </p:sp>
      <p:pic>
        <p:nvPicPr>
          <p:cNvPr id="10" name="Picture 25" descr="C:\salome_official\projects\11gR2\screenshots\les6_33s_a.gif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025" y="1860550"/>
            <a:ext cx="3208338" cy="9144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6" descr="C:\salome_official\projects\11gR2\screenshots\les6_33s_b.gif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613" y="3009900"/>
            <a:ext cx="3208337" cy="3651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7" descr="C:\salome_official\projects\11gR2\screenshots\les6_33_c.gif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1688" y="1838325"/>
            <a:ext cx="3648075" cy="164465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" name="Group 32"/>
          <p:cNvGrpSpPr/>
          <p:nvPr/>
        </p:nvGrpSpPr>
        <p:grpSpPr bwMode="auto">
          <a:xfrm>
            <a:off x="2997200" y="4343400"/>
            <a:ext cx="3327400" cy="1862138"/>
            <a:chOff x="1845" y="2775"/>
            <a:chExt cx="2096" cy="1173"/>
          </a:xfrm>
        </p:grpSpPr>
        <p:pic>
          <p:nvPicPr>
            <p:cNvPr id="14" name="Picture 28" descr="C:\salome_official\projects\11gR2\screenshots\les6_33_d.gif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5" y="2775"/>
              <a:ext cx="2084" cy="34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" name="Picture 29" descr="C:\salome_official\projects\11gR2\screenshots\les6_33s_e.gif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45" y="3288"/>
              <a:ext cx="2096" cy="237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Picture 30" descr="C:\salome_official\projects\11gR2\screenshots\les6_33s_f.gif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52" y="3718"/>
              <a:ext cx="2084" cy="230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7" name="Text Box 31"/>
          <p:cNvSpPr txBox="1">
            <a:spLocks noChangeArrowheads="1"/>
          </p:cNvSpPr>
          <p:nvPr/>
        </p:nvSpPr>
        <p:spPr bwMode="auto">
          <a:xfrm>
            <a:off x="2870200" y="4811713"/>
            <a:ext cx="366713" cy="390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lIns="12700" tIns="12700" rIns="12700" bIns="12700">
            <a:spAutoFit/>
          </a:bodyPr>
          <a:lstStyle>
            <a:lvl1pPr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8223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defTabSz="822325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000000"/>
              </a:buClr>
            </a:pPr>
            <a:r>
              <a:rPr lang="en-US" altLang="ru-RU" sz="2400"/>
              <a:t>…</a:t>
            </a:r>
            <a:endParaRPr lang="en-US" altLang="ru-RU" sz="2400"/>
          </a:p>
        </p:txBody>
      </p:sp>
      <p:sp>
        <p:nvSpPr>
          <p:cNvPr id="18" name="Line 4"/>
          <p:cNvSpPr>
            <a:spLocks noChangeShapeType="1"/>
          </p:cNvSpPr>
          <p:nvPr/>
        </p:nvSpPr>
        <p:spPr bwMode="auto">
          <a:xfrm flipV="1">
            <a:off x="4800600" y="3648075"/>
            <a:ext cx="0" cy="5429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 smtClean="0"/>
              <a:t>Создание перекрестных соединений</a:t>
            </a:r>
            <a:endParaRPr lang="ru-RU" sz="3600" dirty="0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637998" y="1862429"/>
            <a:ext cx="7918450" cy="1751013"/>
          </a:xfrm>
        </p:spPr>
        <p:txBody>
          <a:bodyPr>
            <a:normAutofit/>
          </a:bodyPr>
          <a:lstStyle/>
          <a:p>
            <a:r>
              <a:rPr lang="ru-RU" sz="2000" dirty="0" smtClean="0"/>
              <a:t>Ключевое слово CROSS JOIN создает перекрестный продукт двух таблиц.</a:t>
            </a:r>
            <a:endParaRPr lang="ru-RU" sz="2000" dirty="0" smtClean="0"/>
          </a:p>
          <a:p>
            <a:r>
              <a:rPr lang="ru-RU" sz="2000" dirty="0" smtClean="0"/>
              <a:t>Это также называется декартовым произведением двух таблиц.</a:t>
            </a:r>
            <a:endParaRPr lang="ru-RU" sz="2000" dirty="0"/>
          </a:p>
        </p:txBody>
      </p:sp>
      <p:sp>
        <p:nvSpPr>
          <p:cNvPr id="5" name="Rectangle 2"/>
          <p:cNvSpPr>
            <a:spLocks noChangeArrowheads="1"/>
          </p:cNvSpPr>
          <p:nvPr/>
        </p:nvSpPr>
        <p:spPr bwMode="blackGray">
          <a:xfrm>
            <a:off x="952500" y="3291643"/>
            <a:ext cx="7277100" cy="175101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92075" tIns="46038" rIns="92075" bIns="46038" anchor="ctr"/>
          <a:lstStyle>
            <a:lvl1pPr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tabLst>
                <a:tab pos="1200150" algn="l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select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ru-RU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 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emp.first_name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emp.last_name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  , </a:t>
            </a:r>
            <a:r>
              <a:rPr lang="en-US" altLang="ru-RU" dirty="0" err="1">
                <a:solidFill>
                  <a:srgbClr val="000000"/>
                </a:solidFill>
                <a:latin typeface="Courier New" panose="02070309020205020404" pitchFamily="49" charset="0"/>
              </a:rPr>
              <a:t>dept.department_name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from employees as emp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spcBef>
                <a:spcPct val="0"/>
              </a:spcBef>
            </a:pPr>
            <a:r>
              <a:rPr lang="en-US" altLang="ru-RU" dirty="0">
                <a:solidFill>
                  <a:srgbClr val="000000"/>
                </a:solidFill>
                <a:latin typeface="Courier New" panose="02070309020205020404" pitchFamily="49" charset="0"/>
              </a:rPr>
              <a:t>cross join departments as dept;</a:t>
            </a:r>
            <a:endParaRPr lang="en-US" altLang="ru-RU" dirty="0">
              <a:solidFill>
                <a:srgbClr val="000000"/>
              </a:solidFill>
              <a:latin typeface="Courier New" panose="02070309020205020404" pitchFamily="49" charset="0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3969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14960">
              <a:lnSpc>
                <a:spcPct val="100000"/>
              </a:lnSpc>
              <a:spcBef>
                <a:spcPts val="95"/>
              </a:spcBef>
            </a:pPr>
            <a:r>
              <a:rPr sz="2500" spc="-10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Cross-</a:t>
            </a:r>
            <a:r>
              <a:rPr sz="2500" spc="-20" dirty="0">
                <a:solidFill>
                  <a:srgbClr val="434343"/>
                </a:solidFill>
                <a:latin typeface="Arial" panose="020B0604020202020204"/>
                <a:cs typeface="Arial" panose="020B0604020202020204"/>
              </a:rPr>
              <a:t>Join</a:t>
            </a:r>
            <a:endParaRPr sz="2500">
              <a:latin typeface="Arial" panose="020B0604020202020204"/>
              <a:cs typeface="Arial" panose="020B0604020202020204"/>
            </a:endParaRPr>
          </a:p>
        </p:txBody>
      </p:sp>
      <p:pic>
        <p:nvPicPr>
          <p:cNvPr id="3" name="object 3"/>
          <p:cNvPicPr/>
          <p:nvPr/>
        </p:nvPicPr>
        <p:blipFill>
          <a:blip r:embed="rId1" cstate="print"/>
          <a:stretch>
            <a:fillRect/>
          </a:stretch>
        </p:blipFill>
        <p:spPr>
          <a:xfrm>
            <a:off x="502918" y="1010737"/>
            <a:ext cx="4710865" cy="514016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036558" y="6568857"/>
            <a:ext cx="67945" cy="225062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15"/>
              </a:spcBef>
            </a:pPr>
            <a:r>
              <a:rPr sz="600" spc="-50" dirty="0">
                <a:solidFill>
                  <a:srgbClr val="878787"/>
                </a:solidFill>
                <a:latin typeface="Arial MT"/>
                <a:cs typeface="Arial MT"/>
              </a:rPr>
              <a:t>8</a:t>
            </a:r>
            <a:endParaRPr sz="6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600" spc="-50" dirty="0">
                <a:solidFill>
                  <a:srgbClr val="878787"/>
                </a:solidFill>
                <a:latin typeface="Arial MT"/>
                <a:cs typeface="Arial MT"/>
              </a:rPr>
              <a:t>1</a:t>
            </a:r>
            <a:endParaRPr sz="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ru-RU" dirty="0" smtClean="0"/>
              <a:t>Вопрос</a:t>
            </a:r>
            <a:endParaRPr lang="ru-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altLang="ru-RU" dirty="0" smtClean="0"/>
              <a:t>Если вы соединяете таблицу с самой собой, какой тип соединения вы используете?</a:t>
            </a:r>
            <a:br>
              <a:rPr lang="ru-RU" altLang="ru-RU" dirty="0" smtClean="0"/>
            </a:br>
            <a:endParaRPr lang="en-US" altLang="ru-RU" dirty="0" smtClean="0"/>
          </a:p>
          <a:p>
            <a:pPr marL="576580" lvl="1" indent="-462280">
              <a:buFont typeface="Arial" panose="020B0604020202020204" pitchFamily="34" charset="0"/>
              <a:buAutoNum type="alphaLcPeriod"/>
            </a:pPr>
            <a:r>
              <a:rPr lang="ru-RU" altLang="ru-RU" dirty="0" smtClean="0"/>
              <a:t>Неравнозначные соединения</a:t>
            </a:r>
            <a:endParaRPr lang="ru-RU" altLang="ru-RU" dirty="0" smtClean="0"/>
          </a:p>
          <a:p>
            <a:pPr marL="576580" lvl="1" indent="-462280">
              <a:buFont typeface="Arial" panose="020B0604020202020204" pitchFamily="34" charset="0"/>
              <a:buAutoNum type="alphaLcPeriod"/>
            </a:pPr>
            <a:r>
              <a:rPr lang="en-US" altLang="ru-RU" dirty="0" smtClean="0"/>
              <a:t>INNER JOIN</a:t>
            </a:r>
            <a:endParaRPr lang="en-US" altLang="ru-RU" dirty="0" smtClean="0"/>
          </a:p>
          <a:p>
            <a:pPr marL="576580" lvl="1" indent="-462280" eaLnBrk="1" hangingPunct="1">
              <a:buFont typeface="Arial" panose="020B0604020202020204" pitchFamily="34" charset="0"/>
              <a:buAutoNum type="alphaLcPeriod"/>
            </a:pPr>
            <a:r>
              <a:rPr lang="en-US" altLang="ru-RU" dirty="0" smtClean="0"/>
              <a:t>LEFT </a:t>
            </a:r>
            <a:r>
              <a:rPr lang="en-US" altLang="ru-RU" dirty="0" smtClean="0">
                <a:latin typeface="Courier New" panose="02070309020205020404" pitchFamily="49" charset="0"/>
              </a:rPr>
              <a:t>OUTER</a:t>
            </a:r>
            <a:r>
              <a:rPr lang="en-US" altLang="ru-RU" dirty="0" smtClean="0"/>
              <a:t> </a:t>
            </a:r>
            <a:r>
              <a:rPr lang="en-US" altLang="ru-RU" dirty="0"/>
              <a:t>join</a:t>
            </a:r>
            <a:endParaRPr lang="en-US" altLang="ru-RU" dirty="0"/>
          </a:p>
          <a:p>
            <a:pPr marL="576580" lvl="1" indent="-462280" eaLnBrk="1" hangingPunct="1">
              <a:buFont typeface="Arial" panose="020B0604020202020204" pitchFamily="34" charset="0"/>
              <a:buAutoNum type="alphaLcPeriod"/>
            </a:pPr>
            <a:r>
              <a:rPr lang="en-US" altLang="ru-RU" dirty="0" smtClean="0"/>
              <a:t>RIGHT </a:t>
            </a:r>
            <a:r>
              <a:rPr lang="en-US" altLang="ru-RU" dirty="0" smtClean="0">
                <a:latin typeface="Courier New" panose="02070309020205020404" pitchFamily="49" charset="0"/>
              </a:rPr>
              <a:t>OUTER</a:t>
            </a:r>
            <a:r>
              <a:rPr lang="en-US" altLang="ru-RU" dirty="0" smtClean="0"/>
              <a:t> </a:t>
            </a:r>
            <a:r>
              <a:rPr lang="en-US" altLang="ru-RU" dirty="0"/>
              <a:t>join</a:t>
            </a:r>
            <a:endParaRPr lang="en-US" altLang="ru-RU" dirty="0"/>
          </a:p>
          <a:p>
            <a:pPr marL="576580" lvl="1" indent="-462280" eaLnBrk="1" hangingPunct="1">
              <a:buFont typeface="Arial" panose="020B0604020202020204" pitchFamily="34" charset="0"/>
              <a:buAutoNum type="alphaLcPeriod"/>
            </a:pPr>
            <a:r>
              <a:rPr lang="en-US" altLang="ru-RU" dirty="0" smtClean="0"/>
              <a:t>FULL </a:t>
            </a:r>
            <a:r>
              <a:rPr lang="en-US" altLang="ru-RU" dirty="0" smtClean="0">
                <a:latin typeface="Courier New" panose="02070309020205020404" pitchFamily="49" charset="0"/>
              </a:rPr>
              <a:t>OUTER</a:t>
            </a:r>
            <a:r>
              <a:rPr lang="en-US" altLang="ru-RU" dirty="0" smtClean="0"/>
              <a:t> </a:t>
            </a:r>
            <a:r>
              <a:rPr lang="en-US" altLang="ru-RU" dirty="0"/>
              <a:t>join</a:t>
            </a:r>
            <a:endParaRPr lang="en-US" altLang="ru-RU" dirty="0"/>
          </a:p>
          <a:p>
            <a:pPr marL="576580" lvl="1" indent="-462280" eaLnBrk="1" hangingPunct="1">
              <a:buFont typeface="Arial" panose="020B0604020202020204" pitchFamily="34" charset="0"/>
              <a:buAutoNum type="alphaLcPeriod"/>
            </a:pPr>
            <a:r>
              <a:rPr lang="ru-RU" altLang="ru-RU" dirty="0" smtClean="0"/>
              <a:t>Само соединение</a:t>
            </a:r>
            <a:endParaRPr lang="en-US" altLang="ru-RU" dirty="0"/>
          </a:p>
          <a:p>
            <a:pPr marL="576580" lvl="1" indent="-462280" eaLnBrk="1" hangingPunct="1">
              <a:buFont typeface="Arial" panose="020B0604020202020204" pitchFamily="34" charset="0"/>
              <a:buAutoNum type="alphaLcPeriod"/>
            </a:pPr>
            <a:r>
              <a:rPr lang="ru-RU" dirty="0" smtClean="0"/>
              <a:t>Декартово произведение</a:t>
            </a:r>
            <a:endParaRPr lang="ru-RU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9883</Words>
  <Application>WPS Presentation</Application>
  <PresentationFormat>Экран (4:3)</PresentationFormat>
  <Paragraphs>582</Paragraphs>
  <Slides>50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50</vt:i4>
      </vt:variant>
    </vt:vector>
  </HeadingPairs>
  <TitlesOfParts>
    <vt:vector size="66" baseType="lpstr">
      <vt:lpstr>Arial</vt:lpstr>
      <vt:lpstr>SimSun</vt:lpstr>
      <vt:lpstr>Wingdings</vt:lpstr>
      <vt:lpstr>Courier New</vt:lpstr>
      <vt:lpstr>Arial Unicode MS</vt:lpstr>
      <vt:lpstr>Calibri Light</vt:lpstr>
      <vt:lpstr>Microsoft YaHei</vt:lpstr>
      <vt:lpstr>Arial Unicode MS</vt:lpstr>
      <vt:lpstr>Calibri</vt:lpstr>
      <vt:lpstr>Georgia</vt:lpstr>
      <vt:lpstr>Times New Roman</vt:lpstr>
      <vt:lpstr>Arial</vt:lpstr>
      <vt:lpstr>Arial MT</vt:lpstr>
      <vt:lpstr>Roboto Bk</vt:lpstr>
      <vt:lpstr>Segoe Print</vt:lpstr>
      <vt:lpstr>Office Theme</vt:lpstr>
      <vt:lpstr>Вопрос</vt:lpstr>
      <vt:lpstr>Встроенные функции SQL</vt:lpstr>
      <vt:lpstr>Функции преобразования</vt:lpstr>
      <vt:lpstr>Явное преобразование типов данных</vt:lpstr>
      <vt:lpstr>Применение TO_... Функций для Даты</vt:lpstr>
      <vt:lpstr>Использование преобразования типов</vt:lpstr>
      <vt:lpstr>Преобразования даты и времени</vt:lpstr>
      <vt:lpstr>Примеры форматов в TO_DATE и TO_TIMESTAMP</vt:lpstr>
      <vt:lpstr>Получение текущей даты или Временной отметки</vt:lpstr>
      <vt:lpstr>Полезные Функции</vt:lpstr>
      <vt:lpstr>Полезные Функции</vt:lpstr>
      <vt:lpstr>Применение COALESCE Функции</vt:lpstr>
      <vt:lpstr>Пример применения COALESCE</vt:lpstr>
      <vt:lpstr>Условные выражения</vt:lpstr>
      <vt:lpstr>CASE Выражение</vt:lpstr>
      <vt:lpstr>CASE Выражение</vt:lpstr>
      <vt:lpstr>CASE Выражение</vt:lpstr>
      <vt:lpstr>Модель данных – Клиент</vt:lpstr>
      <vt:lpstr>Соединения таблиц</vt:lpstr>
      <vt:lpstr>Схема управления сотрудниками (HR)</vt:lpstr>
      <vt:lpstr>Схема управления сотрудниками (HR)</vt:lpstr>
      <vt:lpstr>JOIN`ы (Соединения) в SQL</vt:lpstr>
      <vt:lpstr>Получение данных из нескольких таблиц</vt:lpstr>
      <vt:lpstr>Типы Соединений</vt:lpstr>
      <vt:lpstr>Типы Соединений</vt:lpstr>
      <vt:lpstr>Соединение таблиц с использованием синтаксиса SQL:1999</vt:lpstr>
      <vt:lpstr>Соединения по колонками</vt:lpstr>
      <vt:lpstr>Создание объединений с оператором ON</vt:lpstr>
      <vt:lpstr>Извлечение записей с помощью оператора ON</vt:lpstr>
      <vt:lpstr>Inner Join</vt:lpstr>
      <vt:lpstr>Создание трехсторонних соединений с помощью оператора ON</vt:lpstr>
      <vt:lpstr>Применение дополнительных условий к соединению</vt:lpstr>
      <vt:lpstr>Применение дополнительных условий к соединению</vt:lpstr>
      <vt:lpstr>Соединение таблицы самой с собой</vt:lpstr>
      <vt:lpstr>Само-cоединение с применением оператора ON</vt:lpstr>
      <vt:lpstr>Неравнозначные соединения</vt:lpstr>
      <vt:lpstr>Неравнозначные соединения| Пример запроса</vt:lpstr>
      <vt:lpstr>Left [OUTER] Join</vt:lpstr>
      <vt:lpstr>INNER и OUTER Соединения</vt:lpstr>
      <vt:lpstr>LEFT OUTER JOIN</vt:lpstr>
      <vt:lpstr>RIGHT OUTER JOIN</vt:lpstr>
      <vt:lpstr>Right [OUTER] Join</vt:lpstr>
      <vt:lpstr>Left-Anti Join</vt:lpstr>
      <vt:lpstr>FULL OUTER JOIN</vt:lpstr>
      <vt:lpstr>FULL [Outer] Join</vt:lpstr>
      <vt:lpstr>Декартовы произведения</vt:lpstr>
      <vt:lpstr>Создание декартова произведения</vt:lpstr>
      <vt:lpstr>Создание перекрестных соединений</vt:lpstr>
      <vt:lpstr>Cross-Join</vt:lpstr>
      <vt:lpstr>Вопрос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Suboch, Kirill</dc:creator>
  <cp:lastModifiedBy>andrey</cp:lastModifiedBy>
  <cp:revision>110</cp:revision>
  <dcterms:created xsi:type="dcterms:W3CDTF">2020-10-05T08:41:00Z</dcterms:created>
  <dcterms:modified xsi:type="dcterms:W3CDTF">2025-11-12T08:56:05Z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20801B7090E04CF6A58A2B524D331A9D_12</vt:lpwstr>
  </property>
  <property fmtid="{D5CDD505-2E9C-101B-9397-08002B2CF9AE}" pid="3" name="KSOProductBuildVer">
    <vt:lpwstr>1033-12.2.0.23155</vt:lpwstr>
  </property>
</Properties>
</file>