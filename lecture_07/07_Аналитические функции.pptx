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07" r:id="rId2"/>
    <p:sldId id="384" r:id="rId3"/>
    <p:sldId id="385" r:id="rId4"/>
    <p:sldId id="386" r:id="rId5"/>
    <p:sldId id="412" r:id="rId6"/>
    <p:sldId id="387" r:id="rId7"/>
    <p:sldId id="413" r:id="rId8"/>
    <p:sldId id="388" r:id="rId9"/>
    <p:sldId id="389" r:id="rId10"/>
    <p:sldId id="390" r:id="rId11"/>
    <p:sldId id="391" r:id="rId12"/>
    <p:sldId id="392" r:id="rId13"/>
    <p:sldId id="416" r:id="rId14"/>
    <p:sldId id="415" r:id="rId15"/>
    <p:sldId id="393" r:id="rId16"/>
    <p:sldId id="394" r:id="rId17"/>
    <p:sldId id="395" r:id="rId18"/>
    <p:sldId id="396" r:id="rId19"/>
    <p:sldId id="397" r:id="rId20"/>
    <p:sldId id="398" r:id="rId21"/>
    <p:sldId id="399" r:id="rId22"/>
    <p:sldId id="400" r:id="rId23"/>
    <p:sldId id="417" r:id="rId24"/>
    <p:sldId id="418" r:id="rId25"/>
    <p:sldId id="419" r:id="rId26"/>
    <p:sldId id="420" r:id="rId27"/>
    <p:sldId id="401" r:id="rId28"/>
    <p:sldId id="402" r:id="rId29"/>
    <p:sldId id="403" r:id="rId30"/>
    <p:sldId id="404" r:id="rId31"/>
    <p:sldId id="422" r:id="rId32"/>
    <p:sldId id="421" r:id="rId33"/>
    <p:sldId id="405" r:id="rId34"/>
    <p:sldId id="406" r:id="rId35"/>
    <p:sldId id="423" r:id="rId36"/>
    <p:sldId id="424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14" autoAdjust="0"/>
    <p:restoredTop sz="94660"/>
  </p:normalViewPr>
  <p:slideViewPr>
    <p:cSldViewPr snapToGrid="0">
      <p:cViewPr>
        <p:scale>
          <a:sx n="75" d="100"/>
          <a:sy n="75" d="100"/>
        </p:scale>
        <p:origin x="-1509" y="-52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929484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41060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851128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005582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150284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245869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895858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686080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587795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256655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9A852-A675-45C4-9442-78DD9AA48757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622854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9A852-A675-45C4-9442-78DD9AA48757}" type="datetimeFigureOut">
              <a:rPr lang="ru-RU" smtClean="0"/>
              <a:pPr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F1F2A-BC8C-47E2-9A80-0067F3DA3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582489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b-fiddle.com/f/kVSgXux6384wV7LUZJwnQn/9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b-fiddle.com/f/kVSgXux6384wV7LU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db-fiddle.com/f/kVSgXux6384wV7LUZJwnQn/1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54415" y="1028700"/>
              <a:ext cx="1028699" cy="100804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060864" y="3177877"/>
            <a:ext cx="479806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algn="ctr">
              <a:lnSpc>
                <a:spcPct val="100000"/>
              </a:lnSpc>
              <a:spcBef>
                <a:spcPts val="100"/>
              </a:spcBef>
            </a:pPr>
            <a:r>
              <a:rPr lang="ru-RU" sz="2400" dirty="0" smtClean="0">
                <a:solidFill>
                  <a:schemeClr val="bg1"/>
                </a:solidFill>
                <a:latin typeface="Arial Black"/>
                <a:cs typeface="Arial Black"/>
              </a:rPr>
              <a:t>Агрегатные (Аналитические) функции</a:t>
            </a:r>
            <a:endParaRPr sz="240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790" y="1688015"/>
            <a:ext cx="123111" cy="2407919"/>
          </a:xfrm>
          <a:prstGeom prst="rect">
            <a:avLst/>
          </a:prstGeom>
        </p:spPr>
        <p:txBody>
          <a:bodyPr vert="vert270" wrap="square" lIns="0" tIns="1968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55"/>
              </a:spcBef>
            </a:pPr>
            <a:r>
              <a:rPr sz="800" spc="-4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СМОТРИ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В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БУДУЩЕЕ.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ИНВЕСТИРУЙ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В</a:t>
            </a:r>
            <a:r>
              <a:rPr sz="800" spc="-1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ЗНАНИЯ.</a:t>
            </a:r>
            <a:endParaRPr sz="800">
              <a:latin typeface="Microsoft JhengHei Light"/>
              <a:cs typeface="Microsoft JhengHe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B73B52-B4B6-46C6-B7CD-344338C5E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 smtClean="0"/>
              <a:t>Темы презентации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9B9C601-B1B2-4F6C-9E18-9E98CEA85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ru-RU" dirty="0"/>
              <a:t>Group functions:</a:t>
            </a:r>
          </a:p>
          <a:p>
            <a:pPr lvl="2" eaLnBrk="1" hangingPunct="1"/>
            <a:r>
              <a:rPr lang="en-US" altLang="ru-RU" dirty="0"/>
              <a:t>Types and syntax</a:t>
            </a:r>
          </a:p>
          <a:p>
            <a:pPr lvl="2" eaLnBrk="1" hangingPunct="1"/>
            <a:r>
              <a:rPr lang="en-US" altLang="ru-RU" dirty="0"/>
              <a:t>Use </a:t>
            </a:r>
            <a:r>
              <a:rPr lang="en-US" altLang="ru-RU" dirty="0">
                <a:latin typeface="Courier New" panose="02070309020205020404" pitchFamily="49" charset="0"/>
              </a:rPr>
              <a:t>AVG</a:t>
            </a:r>
            <a:r>
              <a:rPr lang="en-US" altLang="ru-RU" dirty="0"/>
              <a:t>, </a:t>
            </a:r>
            <a:r>
              <a:rPr lang="en-US" altLang="ru-RU" dirty="0">
                <a:latin typeface="Courier New" panose="02070309020205020404" pitchFamily="49" charset="0"/>
              </a:rPr>
              <a:t>SUM</a:t>
            </a:r>
            <a:r>
              <a:rPr lang="en-US" altLang="ru-RU" dirty="0"/>
              <a:t>, </a:t>
            </a:r>
            <a:r>
              <a:rPr lang="en-US" altLang="ru-RU" dirty="0">
                <a:latin typeface="Courier New" panose="02070309020205020404" pitchFamily="49" charset="0"/>
              </a:rPr>
              <a:t>MIN</a:t>
            </a:r>
            <a:r>
              <a:rPr lang="en-US" altLang="ru-RU" dirty="0"/>
              <a:t>, </a:t>
            </a:r>
            <a:r>
              <a:rPr lang="en-US" altLang="ru-RU" dirty="0">
                <a:latin typeface="Courier New" panose="02070309020205020404" pitchFamily="49" charset="0"/>
              </a:rPr>
              <a:t>MAX</a:t>
            </a:r>
            <a:r>
              <a:rPr lang="en-US" altLang="ru-RU" dirty="0"/>
              <a:t>, </a:t>
            </a:r>
            <a:r>
              <a:rPr lang="en-US" altLang="ru-RU" dirty="0">
                <a:latin typeface="Courier New" panose="02070309020205020404" pitchFamily="49" charset="0"/>
              </a:rPr>
              <a:t>COUNT</a:t>
            </a:r>
          </a:p>
          <a:p>
            <a:pPr lvl="2" eaLnBrk="1" hangingPunct="1"/>
            <a:r>
              <a:rPr lang="en-US" altLang="ru-RU" dirty="0"/>
              <a:t>Use the </a:t>
            </a:r>
            <a:r>
              <a:rPr lang="en-US" altLang="ru-RU" dirty="0">
                <a:latin typeface="Courier New" panose="02070309020205020404" pitchFamily="49" charset="0"/>
              </a:rPr>
              <a:t>DISTINCT</a:t>
            </a:r>
            <a:r>
              <a:rPr lang="en-US" altLang="ru-RU" dirty="0"/>
              <a:t> keyword within group functions</a:t>
            </a:r>
          </a:p>
          <a:p>
            <a:pPr lvl="2" eaLnBrk="1" hangingPunct="1"/>
            <a:r>
              <a:rPr lang="en-US" altLang="ru-RU" dirty="0">
                <a:latin typeface="Courier New" panose="02070309020205020404" pitchFamily="49" charset="0"/>
              </a:rPr>
              <a:t>NULL</a:t>
            </a:r>
            <a:r>
              <a:rPr lang="en-US" altLang="ru-RU" dirty="0"/>
              <a:t> values in a group function</a:t>
            </a:r>
          </a:p>
          <a:p>
            <a:pPr lvl="1" eaLnBrk="1" hangingPunct="1">
              <a:buClr>
                <a:srgbClr val="7F7F7F"/>
              </a:buClr>
            </a:pPr>
            <a:r>
              <a:rPr lang="en-US" altLang="ru-RU" dirty="0"/>
              <a:t>Grouping rows:</a:t>
            </a:r>
          </a:p>
          <a:p>
            <a:pPr lvl="2" eaLnBrk="1" hangingPunct="1">
              <a:buClr>
                <a:srgbClr val="7F7F7F"/>
              </a:buClr>
            </a:pPr>
            <a:r>
              <a:rPr lang="en-US" altLang="ru-RU" dirty="0">
                <a:latin typeface="Courier New" panose="02070309020205020404" pitchFamily="49" charset="0"/>
              </a:rPr>
              <a:t>GROUP</a:t>
            </a:r>
            <a:r>
              <a:rPr lang="en-US" altLang="ru-RU" dirty="0">
                <a:latin typeface="Times New Roman" panose="02020603050405020304" pitchFamily="18" charset="0"/>
              </a:rPr>
              <a:t> </a:t>
            </a:r>
            <a:r>
              <a:rPr lang="en-US" altLang="ru-RU" dirty="0">
                <a:latin typeface="Courier New" panose="02070309020205020404" pitchFamily="49" charset="0"/>
              </a:rPr>
              <a:t>BY</a:t>
            </a:r>
            <a:r>
              <a:rPr lang="en-US" altLang="ru-RU" dirty="0"/>
              <a:t> clause</a:t>
            </a:r>
          </a:p>
          <a:p>
            <a:pPr lvl="2" eaLnBrk="1" hangingPunct="1">
              <a:buClr>
                <a:srgbClr val="7F7F7F"/>
              </a:buClr>
            </a:pPr>
            <a:r>
              <a:rPr lang="en-US" altLang="ru-RU" dirty="0">
                <a:latin typeface="Courier New" panose="02070309020205020404" pitchFamily="49" charset="0"/>
              </a:rPr>
              <a:t>HAVING</a:t>
            </a:r>
            <a:r>
              <a:rPr lang="en-US" altLang="ru-RU" dirty="0"/>
              <a:t> clause</a:t>
            </a:r>
          </a:p>
          <a:p>
            <a:pPr lvl="1" eaLnBrk="1" hangingPunct="1">
              <a:buClr>
                <a:srgbClr val="7F7F7F"/>
              </a:buClr>
            </a:pPr>
            <a:r>
              <a:rPr lang="en-US" altLang="ru-RU" dirty="0"/>
              <a:t>Nesting group functions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420431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E08EF47-DAE9-4266-8947-4A88FE32F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/>
              <a:t>What Are Group Functions?</a:t>
            </a:r>
            <a:endParaRPr lang="ru-RU" dirty="0"/>
          </a:p>
        </p:txBody>
      </p:sp>
      <p:pic>
        <p:nvPicPr>
          <p:cNvPr id="4" name="Picture 20" descr="C:\salome_official\projects\11gR2\screenshots\les5_4s_a.gif">
            <a:extLst>
              <a:ext uri="{FF2B5EF4-FFF2-40B4-BE49-F238E27FC236}">
                <a16:creationId xmlns="" xmlns:a16="http://schemas.microsoft.com/office/drawing/2014/main" id="{6987213C-FC45-488E-AAD7-D7DB440A9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188" y="2473325"/>
            <a:ext cx="2628900" cy="25257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A27FE10E-DF17-47C8-A233-A138365C91D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178550" y="3841750"/>
            <a:ext cx="1825625" cy="1012825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sp>
        <p:nvSpPr>
          <p:cNvPr id="6" name="Rectangle 15">
            <a:extLst>
              <a:ext uri="{FF2B5EF4-FFF2-40B4-BE49-F238E27FC236}">
                <a16:creationId xmlns="" xmlns:a16="http://schemas.microsoft.com/office/drawing/2014/main" id="{881565CC-32A3-47C7-A6D5-1963EED8BB35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1447800"/>
            <a:ext cx="7918450" cy="1751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altLang="ru-RU"/>
              <a:t>Group functions operate on sets of rows to give one result per group.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B191432B-6F07-4E04-96D5-090584EA0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0" y="2120900"/>
            <a:ext cx="14128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>
                <a:latin typeface="Courier New" panose="02070309020205020404" pitchFamily="49" charset="0"/>
              </a:rPr>
              <a:t>EMPLOYEES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="" xmlns:a16="http://schemas.microsoft.com/office/drawing/2014/main" id="{FE5046F1-A5D8-4C94-A3EB-EA5609C2BE8F}"/>
              </a:ext>
            </a:extLst>
          </p:cNvPr>
          <p:cNvSpPr>
            <a:spLocks/>
          </p:cNvSpPr>
          <p:nvPr/>
        </p:nvSpPr>
        <p:spPr bwMode="gray">
          <a:xfrm>
            <a:off x="4019550" y="2457450"/>
            <a:ext cx="2157413" cy="3589338"/>
          </a:xfrm>
          <a:custGeom>
            <a:avLst/>
            <a:gdLst>
              <a:gd name="T0" fmla="*/ 0 w 1359"/>
              <a:gd name="T1" fmla="*/ 2147483647 h 2543"/>
              <a:gd name="T2" fmla="*/ 0 w 1359"/>
              <a:gd name="T3" fmla="*/ 0 h 2543"/>
              <a:gd name="T4" fmla="*/ 2147483647 w 1359"/>
              <a:gd name="T5" fmla="*/ 2147483647 h 2543"/>
              <a:gd name="T6" fmla="*/ 2147483647 w 1359"/>
              <a:gd name="T7" fmla="*/ 2147483647 h 2543"/>
              <a:gd name="T8" fmla="*/ 0 w 1359"/>
              <a:gd name="T9" fmla="*/ 2147483647 h 25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9"/>
              <a:gd name="T16" fmla="*/ 0 h 2543"/>
              <a:gd name="T17" fmla="*/ 1359 w 1359"/>
              <a:gd name="T18" fmla="*/ 2543 h 25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9" h="2543">
                <a:moveTo>
                  <a:pt x="0" y="2542"/>
                </a:moveTo>
                <a:lnTo>
                  <a:pt x="0" y="0"/>
                </a:lnTo>
                <a:lnTo>
                  <a:pt x="1358" y="962"/>
                </a:lnTo>
                <a:lnTo>
                  <a:pt x="1358" y="1702"/>
                </a:lnTo>
                <a:lnTo>
                  <a:pt x="0" y="2542"/>
                </a:lnTo>
              </a:path>
            </a:pathLst>
          </a:custGeom>
          <a:solidFill>
            <a:srgbClr val="FFCC99">
              <a:alpha val="50195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A95A5728-2D4A-4847-9D47-0635F85E6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3038" y="3962400"/>
            <a:ext cx="2278062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ru-RU"/>
              <a:t>Maximum salary in </a:t>
            </a:r>
            <a:r>
              <a:rPr lang="en-US" altLang="ru-RU">
                <a:latin typeface="Courier New" panose="02070309020205020404" pitchFamily="49" charset="0"/>
              </a:rPr>
              <a:t>EMPLOYEES</a:t>
            </a:r>
            <a:r>
              <a:rPr lang="en-US" altLang="ru-RU" sz="2400">
                <a:latin typeface="Times New Roman" panose="02020603050405020304" pitchFamily="18" charset="0"/>
              </a:rPr>
              <a:t> </a:t>
            </a:r>
            <a:r>
              <a:rPr lang="en-US" altLang="ru-RU"/>
              <a:t>table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="" xmlns:a16="http://schemas.microsoft.com/office/drawing/2014/main" id="{492BEA86-0BA1-4CD6-A9C6-651AF5DA297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314450" y="4881563"/>
            <a:ext cx="366713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lIns="12700" tIns="12700" rIns="12700" bIns="12700">
            <a:spAutoFit/>
          </a:bodyPr>
          <a:lstStyle>
            <a:lvl1pPr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r>
              <a:rPr lang="en-US" altLang="ru-RU" sz="2400"/>
              <a:t>…</a:t>
            </a:r>
          </a:p>
        </p:txBody>
      </p:sp>
      <p:pic>
        <p:nvPicPr>
          <p:cNvPr id="11" name="Picture 21" descr="C:\salome_official\projects\11gR2\screenshots\les5_4s_b.gif">
            <a:extLst>
              <a:ext uri="{FF2B5EF4-FFF2-40B4-BE49-F238E27FC236}">
                <a16:creationId xmlns="" xmlns:a16="http://schemas.microsoft.com/office/drawing/2014/main" id="{44FA23B7-8AB5-49CC-BB9B-D7A25762A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188" y="5307013"/>
            <a:ext cx="2628900" cy="685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9">
            <a:extLst>
              <a:ext uri="{FF2B5EF4-FFF2-40B4-BE49-F238E27FC236}">
                <a16:creationId xmlns="" xmlns:a16="http://schemas.microsoft.com/office/drawing/2014/main" id="{80BA7460-E381-4195-AAD1-E9FBB7AB1C73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11513" y="2462213"/>
            <a:ext cx="790575" cy="35401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pic>
        <p:nvPicPr>
          <p:cNvPr id="13" name="Picture 22" descr="C:\salome_official\projects\11gR2\screenshots\les5_4s_c.gif">
            <a:extLst>
              <a:ext uri="{FF2B5EF4-FFF2-40B4-BE49-F238E27FC236}">
                <a16:creationId xmlns="" xmlns:a16="http://schemas.microsoft.com/office/drawing/2014/main" id="{EB8A8E96-3242-4BC4-A373-3CE4B3E0F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25" y="4110038"/>
            <a:ext cx="1165225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546EBE7-538B-4CF4-BB05-865D99FCD347}"/>
              </a:ext>
            </a:extLst>
          </p:cNvPr>
          <p:cNvSpPr>
            <a:spLocks noChangeArrowheads="1"/>
          </p:cNvSpPr>
          <p:nvPr/>
        </p:nvSpPr>
        <p:spPr bwMode="gray">
          <a:xfrm>
            <a:off x="6523038" y="4305300"/>
            <a:ext cx="1157287" cy="25241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</p:spTree>
    <p:extLst>
      <p:ext uri="{BB962C8B-B14F-4D97-AF65-F5344CB8AC3E}">
        <p14:creationId xmlns="" xmlns:p14="http://schemas.microsoft.com/office/powerpoint/2010/main" val="1046943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9C83A48-DD84-4B66-9251-B98DA5EF8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/>
              <a:t>Types of Group Functions</a:t>
            </a:r>
            <a:endParaRPr lang="ru-RU" dirty="0"/>
          </a:p>
        </p:txBody>
      </p:sp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0E2EBB7E-A573-447B-8D1E-243E9AD363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7918450" cy="4541108"/>
          </a:xfrm>
        </p:spPr>
        <p:txBody>
          <a:bodyPr>
            <a:normAutofit/>
          </a:bodyPr>
          <a:lstStyle/>
          <a:p>
            <a:pPr lvl="1" eaLnBrk="1" hangingPunct="1"/>
            <a:r>
              <a:rPr lang="en-US" altLang="ru-RU" dirty="0">
                <a:latin typeface="Courier New" panose="02070309020205020404" pitchFamily="49" charset="0"/>
              </a:rPr>
              <a:t>AVG</a:t>
            </a:r>
          </a:p>
          <a:p>
            <a:pPr lvl="1" eaLnBrk="1" hangingPunct="1"/>
            <a:r>
              <a:rPr lang="en-US" altLang="ru-RU" dirty="0">
                <a:latin typeface="Courier New" panose="02070309020205020404" pitchFamily="49" charset="0"/>
              </a:rPr>
              <a:t>COUNT</a:t>
            </a:r>
          </a:p>
          <a:p>
            <a:pPr lvl="1" eaLnBrk="1" hangingPunct="1"/>
            <a:r>
              <a:rPr lang="en-US" altLang="ru-RU" dirty="0">
                <a:latin typeface="Courier New" panose="02070309020205020404" pitchFamily="49" charset="0"/>
              </a:rPr>
              <a:t>MAX</a:t>
            </a:r>
          </a:p>
          <a:p>
            <a:pPr lvl="1" eaLnBrk="1" hangingPunct="1"/>
            <a:r>
              <a:rPr lang="en-US" altLang="ru-RU" dirty="0">
                <a:latin typeface="Courier New" panose="02070309020205020404" pitchFamily="49" charset="0"/>
              </a:rPr>
              <a:t>MIN</a:t>
            </a:r>
          </a:p>
          <a:p>
            <a:pPr lvl="1" eaLnBrk="1" hangingPunct="1"/>
            <a:r>
              <a:rPr lang="en-US" altLang="ru-RU" dirty="0">
                <a:latin typeface="Courier New" panose="02070309020205020404" pitchFamily="49" charset="0"/>
              </a:rPr>
              <a:t>SUM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4FF8D7FC-2295-4758-AD97-6FBF3B88DF2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559300" y="2401888"/>
            <a:ext cx="2263775" cy="950912"/>
          </a:xfrm>
          <a:prstGeom prst="rect">
            <a:avLst/>
          </a:prstGeom>
          <a:solidFill>
            <a:srgbClr val="99CCCC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ru-RU"/>
              <a:t>Group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ru-RU"/>
              <a:t>functions</a:t>
            </a:r>
          </a:p>
        </p:txBody>
      </p:sp>
      <p:sp>
        <p:nvSpPr>
          <p:cNvPr id="6" name="Line 6">
            <a:extLst>
              <a:ext uri="{FF2B5EF4-FFF2-40B4-BE49-F238E27FC236}">
                <a16:creationId xmlns="" xmlns:a16="http://schemas.microsoft.com/office/drawing/2014/main" id="{E02381CA-422D-4172-B2B7-80B7D14C0B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3825" y="2876550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" name="Line 7">
            <a:extLst>
              <a:ext uri="{FF2B5EF4-FFF2-40B4-BE49-F238E27FC236}">
                <a16:creationId xmlns="" xmlns:a16="http://schemas.microsoft.com/office/drawing/2014/main" id="{2C363109-CDDA-42CE-9D9F-BE4CC6EDD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4188" y="2876550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8" name="Line 8">
            <a:extLst>
              <a:ext uri="{FF2B5EF4-FFF2-40B4-BE49-F238E27FC236}">
                <a16:creationId xmlns="" xmlns:a16="http://schemas.microsoft.com/office/drawing/2014/main" id="{71379987-72DE-438C-842D-C531D3AF2D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3825" y="2571750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9" name="Line 9">
            <a:extLst>
              <a:ext uri="{FF2B5EF4-FFF2-40B4-BE49-F238E27FC236}">
                <a16:creationId xmlns="" xmlns:a16="http://schemas.microsoft.com/office/drawing/2014/main" id="{FA64AD67-28BE-492F-9736-731448417D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3825" y="3124200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074245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518011"/>
            <a:ext cx="773585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Агрегатные</a:t>
            </a:r>
            <a:r>
              <a:rPr spc="-120" dirty="0"/>
              <a:t> </a:t>
            </a:r>
            <a:r>
              <a:rPr spc="-55" dirty="0"/>
              <a:t>функции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92364" y="1948996"/>
            <a:ext cx="7886700" cy="30085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  <a:buNone/>
            </a:pPr>
            <a:r>
              <a:rPr sz="2000" spc="-25" dirty="0"/>
              <a:t>Производят</a:t>
            </a:r>
            <a:r>
              <a:rPr sz="2000" spc="-40" dirty="0"/>
              <a:t> </a:t>
            </a:r>
            <a:r>
              <a:rPr sz="2000" spc="-20" dirty="0"/>
              <a:t>подсчет</a:t>
            </a:r>
            <a:r>
              <a:rPr sz="2000" spc="-35" dirty="0"/>
              <a:t> </a:t>
            </a:r>
            <a:r>
              <a:rPr sz="2000" dirty="0"/>
              <a:t>на</a:t>
            </a:r>
            <a:r>
              <a:rPr sz="2000" spc="-35" dirty="0"/>
              <a:t> </a:t>
            </a:r>
            <a:r>
              <a:rPr sz="2000" dirty="0"/>
              <a:t>основе</a:t>
            </a:r>
            <a:r>
              <a:rPr sz="2000" spc="-40" dirty="0"/>
              <a:t> </a:t>
            </a:r>
            <a:r>
              <a:rPr sz="2000" dirty="0"/>
              <a:t>нескольких</a:t>
            </a:r>
            <a:r>
              <a:rPr sz="2000" spc="-35" dirty="0"/>
              <a:t> </a:t>
            </a:r>
            <a:r>
              <a:rPr sz="2000" spc="-20" dirty="0"/>
              <a:t>показателей</a:t>
            </a:r>
            <a:r>
              <a:rPr sz="2000" spc="-35" dirty="0"/>
              <a:t> </a:t>
            </a:r>
            <a:r>
              <a:rPr sz="2000" dirty="0"/>
              <a:t>(все</a:t>
            </a:r>
            <a:r>
              <a:rPr sz="2000" spc="-40" dirty="0"/>
              <a:t> </a:t>
            </a:r>
            <a:r>
              <a:rPr sz="2000" dirty="0"/>
              <a:t>строки</a:t>
            </a:r>
            <a:r>
              <a:rPr sz="2000" spc="-35" dirty="0"/>
              <a:t> </a:t>
            </a:r>
            <a:r>
              <a:rPr sz="2000" spc="-10" dirty="0"/>
              <a:t>одного</a:t>
            </a:r>
            <a:r>
              <a:rPr sz="2000" spc="-35" dirty="0"/>
              <a:t> </a:t>
            </a:r>
            <a:r>
              <a:rPr sz="2000" spc="-10" dirty="0"/>
              <a:t>столбца)</a:t>
            </a:r>
            <a:r>
              <a:rPr sz="2000" spc="-40" dirty="0"/>
              <a:t> </a:t>
            </a:r>
            <a:r>
              <a:rPr sz="2000" spc="-50" dirty="0"/>
              <a:t>и </a:t>
            </a:r>
            <a:r>
              <a:rPr sz="2000" spc="-20" dirty="0"/>
              <a:t>возвращают</a:t>
            </a:r>
            <a:r>
              <a:rPr sz="2000" spc="-40" dirty="0"/>
              <a:t> </a:t>
            </a:r>
            <a:r>
              <a:rPr sz="2000" spc="-20" dirty="0"/>
              <a:t>атомарный</a:t>
            </a:r>
            <a:r>
              <a:rPr sz="2000" spc="-35" dirty="0"/>
              <a:t> </a:t>
            </a:r>
            <a:r>
              <a:rPr sz="2000" spc="-30" dirty="0"/>
              <a:t>результат</a:t>
            </a:r>
            <a:r>
              <a:rPr sz="2000" spc="-40" dirty="0"/>
              <a:t> </a:t>
            </a:r>
            <a:r>
              <a:rPr sz="2000" spc="-10" dirty="0"/>
              <a:t>(число).</a:t>
            </a: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2000"/>
          </a:p>
          <a:p>
            <a:pPr marL="12700">
              <a:lnSpc>
                <a:spcPct val="100000"/>
              </a:lnSpc>
              <a:spcBef>
                <a:spcPts val="5"/>
              </a:spcBef>
              <a:buNone/>
            </a:pPr>
            <a:r>
              <a:rPr sz="2000" dirty="0"/>
              <a:t>Основные</a:t>
            </a:r>
            <a:r>
              <a:rPr sz="2000" spc="-55" dirty="0"/>
              <a:t> </a:t>
            </a:r>
            <a:r>
              <a:rPr sz="2000" dirty="0"/>
              <a:t>аналитические</a:t>
            </a:r>
            <a:r>
              <a:rPr sz="2000" spc="-50" dirty="0"/>
              <a:t> </a:t>
            </a:r>
            <a:r>
              <a:rPr sz="2000" spc="-10" dirty="0"/>
              <a:t>функции:</a:t>
            </a:r>
          </a:p>
          <a:p>
            <a:pPr marL="469265" indent="-343535"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2000" b="1" dirty="0">
                <a:cs typeface="Roboto"/>
              </a:rPr>
              <a:t>SUM:</a:t>
            </a:r>
            <a:r>
              <a:rPr sz="2000" b="1" spc="-55" dirty="0">
                <a:cs typeface="Roboto"/>
              </a:rPr>
              <a:t> </a:t>
            </a:r>
            <a:r>
              <a:rPr sz="2000" spc="-10" dirty="0"/>
              <a:t>сумма</a:t>
            </a:r>
            <a:r>
              <a:rPr sz="2000" spc="-50" dirty="0"/>
              <a:t> </a:t>
            </a:r>
            <a:r>
              <a:rPr sz="2000" spc="-10" dirty="0"/>
              <a:t>значений</a:t>
            </a:r>
            <a:r>
              <a:rPr sz="2000" spc="-50" dirty="0"/>
              <a:t> </a:t>
            </a:r>
            <a:r>
              <a:rPr sz="2000" spc="-10" dirty="0"/>
              <a:t>столбца</a:t>
            </a:r>
          </a:p>
          <a:p>
            <a:pPr marL="469265" indent="-343535">
              <a:lnSpc>
                <a:spcPct val="100000"/>
              </a:lnSpc>
              <a:spcBef>
                <a:spcPts val="359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2000" b="1" dirty="0">
                <a:cs typeface="Roboto"/>
              </a:rPr>
              <a:t>COUNT</a:t>
            </a:r>
            <a:r>
              <a:rPr sz="2000" dirty="0"/>
              <a:t>:</a:t>
            </a:r>
            <a:r>
              <a:rPr sz="2000" spc="-30" dirty="0"/>
              <a:t> </a:t>
            </a:r>
            <a:r>
              <a:rPr sz="2000" dirty="0"/>
              <a:t>количество</a:t>
            </a:r>
            <a:r>
              <a:rPr sz="2000" spc="-30" dirty="0"/>
              <a:t> </a:t>
            </a:r>
            <a:r>
              <a:rPr sz="2000" spc="-10" dirty="0"/>
              <a:t>строк</a:t>
            </a:r>
            <a:r>
              <a:rPr sz="2000" spc="-30" dirty="0"/>
              <a:t> </a:t>
            </a:r>
            <a:r>
              <a:rPr sz="2000" dirty="0"/>
              <a:t>или</a:t>
            </a:r>
            <a:r>
              <a:rPr sz="2000" spc="-30" dirty="0"/>
              <a:t> </a:t>
            </a:r>
            <a:r>
              <a:rPr sz="2000" spc="-10" dirty="0"/>
              <a:t>ненулевых</a:t>
            </a:r>
            <a:r>
              <a:rPr sz="2000" spc="-25" dirty="0"/>
              <a:t> </a:t>
            </a:r>
            <a:r>
              <a:rPr sz="2000" spc="-10" dirty="0"/>
              <a:t>значений</a:t>
            </a:r>
            <a:r>
              <a:rPr sz="2000" spc="-30" dirty="0"/>
              <a:t> </a:t>
            </a:r>
            <a:r>
              <a:rPr sz="2000" dirty="0"/>
              <a:t>в</a:t>
            </a:r>
            <a:r>
              <a:rPr sz="2000" spc="-30" dirty="0"/>
              <a:t> </a:t>
            </a:r>
            <a:r>
              <a:rPr sz="2000" spc="-10" dirty="0"/>
              <a:t>столбце</a:t>
            </a:r>
          </a:p>
          <a:p>
            <a:pPr marL="469265" indent="-343535">
              <a:lnSpc>
                <a:spcPct val="100000"/>
              </a:lnSpc>
              <a:spcBef>
                <a:spcPts val="359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2000" b="1" dirty="0">
                <a:cs typeface="Roboto"/>
              </a:rPr>
              <a:t>AVG:</a:t>
            </a:r>
            <a:r>
              <a:rPr sz="2000" b="1" spc="-35" dirty="0">
                <a:cs typeface="Roboto"/>
              </a:rPr>
              <a:t> </a:t>
            </a:r>
            <a:r>
              <a:rPr sz="2000" dirty="0"/>
              <a:t>среднее</a:t>
            </a:r>
            <a:r>
              <a:rPr sz="2000" spc="-35" dirty="0"/>
              <a:t> </a:t>
            </a:r>
            <a:r>
              <a:rPr sz="2000" spc="-10" dirty="0"/>
              <a:t>значение</a:t>
            </a:r>
            <a:r>
              <a:rPr sz="2000" spc="-35" dirty="0"/>
              <a:t> </a:t>
            </a:r>
            <a:r>
              <a:rPr sz="2000" spc="-10" dirty="0"/>
              <a:t>столбца</a:t>
            </a:r>
          </a:p>
          <a:p>
            <a:pPr marL="469265" indent="-343535">
              <a:lnSpc>
                <a:spcPct val="100000"/>
              </a:lnSpc>
              <a:spcBef>
                <a:spcPts val="359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2000" b="1" dirty="0">
                <a:cs typeface="Roboto"/>
              </a:rPr>
              <a:t>MAX:</a:t>
            </a:r>
            <a:r>
              <a:rPr sz="2000" b="1" spc="10" dirty="0">
                <a:cs typeface="Roboto"/>
              </a:rPr>
              <a:t> </a:t>
            </a:r>
            <a:r>
              <a:rPr sz="2000" spc="-10" dirty="0"/>
              <a:t>максимальное</a:t>
            </a:r>
            <a:r>
              <a:rPr sz="2000" spc="10" dirty="0"/>
              <a:t> </a:t>
            </a:r>
            <a:r>
              <a:rPr sz="2000" spc="-10" dirty="0"/>
              <a:t>значение</a:t>
            </a:r>
            <a:r>
              <a:rPr sz="2000" spc="5" dirty="0"/>
              <a:t> </a:t>
            </a:r>
            <a:r>
              <a:rPr sz="2000" spc="-10" dirty="0"/>
              <a:t>столбца</a:t>
            </a:r>
          </a:p>
        </p:txBody>
      </p:sp>
      <p:sp>
        <p:nvSpPr>
          <p:cNvPr id="4" name="object 4"/>
          <p:cNvSpPr/>
          <p:nvPr/>
        </p:nvSpPr>
        <p:spPr>
          <a:xfrm>
            <a:off x="401649" y="1963667"/>
            <a:ext cx="99060" cy="789093"/>
          </a:xfrm>
          <a:custGeom>
            <a:avLst/>
            <a:gdLst/>
            <a:ahLst/>
            <a:cxnLst/>
            <a:rect l="l" t="t" r="r" b="b"/>
            <a:pathLst>
              <a:path w="99059" h="591819">
                <a:moveTo>
                  <a:pt x="98999" y="591299"/>
                </a:moveTo>
                <a:lnTo>
                  <a:pt x="0" y="591299"/>
                </a:lnTo>
                <a:lnTo>
                  <a:pt x="0" y="0"/>
                </a:lnTo>
                <a:lnTo>
                  <a:pt x="98999" y="0"/>
                </a:lnTo>
                <a:lnTo>
                  <a:pt x="98999" y="591299"/>
                </a:lnTo>
                <a:close/>
              </a:path>
            </a:pathLst>
          </a:custGeom>
          <a:solidFill>
            <a:srgbClr val="D1336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F39510F-DCD5-4903-A37F-AD8ADBE81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/>
              <a:t>Group Functions: Syntax</a:t>
            </a:r>
            <a:endParaRPr lang="ru-RU" dirty="0"/>
          </a:p>
        </p:txBody>
      </p:sp>
      <p:sp>
        <p:nvSpPr>
          <p:cNvPr id="5" name="Rectangle 2050">
            <a:extLst>
              <a:ext uri="{FF2B5EF4-FFF2-40B4-BE49-F238E27FC236}">
                <a16:creationId xmlns="" xmlns:a16="http://schemas.microsoft.com/office/drawing/2014/main" id="{2F6AAF36-CE18-4464-B756-C2159712F6E9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876300" y="1838325"/>
            <a:ext cx="7200900" cy="12096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SELECT     </a:t>
            </a:r>
            <a:r>
              <a:rPr lang="en-US" altLang="ru-RU" i="1">
                <a:solidFill>
                  <a:srgbClr val="000000"/>
                </a:solidFill>
                <a:latin typeface="Courier New" panose="02070309020205020404" pitchFamily="49" charset="0"/>
              </a:rPr>
              <a:t>group_function(column), ...</a:t>
            </a:r>
            <a:endParaRPr lang="en-US" altLang="ru-RU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FROM	  </a:t>
            </a:r>
            <a:r>
              <a:rPr lang="en-US" altLang="ru-RU" i="1">
                <a:solidFill>
                  <a:srgbClr val="000000"/>
                </a:solidFill>
                <a:latin typeface="Courier New" panose="02070309020205020404" pitchFamily="49" charset="0"/>
              </a:rPr>
              <a:t>table</a:t>
            </a:r>
            <a:endParaRPr lang="en-US" altLang="ru-RU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[WHERE	  </a:t>
            </a:r>
            <a:r>
              <a:rPr lang="en-US" altLang="ru-RU" i="1">
                <a:solidFill>
                  <a:srgbClr val="000000"/>
                </a:solidFill>
                <a:latin typeface="Courier New" panose="02070309020205020404" pitchFamily="49" charset="0"/>
              </a:rPr>
              <a:t>condition</a:t>
            </a: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];</a:t>
            </a:r>
          </a:p>
        </p:txBody>
      </p:sp>
      <p:sp>
        <p:nvSpPr>
          <p:cNvPr id="7" name="Rectangle 2052">
            <a:extLst>
              <a:ext uri="{FF2B5EF4-FFF2-40B4-BE49-F238E27FC236}">
                <a16:creationId xmlns="" xmlns:a16="http://schemas.microsoft.com/office/drawing/2014/main" id="{FAD2DCB4-6AA6-4E6F-A5BD-81800BA20828}"/>
              </a:ext>
            </a:extLst>
          </p:cNvPr>
          <p:cNvSpPr>
            <a:spLocks noChangeArrowheads="1"/>
          </p:cNvSpPr>
          <p:nvPr/>
        </p:nvSpPr>
        <p:spPr bwMode="gray">
          <a:xfrm>
            <a:off x="2362200" y="2057400"/>
            <a:ext cx="3810000" cy="3048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</p:spTree>
    <p:extLst>
      <p:ext uri="{BB962C8B-B14F-4D97-AF65-F5344CB8AC3E}">
        <p14:creationId xmlns="" xmlns:p14="http://schemas.microsoft.com/office/powerpoint/2010/main" val="3845641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60169"/>
          </a:xfrm>
          <a:prstGeom prst="rect">
            <a:avLst/>
          </a:prstGeom>
        </p:spPr>
        <p:txBody>
          <a:bodyPr vert="horz" wrap="square" lIns="0" tIns="181290" rIns="0" bIns="0" rtlCol="0">
            <a:spAutoFit/>
          </a:bodyPr>
          <a:lstStyle/>
          <a:p>
            <a:pPr marL="3905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Агрегатные</a:t>
            </a:r>
            <a:r>
              <a:rPr spc="-120" dirty="0"/>
              <a:t> </a:t>
            </a:r>
            <a:r>
              <a:rPr spc="-70" dirty="0"/>
              <a:t>функции:</a:t>
            </a:r>
            <a:r>
              <a:rPr spc="-114" dirty="0"/>
              <a:t> </a:t>
            </a:r>
            <a:r>
              <a:rPr spc="-10" dirty="0"/>
              <a:t>пример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3026" y="1989372"/>
            <a:ext cx="317944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solidFill>
                  <a:srgbClr val="434343"/>
                </a:solidFill>
                <a:latin typeface="Roboto"/>
                <a:cs typeface="Roboto"/>
              </a:rPr>
              <a:t>Подсчитать</a:t>
            </a:r>
            <a:r>
              <a:rPr sz="15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общую</a:t>
            </a:r>
            <a:r>
              <a:rPr sz="15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сумму</a:t>
            </a:r>
            <a:r>
              <a:rPr sz="15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покупок.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3026" y="3135082"/>
            <a:ext cx="3522345" cy="9146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700" dirty="0">
                <a:solidFill>
                  <a:srgbClr val="0000FF"/>
                </a:solidFill>
                <a:latin typeface="Courier New"/>
                <a:cs typeface="Courier New"/>
              </a:rPr>
              <a:t>SELECT</a:t>
            </a:r>
            <a:r>
              <a:rPr sz="1700" spc="-9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700" i="1" spc="-10" dirty="0">
                <a:solidFill>
                  <a:srgbClr val="FF00FF"/>
                </a:solidFill>
                <a:latin typeface="Courier New"/>
                <a:cs typeface="Courier New"/>
              </a:rPr>
              <a:t>Sum</a:t>
            </a:r>
            <a:r>
              <a:rPr sz="1700" spc="-10" dirty="0">
                <a:solidFill>
                  <a:srgbClr val="800000"/>
                </a:solidFill>
                <a:latin typeface="Courier New"/>
                <a:cs typeface="Courier New"/>
              </a:rPr>
              <a:t>(sales_amount)</a:t>
            </a:r>
            <a:r>
              <a:rPr sz="1700" spc="-90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700" spc="-25" dirty="0">
                <a:solidFill>
                  <a:srgbClr val="0000FF"/>
                </a:solidFill>
                <a:latin typeface="Courier New"/>
                <a:cs typeface="Courier New"/>
              </a:rPr>
              <a:t>AS </a:t>
            </a:r>
            <a:r>
              <a:rPr sz="1700" spc="-10" dirty="0">
                <a:solidFill>
                  <a:srgbClr val="800000"/>
                </a:solidFill>
                <a:latin typeface="Courier New"/>
                <a:cs typeface="Courier New"/>
              </a:rPr>
              <a:t>total_sales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700" dirty="0">
                <a:solidFill>
                  <a:srgbClr val="0000FF"/>
                </a:solidFill>
                <a:latin typeface="Courier New"/>
                <a:cs typeface="Courier New"/>
              </a:rPr>
              <a:t>FROM</a:t>
            </a:r>
            <a:r>
              <a:rPr sz="1700" spc="-6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700" spc="-10" dirty="0">
                <a:solidFill>
                  <a:srgbClr val="800000"/>
                </a:solidFill>
                <a:latin typeface="Courier New"/>
                <a:cs typeface="Courier New"/>
              </a:rPr>
              <a:t>sales</a:t>
            </a:r>
            <a:r>
              <a:rPr sz="1700" spc="-10" dirty="0">
                <a:solidFill>
                  <a:srgbClr val="C0C0C0"/>
                </a:solidFill>
                <a:latin typeface="Courier New"/>
                <a:cs typeface="Courier New"/>
              </a:rPr>
              <a:t>;</a:t>
            </a:r>
            <a:endParaRPr sz="1700"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57188" y="2660649"/>
          <a:ext cx="4404359" cy="26754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8120"/>
                <a:gridCol w="1468120"/>
                <a:gridCol w="1468119"/>
              </a:tblGrid>
              <a:tr h="663787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b="1" spc="-25" dirty="0">
                          <a:latin typeface="Arial"/>
                          <a:cs typeface="Arial"/>
                        </a:rPr>
                        <a:t>ID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b="1" spc="-20" dirty="0">
                          <a:latin typeface="Arial"/>
                          <a:cs typeface="Arial"/>
                        </a:rPr>
                        <a:t>Date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b="1" spc="-10" dirty="0">
                          <a:latin typeface="Arial"/>
                          <a:cs typeface="Arial"/>
                        </a:rPr>
                        <a:t>Sales_amount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</a:tr>
              <a:tr h="663787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10" dirty="0">
                          <a:latin typeface="Microsoft Sans Serif"/>
                          <a:cs typeface="Microsoft Sans Serif"/>
                        </a:rPr>
                        <a:t>19/05/2023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10" dirty="0">
                          <a:latin typeface="Microsoft Sans Serif"/>
                          <a:cs typeface="Microsoft Sans Serif"/>
                        </a:rPr>
                        <a:t>10.45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663787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10" dirty="0">
                          <a:latin typeface="Microsoft Sans Serif"/>
                          <a:cs typeface="Microsoft Sans Serif"/>
                        </a:rPr>
                        <a:t>20/05/2023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25" dirty="0">
                          <a:latin typeface="Microsoft Sans Serif"/>
                          <a:cs typeface="Microsoft Sans Serif"/>
                        </a:rPr>
                        <a:t>250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663787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10" dirty="0">
                          <a:latin typeface="Microsoft Sans Serif"/>
                          <a:cs typeface="Microsoft Sans Serif"/>
                        </a:rPr>
                        <a:t>21/05/2023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10" dirty="0">
                          <a:latin typeface="Microsoft Sans Serif"/>
                          <a:cs typeface="Microsoft Sans Serif"/>
                        </a:rPr>
                        <a:t>67.20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E322084-4EA0-479C-A369-D0D541FB5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ru-RU" sz="3600" dirty="0" smtClean="0"/>
              <a:t>Применение </a:t>
            </a:r>
            <a:r>
              <a:rPr lang="en-US" altLang="ru-RU" sz="3600" dirty="0" smtClean="0">
                <a:latin typeface="Courier New" panose="02070309020205020404" pitchFamily="49" charset="0"/>
              </a:rPr>
              <a:t>AVG</a:t>
            </a:r>
            <a:r>
              <a:rPr lang="en-US" altLang="ru-RU" sz="3600" dirty="0" smtClean="0"/>
              <a:t> </a:t>
            </a:r>
            <a:r>
              <a:rPr lang="ru-RU" altLang="ru-RU" sz="3600" dirty="0" smtClean="0"/>
              <a:t>и </a:t>
            </a:r>
            <a:r>
              <a:rPr lang="en-US" altLang="ru-RU" sz="3600" dirty="0" smtClean="0">
                <a:latin typeface="Courier New" panose="02070309020205020404" pitchFamily="49" charset="0"/>
              </a:rPr>
              <a:t>SUM</a:t>
            </a:r>
            <a:r>
              <a:rPr lang="en-US" altLang="ru-RU" sz="3600" dirty="0" smtClean="0"/>
              <a:t> </a:t>
            </a:r>
            <a:r>
              <a:rPr lang="ru-RU" altLang="ru-RU" sz="3600" dirty="0" smtClean="0"/>
              <a:t>функций</a:t>
            </a:r>
            <a:endParaRPr lang="ru-RU" sz="3600"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A9D8CD05-3A59-4500-90D1-5CEB8851FC0B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876300" y="2569020"/>
            <a:ext cx="7262813" cy="11906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SELECT AVG(salary), MAX(salary),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       MIN(salary), SUM(salary)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FROM   employees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WHERE 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job_id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 LIKE '%REP%';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="" xmlns:a16="http://schemas.microsoft.com/office/drawing/2014/main" id="{6F2DE675-CB51-4979-99E7-3AEEDFEC53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883220"/>
            <a:ext cx="7918450" cy="1751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altLang="ru-RU" sz="2000" dirty="0" smtClean="0"/>
              <a:t>Для числовых данных можно использовать функции AVG и SUM.</a:t>
            </a:r>
            <a:endParaRPr lang="en-US" altLang="ru-RU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ECB89054-C0DC-46AD-974E-DD89914FEDFC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57375" y="2627758"/>
            <a:ext cx="3524250" cy="54133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pic>
        <p:nvPicPr>
          <p:cNvPr id="7" name="Picture 11" descr="C:\salome_official\projects\11gR2\screenshots\les5_7s_a.gif">
            <a:extLst>
              <a:ext uri="{FF2B5EF4-FFF2-40B4-BE49-F238E27FC236}">
                <a16:creationId xmlns="" xmlns:a16="http://schemas.microsoft.com/office/drawing/2014/main" id="{BB7BE04A-27D7-4229-BCCD-05AE71DC6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50" y="4004120"/>
            <a:ext cx="5064125" cy="4460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899D707-829E-49DB-A1C4-87EA2A3592F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404938" y="3991420"/>
            <a:ext cx="4568825" cy="2286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</p:spTree>
    <p:extLst>
      <p:ext uri="{BB962C8B-B14F-4D97-AF65-F5344CB8AC3E}">
        <p14:creationId xmlns="" xmlns:p14="http://schemas.microsoft.com/office/powerpoint/2010/main" val="3037520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24B7F9-6579-4157-B1E2-9C4400EF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ru-RU" sz="3600" dirty="0" smtClean="0"/>
              <a:t>Применение </a:t>
            </a:r>
            <a:r>
              <a:rPr lang="en-US" altLang="ru-RU" sz="3600" dirty="0" smtClean="0">
                <a:latin typeface="Courier New" panose="02070309020205020404" pitchFamily="49" charset="0"/>
              </a:rPr>
              <a:t>MIN</a:t>
            </a:r>
            <a:r>
              <a:rPr lang="en-US" altLang="ru-RU" sz="3600" dirty="0" smtClean="0"/>
              <a:t> </a:t>
            </a:r>
            <a:r>
              <a:rPr lang="ru-RU" altLang="ru-RU" sz="3600" dirty="0" smtClean="0"/>
              <a:t>и</a:t>
            </a:r>
            <a:r>
              <a:rPr lang="en-US" altLang="ru-RU" sz="3600" dirty="0" smtClean="0"/>
              <a:t> </a:t>
            </a:r>
            <a:r>
              <a:rPr lang="en-US" altLang="ru-RU" sz="3600" dirty="0" smtClean="0">
                <a:latin typeface="Courier New" panose="02070309020205020404" pitchFamily="49" charset="0"/>
              </a:rPr>
              <a:t>MAX</a:t>
            </a:r>
            <a:r>
              <a:rPr lang="en-US" altLang="ru-RU" sz="3600" dirty="0" smtClean="0"/>
              <a:t> </a:t>
            </a:r>
            <a:r>
              <a:rPr lang="ru-RU" altLang="ru-RU" sz="3600" dirty="0" smtClean="0"/>
              <a:t>функций</a:t>
            </a:r>
            <a:endParaRPr lang="ru-RU" sz="3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7BA5BF98-E3D8-41FA-8BA7-90A3C0F88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54192"/>
            <a:ext cx="7918450" cy="1751013"/>
          </a:xfrm>
        </p:spPr>
        <p:txBody>
          <a:bodyPr>
            <a:normAutofit/>
          </a:bodyPr>
          <a:lstStyle/>
          <a:p>
            <a:r>
              <a:rPr lang="ru-RU" altLang="ru-RU" sz="2400" dirty="0" smtClean="0"/>
              <a:t>Вы можете использовать MIN и MAX для числовых, символьных типов данных и так же для даты.</a:t>
            </a:r>
            <a:endParaRPr lang="en-US" altLang="ru-RU" sz="2400" dirty="0"/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21828F52-F1A1-4A82-940A-782392F840E9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876300" y="2920992"/>
            <a:ext cx="7262813" cy="6524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SELECT MIN(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hire_date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), MAX(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hire_date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FROM	  employees;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D34BE4F1-FAA8-429F-AAD5-7D50AEE050A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46263" y="2963855"/>
            <a:ext cx="4189412" cy="279400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pic>
        <p:nvPicPr>
          <p:cNvPr id="7" name="Picture 8">
            <a:extLst>
              <a:ext uri="{FF2B5EF4-FFF2-40B4-BE49-F238E27FC236}">
                <a16:creationId xmlns="" xmlns:a16="http://schemas.microsoft.com/office/drawing/2014/main" id="{B73F31C0-FFB8-4F00-A847-C30D918CC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87792"/>
            <a:ext cx="3241675" cy="511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8">
            <a:extLst>
              <a:ext uri="{FF2B5EF4-FFF2-40B4-BE49-F238E27FC236}">
                <a16:creationId xmlns="" xmlns:a16="http://schemas.microsoft.com/office/drawing/2014/main" id="{2ABEACB7-4AB2-475C-849A-01833C9F5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987792"/>
            <a:ext cx="3200400" cy="228600"/>
          </a:xfrm>
          <a:prstGeom prst="rect">
            <a:avLst/>
          </a:prstGeom>
          <a:noFill/>
          <a:ln w="28575" algn="ctr">
            <a:solidFill>
              <a:schemeClr val="accent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="" xmlns:p14="http://schemas.microsoft.com/office/powerpoint/2010/main" val="1798109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24B7F9-6579-4157-B1E2-9C4400EF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ru-RU" sz="3600" dirty="0" smtClean="0"/>
              <a:t>Функция </a:t>
            </a:r>
            <a:r>
              <a:rPr lang="en-US" altLang="ru-RU" sz="3600" dirty="0" smtClean="0">
                <a:latin typeface="Courier New" panose="02070309020205020404" pitchFamily="49" charset="0"/>
              </a:rPr>
              <a:t>COUNT</a:t>
            </a:r>
            <a:endParaRPr lang="ru-RU" sz="3600" dirty="0"/>
          </a:p>
        </p:txBody>
      </p:sp>
      <p:sp>
        <p:nvSpPr>
          <p:cNvPr id="4" name="Rectangle 13">
            <a:extLst>
              <a:ext uri="{FF2B5EF4-FFF2-40B4-BE49-F238E27FC236}">
                <a16:creationId xmlns="" xmlns:a16="http://schemas.microsoft.com/office/drawing/2014/main" id="{9B3D47E6-5DC8-4196-A4ED-78F31768F988}"/>
              </a:ext>
            </a:extLst>
          </p:cNvPr>
          <p:cNvSpPr txBox="1">
            <a:spLocks noChangeArrowheads="1"/>
          </p:cNvSpPr>
          <p:nvPr/>
        </p:nvSpPr>
        <p:spPr>
          <a:xfrm>
            <a:off x="840262" y="1447800"/>
            <a:ext cx="7918450" cy="3001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ru-RU" sz="2000" dirty="0" smtClean="0">
                <a:latin typeface="Courier New" panose="02070309020205020404" pitchFamily="49" charset="0"/>
              </a:rPr>
              <a:t>COUNT(*) возвращает количество строк в таблице:</a:t>
            </a:r>
          </a:p>
          <a:p>
            <a:pPr marL="0" indent="0">
              <a:buNone/>
            </a:pPr>
            <a:endParaRPr lang="en-US" altLang="ru-RU" sz="2000" dirty="0"/>
          </a:p>
          <a:p>
            <a:pPr marL="0" indent="0"/>
            <a:endParaRPr lang="en-US" altLang="ru-RU" sz="2000" dirty="0"/>
          </a:p>
          <a:p>
            <a:pPr marL="0" indent="0"/>
            <a:endParaRPr lang="en-US" altLang="ru-RU" sz="2000" dirty="0"/>
          </a:p>
          <a:p>
            <a:pPr marL="0" indent="0"/>
            <a:endParaRPr lang="en-US" altLang="ru-RU" sz="2000" dirty="0"/>
          </a:p>
          <a:p>
            <a:pPr marL="0" indent="0">
              <a:buNone/>
            </a:pPr>
            <a:r>
              <a:rPr lang="ru-RU" altLang="ru-RU" sz="2000" dirty="0" smtClean="0">
                <a:latin typeface="Courier New" panose="02070309020205020404" pitchFamily="49" charset="0"/>
              </a:rPr>
              <a:t>COUNT(</a:t>
            </a:r>
            <a:r>
              <a:rPr lang="ru-RU" altLang="ru-RU" sz="2000" dirty="0" err="1" smtClean="0">
                <a:latin typeface="Courier New" panose="02070309020205020404" pitchFamily="49" charset="0"/>
              </a:rPr>
              <a:t>expr</a:t>
            </a:r>
            <a:r>
              <a:rPr lang="ru-RU" altLang="ru-RU" sz="2000" dirty="0" smtClean="0">
                <a:latin typeface="Courier New" panose="02070309020205020404" pitchFamily="49" charset="0"/>
              </a:rPr>
              <a:t>) возвращает количество строк с ненулевыми значениями для </a:t>
            </a:r>
            <a:r>
              <a:rPr lang="ru-RU" altLang="ru-RU" sz="2000" dirty="0" err="1" smtClean="0">
                <a:latin typeface="Courier New" panose="02070309020205020404" pitchFamily="49" charset="0"/>
              </a:rPr>
              <a:t>expr</a:t>
            </a:r>
            <a:r>
              <a:rPr lang="ru-RU" altLang="ru-RU" sz="2000" dirty="0" smtClean="0">
                <a:latin typeface="Courier New" panose="02070309020205020404" pitchFamily="49" charset="0"/>
              </a:rPr>
              <a:t>:</a:t>
            </a:r>
            <a:endParaRPr lang="en-US" altLang="ru-RU" sz="2000" dirty="0"/>
          </a:p>
        </p:txBody>
      </p:sp>
      <p:sp>
        <p:nvSpPr>
          <p:cNvPr id="5" name="Rectangle 3">
            <a:extLst>
              <a:ext uri="{FF2B5EF4-FFF2-40B4-BE49-F238E27FC236}">
                <a16:creationId xmlns="" xmlns:a16="http://schemas.microsoft.com/office/drawing/2014/main" id="{FA5C7351-81D0-4E11-8B53-AC0EEB3E181F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866775" y="4267200"/>
            <a:ext cx="7277100" cy="9445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SELECT COUNT(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commission_pct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FROM   employees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WHERE 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 = 50;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="" xmlns:a16="http://schemas.microsoft.com/office/drawing/2014/main" id="{808313D7-85B7-4EB6-B7EE-7962D18B8097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866775" y="1905000"/>
            <a:ext cx="7277100" cy="9445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SELECT COUNT(*)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FROM   employees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WHERE 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 = 50;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2B938183-1C93-46CB-AD12-43D6ED28F9A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33563" y="1952625"/>
            <a:ext cx="1209675" cy="317500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sp>
        <p:nvSpPr>
          <p:cNvPr id="8" name="Rectangle 9">
            <a:extLst>
              <a:ext uri="{FF2B5EF4-FFF2-40B4-BE49-F238E27FC236}">
                <a16:creationId xmlns="" xmlns:a16="http://schemas.microsoft.com/office/drawing/2014/main" id="{E792920B-D771-4429-B691-C6F3B41BC44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60550" y="4318000"/>
            <a:ext cx="2932113" cy="280988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pic>
        <p:nvPicPr>
          <p:cNvPr id="9" name="Picture 16" descr="C:\salome_official\projects\11gR2\screenshots\les5_9s_a.gif">
            <a:extLst>
              <a:ext uri="{FF2B5EF4-FFF2-40B4-BE49-F238E27FC236}">
                <a16:creationId xmlns="" xmlns:a16="http://schemas.microsoft.com/office/drawing/2014/main" id="{0BEA5098-AB2F-4DBC-B9DF-F13185600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38" y="2944895"/>
            <a:ext cx="1428750" cy="4683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>
            <a:extLst>
              <a:ext uri="{FF2B5EF4-FFF2-40B4-BE49-F238E27FC236}">
                <a16:creationId xmlns="" xmlns:a16="http://schemas.microsoft.com/office/drawing/2014/main" id="{36B85F16-8A66-49E5-8F67-332EA3690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334000"/>
            <a:ext cx="23495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1" name="Oval 20">
            <a:extLst>
              <a:ext uri="{FF2B5EF4-FFF2-40B4-BE49-F238E27FC236}">
                <a16:creationId xmlns="" xmlns:a16="http://schemas.microsoft.com/office/drawing/2014/main" id="{A30A4D60-4185-42F2-A52B-0B626DA5905B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57200" y="4572000"/>
            <a:ext cx="381000" cy="379413"/>
          </a:xfrm>
          <a:prstGeom prst="ellipse">
            <a:avLst/>
          </a:prstGeom>
          <a:solidFill>
            <a:srgbClr val="99CC00"/>
          </a:solidFill>
          <a:ln w="28575">
            <a:solidFill>
              <a:schemeClr val="bg2"/>
            </a:solidFill>
            <a:round/>
            <a:headEnd/>
            <a:tailEnd/>
          </a:ln>
        </p:spPr>
        <p:txBody>
          <a:bodyPr wrap="none" lIns="101600" tIns="50800" rIns="101600" bIns="50800" anchor="ctr"/>
          <a:lstStyle>
            <a:lvl1pPr defTabSz="1111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111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111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111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111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11112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11112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11112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11112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ru-RU" sz="2000" b="1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12" name="Oval 19">
            <a:extLst>
              <a:ext uri="{FF2B5EF4-FFF2-40B4-BE49-F238E27FC236}">
                <a16:creationId xmlns="" xmlns:a16="http://schemas.microsoft.com/office/drawing/2014/main" id="{28B3EF22-5681-4FFA-9695-0C425BF55E26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57200" y="2133600"/>
            <a:ext cx="373063" cy="373063"/>
          </a:xfrm>
          <a:prstGeom prst="ellipse">
            <a:avLst/>
          </a:prstGeom>
          <a:solidFill>
            <a:srgbClr val="99CC00"/>
          </a:solidFill>
          <a:ln w="28575">
            <a:solidFill>
              <a:schemeClr val="bg2"/>
            </a:solidFill>
            <a:round/>
            <a:headEnd/>
            <a:tailEnd/>
          </a:ln>
        </p:spPr>
        <p:txBody>
          <a:bodyPr wrap="none" lIns="101600" tIns="50800" rIns="101600" bIns="50800" anchor="ctr"/>
          <a:lstStyle>
            <a:lvl1pPr defTabSz="1111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111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111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111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111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11112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11112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11112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11112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ru-RU" sz="2000" b="1">
                <a:solidFill>
                  <a:schemeClr val="bg2"/>
                </a:solidFill>
              </a:rPr>
              <a:t>1</a:t>
            </a:r>
          </a:p>
        </p:txBody>
      </p:sp>
    </p:spTree>
    <p:extLst>
      <p:ext uri="{BB962C8B-B14F-4D97-AF65-F5344CB8AC3E}">
        <p14:creationId xmlns="" xmlns:p14="http://schemas.microsoft.com/office/powerpoint/2010/main" val="1810140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24B7F9-6579-4157-B1E2-9C4400EF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ru-RU" sz="2800" dirty="0" smtClean="0"/>
              <a:t>Применение оператора </a:t>
            </a:r>
            <a:r>
              <a:rPr lang="en-US" altLang="ru-RU" sz="2800" dirty="0" smtClean="0">
                <a:latin typeface="Courier New" panose="02070309020205020404" pitchFamily="49" charset="0"/>
              </a:rPr>
              <a:t>DISTINCT</a:t>
            </a:r>
            <a:r>
              <a:rPr lang="ru-RU" altLang="ru-RU" sz="2800" dirty="0" smtClean="0">
                <a:latin typeface="Courier New" panose="02070309020205020404" pitchFamily="49" charset="0"/>
              </a:rPr>
              <a:t> и </a:t>
            </a:r>
            <a:r>
              <a:rPr lang="en-US" altLang="ru-RU" sz="2800" dirty="0" smtClean="0">
                <a:latin typeface="Courier New" panose="02070309020205020404" pitchFamily="49" charset="0"/>
              </a:rPr>
              <a:t>COUNT</a:t>
            </a:r>
            <a:endParaRPr lang="ru-RU" sz="2800"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1CD5D79D-D9F8-4842-B7CF-F4625F7424AD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866775" y="3417884"/>
            <a:ext cx="7277100" cy="685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SELECT COUNT(DISTINCT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FROM   employees;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="" xmlns:a16="http://schemas.microsoft.com/office/drawing/2014/main" id="{D237E80F-F3D5-48DC-BE66-C32D238772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0914" y="1643742"/>
            <a:ext cx="7918450" cy="1751013"/>
          </a:xfrm>
        </p:spPr>
        <p:txBody>
          <a:bodyPr>
            <a:normAutofit/>
          </a:bodyPr>
          <a:lstStyle/>
          <a:p>
            <a:pPr lvl="1"/>
            <a:r>
              <a:rPr lang="ru-RU" altLang="ru-RU" sz="2000" dirty="0" smtClean="0">
                <a:latin typeface="Courier New" panose="02070309020205020404" pitchFamily="49" charset="0"/>
              </a:rPr>
              <a:t>COUNT(DISTINCT </a:t>
            </a:r>
            <a:r>
              <a:rPr lang="ru-RU" altLang="ru-RU" sz="2000" dirty="0" err="1" smtClean="0">
                <a:latin typeface="Courier New" panose="02070309020205020404" pitchFamily="49" charset="0"/>
              </a:rPr>
              <a:t>expr</a:t>
            </a:r>
            <a:r>
              <a:rPr lang="ru-RU" altLang="ru-RU" sz="2000" dirty="0" smtClean="0">
                <a:latin typeface="Courier New" panose="02070309020205020404" pitchFamily="49" charset="0"/>
              </a:rPr>
              <a:t>) возвращает количество отдельных ненулевых значений </a:t>
            </a:r>
            <a:r>
              <a:rPr lang="ru-RU" altLang="ru-RU" sz="2000" dirty="0" err="1" smtClean="0">
                <a:latin typeface="Courier New" panose="02070309020205020404" pitchFamily="49" charset="0"/>
              </a:rPr>
              <a:t>expr</a:t>
            </a:r>
            <a:r>
              <a:rPr lang="ru-RU" altLang="ru-RU" sz="2000" dirty="0" smtClean="0">
                <a:latin typeface="Courier New" panose="02070309020205020404" pitchFamily="49" charset="0"/>
              </a:rPr>
              <a:t>.</a:t>
            </a:r>
            <a:endParaRPr lang="en-US" altLang="ru-RU" sz="2000" dirty="0" smtClean="0">
              <a:latin typeface="Courier New" panose="02070309020205020404" pitchFamily="49" charset="0"/>
            </a:endParaRPr>
          </a:p>
          <a:p>
            <a:pPr lvl="1"/>
            <a:endParaRPr lang="en-US" altLang="ru-RU" sz="2000" dirty="0" smtClean="0">
              <a:latin typeface="Courier New" panose="02070309020205020404" pitchFamily="49" charset="0"/>
            </a:endParaRPr>
          </a:p>
          <a:p>
            <a:pPr lvl="1"/>
            <a:r>
              <a:rPr lang="ru-RU" altLang="ru-RU" sz="2000" dirty="0" smtClean="0">
                <a:latin typeface="Courier New" panose="02070309020205020404" pitchFamily="49" charset="0"/>
              </a:rPr>
              <a:t>Отобразите количество уникальных значений отделов в таблице EMPLOYEES:</a:t>
            </a:r>
            <a:endParaRPr lang="en-US" altLang="ru-RU" sz="2000" dirty="0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8FB0B716-2D04-4F38-9D90-761A00FA904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62138" y="3478209"/>
            <a:ext cx="4060825" cy="280987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pic>
        <p:nvPicPr>
          <p:cNvPr id="7" name="Picture 10" descr="C:\salome_official\projects\11gR2\screenshots\les5_10s_a.gif">
            <a:extLst>
              <a:ext uri="{FF2B5EF4-FFF2-40B4-BE49-F238E27FC236}">
                <a16:creationId xmlns="" xmlns:a16="http://schemas.microsoft.com/office/drawing/2014/main" id="{00D60588-7FAF-4E3C-BA4D-8C90049EE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38" y="4311646"/>
            <a:ext cx="2960687" cy="4683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993414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24B7F9-6579-4157-B1E2-9C4400EF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ru-RU" sz="3200" dirty="0" smtClean="0"/>
              <a:t>Функции группировки и нулевые значения</a:t>
            </a:r>
            <a:endParaRPr lang="ru-RU" sz="3200" dirty="0"/>
          </a:p>
        </p:txBody>
      </p:sp>
      <p:sp>
        <p:nvSpPr>
          <p:cNvPr id="4" name="Rectangle 13">
            <a:extLst>
              <a:ext uri="{FF2B5EF4-FFF2-40B4-BE49-F238E27FC236}">
                <a16:creationId xmlns="" xmlns:a16="http://schemas.microsoft.com/office/drawing/2014/main" id="{0688F4EB-7612-4977-8F76-D1EE61C42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774365"/>
            <a:ext cx="7918450" cy="29035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altLang="ru-RU" sz="2000" dirty="0" smtClean="0"/>
              <a:t>Групповые функции игнорируют нулевые значения в столбце:</a:t>
            </a:r>
          </a:p>
          <a:p>
            <a:pPr marL="0" indent="0">
              <a:buNone/>
            </a:pPr>
            <a:endParaRPr lang="en-US" altLang="ru-RU" sz="2000" dirty="0"/>
          </a:p>
          <a:p>
            <a:pPr lvl="1" eaLnBrk="1" hangingPunct="1"/>
            <a:endParaRPr lang="en-US" altLang="ru-RU" sz="2000" dirty="0"/>
          </a:p>
          <a:p>
            <a:pPr lvl="1" eaLnBrk="1" hangingPunct="1"/>
            <a:endParaRPr lang="en-US" altLang="ru-RU" sz="2000" dirty="0"/>
          </a:p>
          <a:p>
            <a:pPr lvl="1" eaLnBrk="1" hangingPunct="1"/>
            <a:endParaRPr lang="en-US" altLang="ru-RU" sz="2000" dirty="0"/>
          </a:p>
          <a:p>
            <a:pPr lvl="1" eaLnBrk="1" hangingPunct="1"/>
            <a:endParaRPr lang="en-US" altLang="ru-RU" sz="2000" dirty="0"/>
          </a:p>
          <a:p>
            <a:pPr marL="0" indent="0">
              <a:buNone/>
            </a:pPr>
            <a:r>
              <a:rPr lang="ru-RU" altLang="ru-RU" sz="2000" dirty="0" smtClean="0"/>
              <a:t>Функция COALESCE заставляет групповые функции включать нулевые значения:</a:t>
            </a:r>
            <a:endParaRPr lang="en-US" altLang="ru-RU" sz="2000" dirty="0"/>
          </a:p>
        </p:txBody>
      </p:sp>
      <p:sp>
        <p:nvSpPr>
          <p:cNvPr id="5" name="Rectangle 3">
            <a:extLst>
              <a:ext uri="{FF2B5EF4-FFF2-40B4-BE49-F238E27FC236}">
                <a16:creationId xmlns="" xmlns:a16="http://schemas.microsoft.com/office/drawing/2014/main" id="{49E532D2-B38D-4F3F-B418-45AB47FED358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866775" y="2326815"/>
            <a:ext cx="7277100" cy="685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SELECT AVG(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commission_pct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FROM   employees;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="" xmlns:a16="http://schemas.microsoft.com/office/drawing/2014/main" id="{9F37932C-3BE8-4369-BF04-59762384990D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866775" y="4604646"/>
            <a:ext cx="7277100" cy="685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SELECT </a:t>
            </a:r>
            <a:r>
              <a:rPr lang="en-US" altLang="ru-RU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AVG(COALESCE(</a:t>
            </a:r>
            <a:r>
              <a:rPr lang="en-US" altLang="ru-RU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commission_pct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, 0))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FROM   employees;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FC7A2E15-E720-49AC-AAB2-E2598085092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82775" y="2406190"/>
            <a:ext cx="2730500" cy="280988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sp>
        <p:nvSpPr>
          <p:cNvPr id="8" name="Rectangle 9">
            <a:extLst>
              <a:ext uri="{FF2B5EF4-FFF2-40B4-BE49-F238E27FC236}">
                <a16:creationId xmlns="" xmlns:a16="http://schemas.microsoft.com/office/drawing/2014/main" id="{1DF93EB4-AEE0-4C95-A605-23B4E9DA48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71663" y="4664971"/>
            <a:ext cx="3692525" cy="280988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pic>
        <p:nvPicPr>
          <p:cNvPr id="9" name="Picture 18" descr="C:\salome_official\projects\11gR2\screenshots\les5_11s_a.gif">
            <a:extLst>
              <a:ext uri="{FF2B5EF4-FFF2-40B4-BE49-F238E27FC236}">
                <a16:creationId xmlns="" xmlns:a16="http://schemas.microsoft.com/office/drawing/2014/main" id="{C36EA6AD-836B-465A-A568-428F2D11A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13" y="3207878"/>
            <a:ext cx="2286000" cy="4683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9" descr="C:\salome_official\projects\11gR2\screenshots\les5_11s_b.gif">
            <a:extLst>
              <a:ext uri="{FF2B5EF4-FFF2-40B4-BE49-F238E27FC236}">
                <a16:creationId xmlns="" xmlns:a16="http://schemas.microsoft.com/office/drawing/2014/main" id="{1DD83D37-8A23-43A5-8E49-E06969D66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3" y="5476184"/>
            <a:ext cx="2732087" cy="4460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val 20">
            <a:extLst>
              <a:ext uri="{FF2B5EF4-FFF2-40B4-BE49-F238E27FC236}">
                <a16:creationId xmlns="" xmlns:a16="http://schemas.microsoft.com/office/drawing/2014/main" id="{E3CD74F0-A2E3-4C6F-B9EA-3CC64A2EC6D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57200" y="4757046"/>
            <a:ext cx="381000" cy="379413"/>
          </a:xfrm>
          <a:prstGeom prst="ellipse">
            <a:avLst/>
          </a:prstGeom>
          <a:solidFill>
            <a:srgbClr val="99CC00"/>
          </a:solidFill>
          <a:ln w="28575">
            <a:solidFill>
              <a:schemeClr val="bg2"/>
            </a:solidFill>
            <a:round/>
            <a:headEnd/>
            <a:tailEnd/>
          </a:ln>
        </p:spPr>
        <p:txBody>
          <a:bodyPr wrap="none" lIns="101600" tIns="50800" rIns="101600" bIns="50800" anchor="ctr"/>
          <a:lstStyle>
            <a:lvl1pPr defTabSz="1111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111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111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111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111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11112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11112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11112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11112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ru-RU" sz="2000" b="1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12" name="Oval 19">
            <a:extLst>
              <a:ext uri="{FF2B5EF4-FFF2-40B4-BE49-F238E27FC236}">
                <a16:creationId xmlns="" xmlns:a16="http://schemas.microsoft.com/office/drawing/2014/main" id="{B03957CC-FB0A-49B5-B2CF-84D534C018A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57200" y="2460165"/>
            <a:ext cx="373063" cy="373063"/>
          </a:xfrm>
          <a:prstGeom prst="ellipse">
            <a:avLst/>
          </a:prstGeom>
          <a:solidFill>
            <a:srgbClr val="99CC00"/>
          </a:solidFill>
          <a:ln w="28575">
            <a:solidFill>
              <a:schemeClr val="bg2"/>
            </a:solidFill>
            <a:round/>
            <a:headEnd/>
            <a:tailEnd/>
          </a:ln>
        </p:spPr>
        <p:txBody>
          <a:bodyPr wrap="none" lIns="101600" tIns="50800" rIns="101600" bIns="50800" anchor="ctr"/>
          <a:lstStyle>
            <a:lvl1pPr defTabSz="1111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111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111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111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1112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11112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11112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11112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11112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ru-RU" sz="2000" b="1">
                <a:solidFill>
                  <a:schemeClr val="bg2"/>
                </a:solidFill>
              </a:rPr>
              <a:t>1</a:t>
            </a:r>
          </a:p>
        </p:txBody>
      </p:sp>
    </p:spTree>
    <p:extLst>
      <p:ext uri="{BB962C8B-B14F-4D97-AF65-F5344CB8AC3E}">
        <p14:creationId xmlns="" xmlns:p14="http://schemas.microsoft.com/office/powerpoint/2010/main" val="1660103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54415" y="1028700"/>
              <a:ext cx="1028699" cy="100804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060864" y="3177877"/>
            <a:ext cx="479806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algn="ctr">
              <a:lnSpc>
                <a:spcPct val="100000"/>
              </a:lnSpc>
              <a:spcBef>
                <a:spcPts val="100"/>
              </a:spcBef>
            </a:pPr>
            <a:r>
              <a:rPr lang="ru-RU" sz="2400" dirty="0" smtClean="0">
                <a:solidFill>
                  <a:schemeClr val="bg1"/>
                </a:solidFill>
                <a:latin typeface="Arial Black"/>
                <a:cs typeface="Arial Black"/>
              </a:rPr>
              <a:t>Группировка – </a:t>
            </a:r>
            <a:r>
              <a:rPr lang="en-US" sz="2400" dirty="0" smtClean="0">
                <a:solidFill>
                  <a:schemeClr val="bg1"/>
                </a:solidFill>
                <a:latin typeface="Arial Black"/>
                <a:cs typeface="Arial Black"/>
              </a:rPr>
              <a:t>GROUP BY</a:t>
            </a:r>
            <a:endParaRPr sz="240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790" y="1688015"/>
            <a:ext cx="123111" cy="2407919"/>
          </a:xfrm>
          <a:prstGeom prst="rect">
            <a:avLst/>
          </a:prstGeom>
        </p:spPr>
        <p:txBody>
          <a:bodyPr vert="vert270" wrap="square" lIns="0" tIns="1968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55"/>
              </a:spcBef>
            </a:pPr>
            <a:r>
              <a:rPr sz="800" spc="-4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СМОТРИ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В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БУДУЩЕЕ.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ИНВЕСТИРУЙ</a:t>
            </a:r>
            <a:r>
              <a:rPr sz="800" spc="-5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</a:t>
            </a:r>
            <a:r>
              <a:rPr sz="800" spc="-5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В</a:t>
            </a:r>
            <a:r>
              <a:rPr sz="800" spc="-10" dirty="0">
                <a:solidFill>
                  <a:srgbClr val="FFFFFF"/>
                </a:solidFill>
                <a:latin typeface="Microsoft JhengHei Light"/>
                <a:cs typeface="Microsoft JhengHei Light"/>
              </a:rPr>
              <a:t> ЗНАНИЯ.</a:t>
            </a:r>
            <a:endParaRPr sz="800">
              <a:latin typeface="Microsoft JhengHei Light"/>
              <a:cs typeface="Microsoft JhengHei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3574" y="518011"/>
            <a:ext cx="2539739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solidFill>
                  <a:srgbClr val="2A3890"/>
                </a:solidFill>
                <a:latin typeface="Roboto"/>
                <a:cs typeface="Roboto"/>
              </a:rPr>
              <a:t>GROUP</a:t>
            </a:r>
            <a:r>
              <a:rPr sz="3000" spc="-13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3000" spc="-65" dirty="0">
                <a:solidFill>
                  <a:srgbClr val="2A3890"/>
                </a:solidFill>
                <a:latin typeface="Roboto"/>
                <a:cs typeface="Roboto"/>
              </a:rPr>
              <a:t>BY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3576" y="1928204"/>
            <a:ext cx="782002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Разбивает</a:t>
            </a:r>
            <a:r>
              <a:rPr sz="15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таблицу</a:t>
            </a:r>
            <a:r>
              <a:rPr sz="15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по</a:t>
            </a:r>
            <a:r>
              <a:rPr sz="15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строкам</a:t>
            </a:r>
            <a:r>
              <a:rPr sz="15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на</a:t>
            </a:r>
            <a:r>
              <a:rPr sz="15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несколько</a:t>
            </a:r>
            <a:r>
              <a:rPr sz="15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групп.</a:t>
            </a:r>
            <a:r>
              <a:rPr sz="15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30" dirty="0">
                <a:solidFill>
                  <a:srgbClr val="434343"/>
                </a:solidFill>
                <a:latin typeface="Roboto"/>
                <a:cs typeface="Roboto"/>
              </a:rPr>
              <a:t>Группы</a:t>
            </a:r>
            <a:r>
              <a:rPr sz="15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определяются</a:t>
            </a:r>
            <a:r>
              <a:rPr sz="15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значениями одного</a:t>
            </a:r>
            <a:r>
              <a:rPr sz="15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или</a:t>
            </a:r>
            <a:r>
              <a:rPr sz="15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нескольких</a:t>
            </a:r>
            <a:r>
              <a:rPr sz="15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столбцов.</a:t>
            </a:r>
            <a:r>
              <a:rPr sz="15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Аналитические</a:t>
            </a:r>
            <a:r>
              <a:rPr sz="15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45" dirty="0">
                <a:solidFill>
                  <a:srgbClr val="434343"/>
                </a:solidFill>
                <a:latin typeface="Roboto"/>
                <a:cs typeface="Roboto"/>
              </a:rPr>
              <a:t>функции</a:t>
            </a:r>
            <a:r>
              <a:rPr sz="15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434343"/>
                </a:solidFill>
                <a:latin typeface="Roboto"/>
                <a:cs typeface="Roboto"/>
              </a:rPr>
              <a:t>считаются</a:t>
            </a:r>
            <a:r>
              <a:rPr sz="15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внутри</a:t>
            </a:r>
            <a:r>
              <a:rPr sz="15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каждой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группы</a:t>
            </a:r>
            <a:r>
              <a:rPr sz="1500" spc="-9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отдельно.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1649" y="1963667"/>
            <a:ext cx="99060" cy="1146387"/>
          </a:xfrm>
          <a:custGeom>
            <a:avLst/>
            <a:gdLst/>
            <a:ahLst/>
            <a:cxnLst/>
            <a:rect l="l" t="t" r="r" b="b"/>
            <a:pathLst>
              <a:path w="99059" h="859789">
                <a:moveTo>
                  <a:pt x="98999" y="859199"/>
                </a:moveTo>
                <a:lnTo>
                  <a:pt x="0" y="859199"/>
                </a:lnTo>
                <a:lnTo>
                  <a:pt x="0" y="0"/>
                </a:lnTo>
                <a:lnTo>
                  <a:pt x="98999" y="0"/>
                </a:lnTo>
                <a:lnTo>
                  <a:pt x="98999" y="859199"/>
                </a:lnTo>
                <a:close/>
              </a:path>
            </a:pathLst>
          </a:custGeom>
          <a:solidFill>
            <a:srgbClr val="D1336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24B7F9-6579-4157-B1E2-9C4400EF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 smtClean="0"/>
              <a:t>Создание группы данных</a:t>
            </a:r>
            <a:endParaRPr lang="ru-RU" dirty="0"/>
          </a:p>
        </p:txBody>
      </p:sp>
      <p:pic>
        <p:nvPicPr>
          <p:cNvPr id="4" name="Picture 27" descr="C:\salome_official\projects\11gR2\screenshots\les5_13s_a.gif">
            <a:extLst>
              <a:ext uri="{FF2B5EF4-FFF2-40B4-BE49-F238E27FC236}">
                <a16:creationId xmlns="" xmlns:a16="http://schemas.microsoft.com/office/drawing/2014/main" id="{07DEF2BB-C82C-4CB5-9C85-60923EE63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38" y="1933575"/>
            <a:ext cx="2628900" cy="3200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reeform 3">
            <a:extLst>
              <a:ext uri="{FF2B5EF4-FFF2-40B4-BE49-F238E27FC236}">
                <a16:creationId xmlns="" xmlns:a16="http://schemas.microsoft.com/office/drawing/2014/main" id="{1879997A-FA22-4265-8678-276649B86F44}"/>
              </a:ext>
            </a:extLst>
          </p:cNvPr>
          <p:cNvSpPr>
            <a:spLocks/>
          </p:cNvSpPr>
          <p:nvPr/>
        </p:nvSpPr>
        <p:spPr bwMode="gray">
          <a:xfrm>
            <a:off x="3581400" y="1912938"/>
            <a:ext cx="1571625" cy="4138612"/>
          </a:xfrm>
          <a:custGeom>
            <a:avLst/>
            <a:gdLst>
              <a:gd name="T0" fmla="*/ 0 w 1210"/>
              <a:gd name="T1" fmla="*/ 2147483647 h 2607"/>
              <a:gd name="T2" fmla="*/ 0 w 1210"/>
              <a:gd name="T3" fmla="*/ 0 h 2607"/>
              <a:gd name="T4" fmla="*/ 2147483647 w 1210"/>
              <a:gd name="T5" fmla="*/ 2147483647 h 2607"/>
              <a:gd name="T6" fmla="*/ 2147483647 w 1210"/>
              <a:gd name="T7" fmla="*/ 2147483647 h 2607"/>
              <a:gd name="T8" fmla="*/ 0 w 1210"/>
              <a:gd name="T9" fmla="*/ 2147483647 h 260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10"/>
              <a:gd name="T16" fmla="*/ 0 h 2607"/>
              <a:gd name="T17" fmla="*/ 1210 w 1210"/>
              <a:gd name="T18" fmla="*/ 2607 h 260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10" h="2607">
                <a:moveTo>
                  <a:pt x="0" y="2606"/>
                </a:moveTo>
                <a:lnTo>
                  <a:pt x="0" y="0"/>
                </a:lnTo>
                <a:lnTo>
                  <a:pt x="1209" y="741"/>
                </a:lnTo>
                <a:lnTo>
                  <a:pt x="1209" y="1849"/>
                </a:lnTo>
                <a:lnTo>
                  <a:pt x="0" y="2606"/>
                </a:lnTo>
              </a:path>
            </a:pathLst>
          </a:custGeom>
          <a:solidFill>
            <a:srgbClr val="FFCC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C626F51A-B2EF-4135-B1F8-6C1FCEE7F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25" y="1524000"/>
            <a:ext cx="155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sz="2000">
                <a:latin typeface="Courier New" panose="02070309020205020404" pitchFamily="49" charset="0"/>
              </a:rPr>
              <a:t>EMPLOYEES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="" xmlns:a16="http://schemas.microsoft.com/office/drawing/2014/main" id="{DB847C71-F710-4E5B-AE82-F452879E71B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95350" y="4978400"/>
            <a:ext cx="366713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lIns="12700" tIns="12700" rIns="12700" bIns="12700">
            <a:spAutoFit/>
          </a:bodyPr>
          <a:lstStyle>
            <a:lvl1pPr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r>
              <a:rPr lang="en-US" altLang="ru-RU" sz="2400"/>
              <a:t>…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="" xmlns:a16="http://schemas.microsoft.com/office/drawing/2014/main" id="{34AA682D-00B2-4982-9B43-099E48D560FC}"/>
              </a:ext>
            </a:extLst>
          </p:cNvPr>
          <p:cNvSpPr>
            <a:spLocks noChangeArrowheads="1"/>
          </p:cNvSpPr>
          <p:nvPr/>
        </p:nvSpPr>
        <p:spPr bwMode="gray">
          <a:xfrm>
            <a:off x="946150" y="2152650"/>
            <a:ext cx="2636838" cy="2286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sp>
        <p:nvSpPr>
          <p:cNvPr id="9" name="Rectangle 10">
            <a:extLst>
              <a:ext uri="{FF2B5EF4-FFF2-40B4-BE49-F238E27FC236}">
                <a16:creationId xmlns="" xmlns:a16="http://schemas.microsoft.com/office/drawing/2014/main" id="{5EC3BC58-95FF-4E34-8680-82D19F08F7F0}"/>
              </a:ext>
            </a:extLst>
          </p:cNvPr>
          <p:cNvSpPr>
            <a:spLocks noChangeArrowheads="1"/>
          </p:cNvSpPr>
          <p:nvPr/>
        </p:nvSpPr>
        <p:spPr bwMode="gray">
          <a:xfrm>
            <a:off x="946150" y="2379663"/>
            <a:ext cx="2636838" cy="41275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sp>
        <p:nvSpPr>
          <p:cNvPr id="10" name="Rectangle 11">
            <a:extLst>
              <a:ext uri="{FF2B5EF4-FFF2-40B4-BE49-F238E27FC236}">
                <a16:creationId xmlns="" xmlns:a16="http://schemas.microsoft.com/office/drawing/2014/main" id="{CB52A053-569C-45CD-81B3-3C722720FA1C}"/>
              </a:ext>
            </a:extLst>
          </p:cNvPr>
          <p:cNvSpPr>
            <a:spLocks noChangeArrowheads="1"/>
          </p:cNvSpPr>
          <p:nvPr/>
        </p:nvSpPr>
        <p:spPr bwMode="gray">
          <a:xfrm>
            <a:off x="946150" y="2794000"/>
            <a:ext cx="2638425" cy="117316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sp>
        <p:nvSpPr>
          <p:cNvPr id="11" name="Rectangle 12">
            <a:extLst>
              <a:ext uri="{FF2B5EF4-FFF2-40B4-BE49-F238E27FC236}">
                <a16:creationId xmlns="" xmlns:a16="http://schemas.microsoft.com/office/drawing/2014/main" id="{DAD2C220-9C67-4375-925C-85ADAFEEE3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946150" y="3968750"/>
            <a:ext cx="2628900" cy="6619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sp>
        <p:nvSpPr>
          <p:cNvPr id="12" name="Rectangle 13">
            <a:extLst>
              <a:ext uri="{FF2B5EF4-FFF2-40B4-BE49-F238E27FC236}">
                <a16:creationId xmlns="" xmlns:a16="http://schemas.microsoft.com/office/drawing/2014/main" id="{E750EBDC-7D32-458B-9100-3B91D34961CF}"/>
              </a:ext>
            </a:extLst>
          </p:cNvPr>
          <p:cNvSpPr>
            <a:spLocks noChangeArrowheads="1"/>
          </p:cNvSpPr>
          <p:nvPr/>
        </p:nvSpPr>
        <p:spPr bwMode="gray">
          <a:xfrm>
            <a:off x="946150" y="4633913"/>
            <a:ext cx="2617788" cy="49847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grpSp>
        <p:nvGrpSpPr>
          <p:cNvPr id="3" name="Group 15">
            <a:extLst>
              <a:ext uri="{FF2B5EF4-FFF2-40B4-BE49-F238E27FC236}">
                <a16:creationId xmlns="" xmlns:a16="http://schemas.microsoft.com/office/drawing/2014/main" id="{92B79FEF-635A-4938-BCF1-7585288BE9A7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2141538"/>
            <a:ext cx="604838" cy="2886075"/>
            <a:chOff x="2518" y="1315"/>
            <a:chExt cx="381" cy="1818"/>
          </a:xfrm>
        </p:grpSpPr>
        <p:sp>
          <p:nvSpPr>
            <p:cNvPr id="14" name="Rectangle 16">
              <a:extLst>
                <a:ext uri="{FF2B5EF4-FFF2-40B4-BE49-F238E27FC236}">
                  <a16:creationId xmlns="" xmlns:a16="http://schemas.microsoft.com/office/drawing/2014/main" id="{30D0BF54-E66B-4681-BC42-5E6FBD2E1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1315"/>
              <a:ext cx="328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  <a:spcBef>
                  <a:spcPct val="60000"/>
                </a:spcBef>
                <a:buClrTx/>
                <a:buFontTx/>
                <a:buNone/>
              </a:pPr>
              <a:r>
                <a:rPr lang="en-US" altLang="ru-RU" sz="1200"/>
                <a:t>4400</a:t>
              </a:r>
            </a:p>
          </p:txBody>
        </p:sp>
        <p:sp>
          <p:nvSpPr>
            <p:cNvPr id="15" name="Rectangle 17">
              <a:extLst>
                <a:ext uri="{FF2B5EF4-FFF2-40B4-BE49-F238E27FC236}">
                  <a16:creationId xmlns="" xmlns:a16="http://schemas.microsoft.com/office/drawing/2014/main" id="{8CBA9A10-0FE6-41C8-84E9-92FFFC27B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1540"/>
              <a:ext cx="328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  <a:spcBef>
                  <a:spcPct val="60000"/>
                </a:spcBef>
                <a:buClrTx/>
                <a:buFontTx/>
                <a:buNone/>
              </a:pPr>
              <a:r>
                <a:rPr lang="en-US" altLang="ru-RU" sz="1200"/>
                <a:t>9500</a:t>
              </a:r>
            </a:p>
          </p:txBody>
        </p:sp>
        <p:sp>
          <p:nvSpPr>
            <p:cNvPr id="16" name="Rectangle 18">
              <a:extLst>
                <a:ext uri="{FF2B5EF4-FFF2-40B4-BE49-F238E27FC236}">
                  <a16:creationId xmlns="" xmlns:a16="http://schemas.microsoft.com/office/drawing/2014/main" id="{FAEA8047-F87C-4E22-8286-DA1E1A7EB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1995"/>
              <a:ext cx="328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  <a:spcBef>
                  <a:spcPct val="60000"/>
                </a:spcBef>
                <a:buClrTx/>
                <a:buFontTx/>
                <a:buNone/>
              </a:pPr>
              <a:r>
                <a:rPr lang="en-US" altLang="ru-RU" sz="1200"/>
                <a:t>3500</a:t>
              </a:r>
            </a:p>
          </p:txBody>
        </p:sp>
        <p:sp>
          <p:nvSpPr>
            <p:cNvPr id="17" name="Rectangle 19">
              <a:extLst>
                <a:ext uri="{FF2B5EF4-FFF2-40B4-BE49-F238E27FC236}">
                  <a16:creationId xmlns="" xmlns:a16="http://schemas.microsoft.com/office/drawing/2014/main" id="{CEDB6F68-99C8-4965-94D7-FFD66CD7A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2503"/>
              <a:ext cx="328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  <a:spcBef>
                  <a:spcPct val="60000"/>
                </a:spcBef>
                <a:buClrTx/>
                <a:buFontTx/>
                <a:buNone/>
              </a:pPr>
              <a:r>
                <a:rPr lang="en-US" altLang="ru-RU" sz="1200"/>
                <a:t>6400</a:t>
              </a:r>
            </a:p>
          </p:txBody>
        </p:sp>
        <p:sp>
          <p:nvSpPr>
            <p:cNvPr id="18" name="Rectangle 20">
              <a:extLst>
                <a:ext uri="{FF2B5EF4-FFF2-40B4-BE49-F238E27FC236}">
                  <a16:creationId xmlns="" xmlns:a16="http://schemas.microsoft.com/office/drawing/2014/main" id="{F3EFDAE9-291E-484F-993C-1CE9E1755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2937"/>
              <a:ext cx="381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lnSpc>
                  <a:spcPct val="120000"/>
                </a:lnSpc>
                <a:spcBef>
                  <a:spcPct val="60000"/>
                </a:spcBef>
                <a:buClrTx/>
                <a:buFontTx/>
                <a:buNone/>
              </a:pPr>
              <a:r>
                <a:rPr lang="en-US" altLang="ru-RU" sz="1200"/>
                <a:t>10033</a:t>
              </a:r>
            </a:p>
          </p:txBody>
        </p:sp>
      </p:grpSp>
      <p:sp>
        <p:nvSpPr>
          <p:cNvPr id="19" name="Rectangle 21">
            <a:extLst>
              <a:ext uri="{FF2B5EF4-FFF2-40B4-BE49-F238E27FC236}">
                <a16:creationId xmlns="" xmlns:a16="http://schemas.microsoft.com/office/drawing/2014/main" id="{EF4F51E6-1A95-4B55-B621-39994306C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599" y="1989138"/>
            <a:ext cx="3272971" cy="923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ru-RU" altLang="ru-RU" dirty="0" smtClean="0"/>
              <a:t>Средняя зарплата в таблице</a:t>
            </a:r>
            <a:endParaRPr lang="en-US" altLang="ru-RU" dirty="0"/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latin typeface="Courier New" panose="02070309020205020404" pitchFamily="49" charset="0"/>
              </a:rPr>
              <a:t>EMPLOYEES</a:t>
            </a:r>
            <a:r>
              <a:rPr lang="en-US" altLang="ru-RU" dirty="0"/>
              <a:t> </a:t>
            </a:r>
            <a:r>
              <a:rPr lang="ru-RU" altLang="ru-RU" dirty="0" smtClean="0"/>
              <a:t>для каждого департамента</a:t>
            </a:r>
            <a:endParaRPr lang="en-US" altLang="ru-RU" dirty="0"/>
          </a:p>
        </p:txBody>
      </p:sp>
      <p:pic>
        <p:nvPicPr>
          <p:cNvPr id="20" name="Picture 28" descr="C:\salome_official\projects\11gR2\screenshots\les5_13_b.gif">
            <a:extLst>
              <a:ext uri="{FF2B5EF4-FFF2-40B4-BE49-F238E27FC236}">
                <a16:creationId xmlns="" xmlns:a16="http://schemas.microsoft.com/office/drawing/2014/main" id="{E81D88C2-AAE4-455F-A4DF-EA128DAB4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913" y="5351463"/>
            <a:ext cx="2628900" cy="685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30" descr="C:\salome_official\projects\11gR2\screenshots\les5_13_c.gif">
            <a:extLst>
              <a:ext uri="{FF2B5EF4-FFF2-40B4-BE49-F238E27FC236}">
                <a16:creationId xmlns="" xmlns:a16="http://schemas.microsoft.com/office/drawing/2014/main" id="{89E20620-88DD-4C7E-AD19-183EF075D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938" y="2943225"/>
            <a:ext cx="3417887" cy="20685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73644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24B7F9-6579-4157-B1E2-9C4400EF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ru-RU" sz="3600" dirty="0" smtClean="0"/>
              <a:t>Группировка данных: синтаксис оператора GROUP BY</a:t>
            </a:r>
            <a:endParaRPr lang="ru-RU" sz="3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25C2019E-BE7B-429D-BDF6-3B4870470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775" y="2302363"/>
            <a:ext cx="7918450" cy="1751013"/>
          </a:xfrm>
        </p:spPr>
        <p:txBody>
          <a:bodyPr>
            <a:normAutofit/>
          </a:bodyPr>
          <a:lstStyle/>
          <a:p>
            <a:r>
              <a:rPr lang="ru-RU" altLang="ru-RU" sz="2400" dirty="0" smtClean="0"/>
              <a:t>Вы можете разделить строки в таблице на меньшие группы, используя оператор GROUP BY</a:t>
            </a:r>
            <a:endParaRPr lang="en-US" altLang="ru-RU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FDE988F-0F8B-43C1-9B1D-DBF48C5BC881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869950" y="3177076"/>
            <a:ext cx="7277100" cy="14065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SELECT    </a:t>
            </a:r>
            <a:r>
              <a:rPr lang="en-US" altLang="ru-RU" i="1">
                <a:solidFill>
                  <a:srgbClr val="000000"/>
                </a:solidFill>
                <a:latin typeface="Courier New" panose="02070309020205020404" pitchFamily="49" charset="0"/>
              </a:rPr>
              <a:t>column</a:t>
            </a: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ru-RU" i="1">
                <a:solidFill>
                  <a:srgbClr val="000000"/>
                </a:solidFill>
                <a:latin typeface="Courier New" panose="02070309020205020404" pitchFamily="49" charset="0"/>
              </a:rPr>
              <a:t>group_function(column)</a:t>
            </a:r>
            <a:endParaRPr lang="en-US" altLang="ru-RU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FROM      </a:t>
            </a:r>
            <a:r>
              <a:rPr lang="en-US" altLang="ru-RU" i="1">
                <a:solidFill>
                  <a:srgbClr val="000000"/>
                </a:solidFill>
                <a:latin typeface="Courier New" panose="02070309020205020404" pitchFamily="49" charset="0"/>
              </a:rPr>
              <a:t>table</a:t>
            </a:r>
            <a:endParaRPr lang="en-US" altLang="ru-RU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[WHERE    </a:t>
            </a:r>
            <a:r>
              <a:rPr lang="en-US" altLang="ru-RU" i="1">
                <a:solidFill>
                  <a:srgbClr val="000000"/>
                </a:solidFill>
                <a:latin typeface="Courier New" panose="02070309020205020404" pitchFamily="49" charset="0"/>
              </a:rPr>
              <a:t>condition</a:t>
            </a: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[GROUP BY </a:t>
            </a:r>
            <a:r>
              <a:rPr lang="en-US" altLang="ru-RU" i="1">
                <a:solidFill>
                  <a:srgbClr val="000000"/>
                </a:solidFill>
                <a:latin typeface="Courier New" panose="02070309020205020404" pitchFamily="49" charset="0"/>
              </a:rPr>
              <a:t>group_by_expression</a:t>
            </a: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  <a:endParaRPr lang="en-US" altLang="ru-RU" i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[ORDER BY </a:t>
            </a:r>
            <a:r>
              <a:rPr lang="en-US" altLang="ru-RU" i="1">
                <a:solidFill>
                  <a:srgbClr val="000000"/>
                </a:solidFill>
                <a:latin typeface="Courier New" panose="02070309020205020404" pitchFamily="49" charset="0"/>
              </a:rPr>
              <a:t>column</a:t>
            </a: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];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E9135501-473E-4078-9F8B-0FCFA95B74AF}"/>
              </a:ext>
            </a:extLst>
          </p:cNvPr>
          <p:cNvSpPr>
            <a:spLocks noChangeArrowheads="1"/>
          </p:cNvSpPr>
          <p:nvPr/>
        </p:nvSpPr>
        <p:spPr bwMode="gray">
          <a:xfrm>
            <a:off x="952500" y="4023213"/>
            <a:ext cx="4575175" cy="3016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</p:spTree>
    <p:extLst>
      <p:ext uri="{BB962C8B-B14F-4D97-AF65-F5344CB8AC3E}">
        <p14:creationId xmlns="" xmlns:p14="http://schemas.microsoft.com/office/powerpoint/2010/main" val="7300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24B7F9-6579-4157-B1E2-9C4400EF3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06474"/>
          </a:xfrm>
        </p:spPr>
        <p:txBody>
          <a:bodyPr>
            <a:normAutofit/>
          </a:bodyPr>
          <a:lstStyle/>
          <a:p>
            <a:r>
              <a:rPr lang="ru-RU" altLang="ru-RU" sz="3600" dirty="0" smtClean="0"/>
              <a:t>Применение выражения </a:t>
            </a:r>
            <a:r>
              <a:rPr lang="en-US" altLang="ru-RU" sz="3600" dirty="0" smtClean="0">
                <a:latin typeface="Courier New" panose="02070309020205020404" pitchFamily="49" charset="0"/>
              </a:rPr>
              <a:t>GROUP</a:t>
            </a:r>
            <a:r>
              <a:rPr lang="en-US" altLang="ru-RU" sz="3600" dirty="0" smtClean="0"/>
              <a:t> </a:t>
            </a:r>
            <a:r>
              <a:rPr lang="en-US" altLang="ru-RU" sz="3600" dirty="0" smtClean="0">
                <a:latin typeface="Courier New" panose="02070309020205020404" pitchFamily="49" charset="0"/>
              </a:rPr>
              <a:t>BY</a:t>
            </a:r>
            <a:endParaRPr lang="ru-RU" sz="3600"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EA748FC6-ABBE-48F9-B66A-210DFE96AD5A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866775" y="2471282"/>
            <a:ext cx="7277100" cy="98583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SELECT  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, AVG(salary)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FROM     employees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GROUP BY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 ;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="" xmlns:a16="http://schemas.microsoft.com/office/drawing/2014/main" id="{276E5BE4-DE75-4841-A343-F10786F72A3A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1571169"/>
            <a:ext cx="7918450" cy="1751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altLang="ru-RU" sz="2000" dirty="0" smtClean="0"/>
              <a:t>Все столбцы в списке SELECT, которые не находятся в групповых функциях, должны быть в выражении GROUP BY.</a:t>
            </a:r>
            <a:endParaRPr lang="en-US" altLang="ru-RU" sz="2000" dirty="0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0878B38C-AA6D-4A24-A5EC-94FD57BCE60C}"/>
              </a:ext>
            </a:extLst>
          </p:cNvPr>
          <p:cNvSpPr>
            <a:spLocks noChangeArrowheads="1"/>
          </p:cNvSpPr>
          <p:nvPr/>
        </p:nvSpPr>
        <p:spPr bwMode="gray">
          <a:xfrm>
            <a:off x="900113" y="3099932"/>
            <a:ext cx="3160712" cy="28733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" name="Rectangle 8">
            <a:extLst>
              <a:ext uri="{FF2B5EF4-FFF2-40B4-BE49-F238E27FC236}">
                <a16:creationId xmlns="" xmlns:a16="http://schemas.microsoft.com/office/drawing/2014/main" id="{2A572C58-99E9-4E99-AE2E-22F719ED54A7}"/>
              </a:ext>
            </a:extLst>
          </p:cNvPr>
          <p:cNvSpPr>
            <a:spLocks noChangeArrowheads="1"/>
          </p:cNvSpPr>
          <p:nvPr/>
        </p:nvSpPr>
        <p:spPr bwMode="gray">
          <a:xfrm>
            <a:off x="2155825" y="2534782"/>
            <a:ext cx="1978025" cy="3016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pic>
        <p:nvPicPr>
          <p:cNvPr id="8" name="Picture 8">
            <a:extLst>
              <a:ext uri="{FF2B5EF4-FFF2-40B4-BE49-F238E27FC236}">
                <a16:creationId xmlns="" xmlns:a16="http://schemas.microsoft.com/office/drawing/2014/main" id="{14B62966-82AD-4E3D-970A-0ED094A9D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3369"/>
            <a:ext cx="4276725" cy="17430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035464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24B7F9-6579-4157-B1E2-9C4400EF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ru-RU" sz="3600" dirty="0" smtClean="0"/>
              <a:t>Применение выражения </a:t>
            </a:r>
            <a:r>
              <a:rPr lang="en-US" altLang="ru-RU" sz="3600" dirty="0" smtClean="0">
                <a:latin typeface="Courier New" panose="02070309020205020404" pitchFamily="49" charset="0"/>
              </a:rPr>
              <a:t>GROUP</a:t>
            </a:r>
            <a:r>
              <a:rPr lang="en-US" altLang="ru-RU" sz="3600" dirty="0" smtClean="0"/>
              <a:t> </a:t>
            </a:r>
            <a:r>
              <a:rPr lang="en-US" altLang="ru-RU" sz="3600" dirty="0" smtClean="0">
                <a:latin typeface="Courier New" panose="02070309020205020404" pitchFamily="49" charset="0"/>
              </a:rPr>
              <a:t>BY</a:t>
            </a:r>
            <a:endParaRPr lang="ru-RU" sz="3600"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32E902E3-C71E-4390-8480-97CE9D977C74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866775" y="2350678"/>
            <a:ext cx="7258050" cy="91598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endParaRPr lang="en-US" altLang="ru-RU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endParaRPr lang="en-US" altLang="ru-RU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Rectangle 9">
            <a:extLst>
              <a:ext uri="{FF2B5EF4-FFF2-40B4-BE49-F238E27FC236}">
                <a16:creationId xmlns="" xmlns:a16="http://schemas.microsoft.com/office/drawing/2014/main" id="{52659EC9-BD67-4FD8-8427-61D8D8D9E3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520370"/>
            <a:ext cx="7918450" cy="175101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ru-RU" altLang="ru-RU" dirty="0" smtClean="0"/>
              <a:t>Колонка внутри</a:t>
            </a:r>
            <a:r>
              <a:rPr lang="en-US" altLang="ru-RU" dirty="0" smtClean="0"/>
              <a:t> </a:t>
            </a:r>
            <a:r>
              <a:rPr lang="en-US" altLang="ru-RU" dirty="0" smtClean="0">
                <a:latin typeface="Courier New" panose="02070309020205020404" pitchFamily="49" charset="0"/>
              </a:rPr>
              <a:t>GROUP</a:t>
            </a:r>
            <a:r>
              <a:rPr lang="en-US" altLang="ru-RU" dirty="0" smtClean="0"/>
              <a:t> </a:t>
            </a:r>
            <a:r>
              <a:rPr lang="en-US" altLang="ru-RU" dirty="0">
                <a:latin typeface="Courier New" panose="02070309020205020404" pitchFamily="49" charset="0"/>
              </a:rPr>
              <a:t>BY</a:t>
            </a:r>
            <a:r>
              <a:rPr lang="en-US" altLang="ru-RU" dirty="0"/>
              <a:t> </a:t>
            </a:r>
            <a:r>
              <a:rPr lang="ru-RU" altLang="ru-RU" dirty="0" smtClean="0"/>
              <a:t>необязательно должна быть в выборке</a:t>
            </a:r>
            <a:r>
              <a:rPr lang="en-US" altLang="ru-RU" dirty="0" smtClean="0"/>
              <a:t> </a:t>
            </a:r>
            <a:r>
              <a:rPr lang="en-US" altLang="ru-RU" dirty="0" smtClean="0">
                <a:latin typeface="Courier New" panose="02070309020205020404" pitchFamily="49" charset="0"/>
              </a:rPr>
              <a:t>SELECT</a:t>
            </a:r>
            <a:endParaRPr lang="en-US" altLang="ru-RU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ECE5222C-F3D3-472C-BCE8-63C7AEE7294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36625" y="2337978"/>
            <a:ext cx="6051550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SELECT   AVG(salary)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FROM     employees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GROUP BY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 ;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B43CAA89-28C2-4A81-A317-88A44E36FFF6}"/>
              </a:ext>
            </a:extLst>
          </p:cNvPr>
          <p:cNvSpPr>
            <a:spLocks noChangeArrowheads="1"/>
          </p:cNvSpPr>
          <p:nvPr/>
        </p:nvSpPr>
        <p:spPr bwMode="gray">
          <a:xfrm>
            <a:off x="992188" y="2936466"/>
            <a:ext cx="3065462" cy="3016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pic>
        <p:nvPicPr>
          <p:cNvPr id="8" name="Picture 8">
            <a:extLst>
              <a:ext uri="{FF2B5EF4-FFF2-40B4-BE49-F238E27FC236}">
                <a16:creationId xmlns="" xmlns:a16="http://schemas.microsoft.com/office/drawing/2014/main" id="{12211B80-CE7F-4B33-8479-A0FC17230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633378"/>
            <a:ext cx="3446463" cy="19097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298809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24B7F9-6579-4157-B1E2-9C4400EF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ru-RU" sz="3200" dirty="0" smtClean="0"/>
              <a:t>Группировка по более чем одной колонке</a:t>
            </a:r>
            <a:endParaRPr lang="ru-RU" sz="3200" dirty="0"/>
          </a:p>
        </p:txBody>
      </p:sp>
      <p:sp>
        <p:nvSpPr>
          <p:cNvPr id="5" name="Rectangle 3">
            <a:extLst>
              <a:ext uri="{FF2B5EF4-FFF2-40B4-BE49-F238E27FC236}">
                <a16:creationId xmlns="" xmlns:a16="http://schemas.microsoft.com/office/drawing/2014/main" id="{B42D0914-E385-4D5B-A8EF-524F3D7B4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690689"/>
            <a:ext cx="14128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>
                <a:latin typeface="Courier New" panose="02070309020205020404" pitchFamily="49" charset="0"/>
              </a:rPr>
              <a:t>EMPLOYEES</a:t>
            </a:r>
          </a:p>
        </p:txBody>
      </p:sp>
      <p:sp>
        <p:nvSpPr>
          <p:cNvPr id="7" name="Freeform 4">
            <a:extLst>
              <a:ext uri="{FF2B5EF4-FFF2-40B4-BE49-F238E27FC236}">
                <a16:creationId xmlns="" xmlns:a16="http://schemas.microsoft.com/office/drawing/2014/main" id="{D3AB28E4-802A-43F0-B4E0-7BAD486557C8}"/>
              </a:ext>
            </a:extLst>
          </p:cNvPr>
          <p:cNvSpPr>
            <a:spLocks/>
          </p:cNvSpPr>
          <p:nvPr/>
        </p:nvSpPr>
        <p:spPr bwMode="gray">
          <a:xfrm>
            <a:off x="4267200" y="2147889"/>
            <a:ext cx="533400" cy="4191000"/>
          </a:xfrm>
          <a:custGeom>
            <a:avLst/>
            <a:gdLst>
              <a:gd name="T0" fmla="*/ 0 w 1090"/>
              <a:gd name="T1" fmla="*/ 2147483647 h 2752"/>
              <a:gd name="T2" fmla="*/ 0 w 1090"/>
              <a:gd name="T3" fmla="*/ 0 h 2752"/>
              <a:gd name="T4" fmla="*/ 2147483647 w 1090"/>
              <a:gd name="T5" fmla="*/ 2147483647 h 2752"/>
              <a:gd name="T6" fmla="*/ 2147483647 w 1090"/>
              <a:gd name="T7" fmla="*/ 2147483647 h 2752"/>
              <a:gd name="T8" fmla="*/ 0 w 1090"/>
              <a:gd name="T9" fmla="*/ 2147483647 h 27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90"/>
              <a:gd name="T16" fmla="*/ 0 h 2752"/>
              <a:gd name="T17" fmla="*/ 1090 w 1090"/>
              <a:gd name="T18" fmla="*/ 2752 h 27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90" h="2752">
                <a:moveTo>
                  <a:pt x="0" y="2751"/>
                </a:moveTo>
                <a:lnTo>
                  <a:pt x="0" y="0"/>
                </a:lnTo>
                <a:lnTo>
                  <a:pt x="1089" y="405"/>
                </a:lnTo>
                <a:lnTo>
                  <a:pt x="1089" y="2362"/>
                </a:lnTo>
                <a:lnTo>
                  <a:pt x="0" y="2751"/>
                </a:lnTo>
              </a:path>
            </a:pathLst>
          </a:custGeom>
          <a:solidFill>
            <a:srgbClr val="FFCC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9" name="Rectangle 5">
            <a:extLst>
              <a:ext uri="{FF2B5EF4-FFF2-40B4-BE49-F238E27FC236}">
                <a16:creationId xmlns="" xmlns:a16="http://schemas.microsoft.com/office/drawing/2014/main" id="{F363B960-5AFE-4FD0-A401-F4599C30A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1690689"/>
            <a:ext cx="3849914" cy="739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ru-RU" sz="1400" dirty="0" smtClean="0"/>
              <a:t>Добавьте зарплаты в таблицу EMPLOYEES</a:t>
            </a:r>
          </a:p>
          <a:p>
            <a:pPr>
              <a:spcBef>
                <a:spcPct val="0"/>
              </a:spcBef>
            </a:pPr>
            <a:r>
              <a:rPr lang="ru-RU" altLang="ru-RU" sz="1400" dirty="0" smtClean="0"/>
              <a:t>для каждой должности, сгруппированные по отделам.</a:t>
            </a:r>
            <a:endParaRPr lang="en-US" altLang="ru-RU" sz="1400" dirty="0"/>
          </a:p>
        </p:txBody>
      </p:sp>
      <p:sp>
        <p:nvSpPr>
          <p:cNvPr id="11" name="Text Box 12">
            <a:extLst>
              <a:ext uri="{FF2B5EF4-FFF2-40B4-BE49-F238E27FC236}">
                <a16:creationId xmlns="" xmlns:a16="http://schemas.microsoft.com/office/drawing/2014/main" id="{3A72A145-BEA0-4E21-92A3-A7246845A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63" y="5424489"/>
            <a:ext cx="366712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lIns="12700" tIns="12700" rIns="12700" bIns="12700">
            <a:spAutoFit/>
          </a:bodyPr>
          <a:lstStyle>
            <a:lvl1pPr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r>
              <a:rPr lang="en-US" altLang="ru-RU" sz="2400"/>
              <a:t>…</a:t>
            </a:r>
          </a:p>
        </p:txBody>
      </p:sp>
      <p:pic>
        <p:nvPicPr>
          <p:cNvPr id="13" name="Picture 22" descr="C:\salome_official\projects\11gR2\screenshots\les5_17s_a.gif">
            <a:extLst>
              <a:ext uri="{FF2B5EF4-FFF2-40B4-BE49-F238E27FC236}">
                <a16:creationId xmlns="" xmlns:a16="http://schemas.microsoft.com/office/drawing/2014/main" id="{EBB62FB0-4DC9-49FC-BA74-CF3EDA74C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38" y="2138364"/>
            <a:ext cx="3578225" cy="3429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3" descr="C:\salome_official\projects\11gR2\screenshots\les5_17s_b.gif">
            <a:extLst>
              <a:ext uri="{FF2B5EF4-FFF2-40B4-BE49-F238E27FC236}">
                <a16:creationId xmlns="" xmlns:a16="http://schemas.microsoft.com/office/drawing/2014/main" id="{BE37EA3E-B11B-4144-B0C5-FE635CDC3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25" y="5846764"/>
            <a:ext cx="3578225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0">
            <a:extLst>
              <a:ext uri="{FF2B5EF4-FFF2-40B4-BE49-F238E27FC236}">
                <a16:creationId xmlns="" xmlns:a16="http://schemas.microsoft.com/office/drawing/2014/main" id="{1DD1E9BD-1EE1-478B-BAC8-D95E39936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605089"/>
            <a:ext cx="3833813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1641879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24B7F9-6579-4157-B1E2-9C4400EF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ru-RU" sz="3200" dirty="0" smtClean="0"/>
              <a:t>Применение </a:t>
            </a:r>
            <a:r>
              <a:rPr lang="en-US" altLang="ru-RU" sz="3200" dirty="0" smtClean="0">
                <a:latin typeface="Courier New" panose="02070309020205020404" pitchFamily="49" charset="0"/>
              </a:rPr>
              <a:t>GROUP</a:t>
            </a:r>
            <a:r>
              <a:rPr lang="en-US" altLang="ru-RU" sz="3200" dirty="0" smtClean="0"/>
              <a:t> </a:t>
            </a:r>
            <a:r>
              <a:rPr lang="en-US" altLang="ru-RU" sz="3200" dirty="0">
                <a:latin typeface="Courier New" panose="02070309020205020404" pitchFamily="49" charset="0"/>
              </a:rPr>
              <a:t>BY</a:t>
            </a:r>
            <a:r>
              <a:rPr lang="en-US" altLang="ru-RU" sz="3200" dirty="0"/>
              <a:t> </a:t>
            </a:r>
            <a:r>
              <a:rPr lang="ru-RU" altLang="ru-RU" sz="3200" dirty="0" smtClean="0"/>
              <a:t>выражения для нескольких колонок</a:t>
            </a:r>
            <a:endParaRPr lang="ru-RU" sz="3200" dirty="0"/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6C1F016B-8B4F-4A5D-A1F5-77E6591063E8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866775" y="1600200"/>
            <a:ext cx="7277100" cy="1371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SELECT  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job_id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, SUM(salary)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FROM     employees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WHERE	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 &gt; 40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GROUP BY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job_id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ORDER BY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883BD16E-15A5-4B8E-B4F6-F7C4950D5C7B}"/>
              </a:ext>
            </a:extLst>
          </p:cNvPr>
          <p:cNvSpPr>
            <a:spLocks noChangeArrowheads="1"/>
          </p:cNvSpPr>
          <p:nvPr/>
        </p:nvSpPr>
        <p:spPr bwMode="gray">
          <a:xfrm>
            <a:off x="933450" y="2419350"/>
            <a:ext cx="4195763" cy="2809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pic>
        <p:nvPicPr>
          <p:cNvPr id="9" name="Picture 6">
            <a:extLst>
              <a:ext uri="{FF2B5EF4-FFF2-40B4-BE49-F238E27FC236}">
                <a16:creationId xmlns="" xmlns:a16="http://schemas.microsoft.com/office/drawing/2014/main" id="{E405D2DA-2071-4F71-89B6-A95EE49BD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352800"/>
            <a:ext cx="3962400" cy="2324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294289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24B7F9-6579-4157-B1E2-9C4400EF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ru-RU" sz="3200" dirty="0" smtClean="0"/>
              <a:t>Некорректные запросы на применение функций группировки</a:t>
            </a:r>
            <a:endParaRPr lang="ru-RU" sz="3200" dirty="0"/>
          </a:p>
        </p:txBody>
      </p:sp>
      <p:sp>
        <p:nvSpPr>
          <p:cNvPr id="4" name="Rectangle 8">
            <a:extLst>
              <a:ext uri="{FF2B5EF4-FFF2-40B4-BE49-F238E27FC236}">
                <a16:creationId xmlns="" xmlns:a16="http://schemas.microsoft.com/office/drawing/2014/main" id="{A309A365-4EE0-464E-9114-C54EB7DC20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596081"/>
            <a:ext cx="7918450" cy="1751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altLang="ru-RU" sz="2000" dirty="0" smtClean="0"/>
              <a:t>Любой столбец или выражение в списке SELECT, не являющееся агрегатной функцией, должно быть в GROUP BY</a:t>
            </a:r>
            <a:r>
              <a:rPr lang="en-US" altLang="ru-RU" sz="2000" dirty="0" smtClean="0"/>
              <a:t>:</a:t>
            </a:r>
            <a:endParaRPr lang="en-US" altLang="ru-RU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1586C7EF-8C95-4A3B-8283-F55914E0DB78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685800" y="2434281"/>
            <a:ext cx="7305675" cy="8032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SELECT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, COUNT(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last_name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FROM   employees;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="" xmlns:a16="http://schemas.microsoft.com/office/drawing/2014/main" id="{FFD80293-94CA-419D-868D-266FA47E4A07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695325" y="4339281"/>
            <a:ext cx="7305675" cy="990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SELECT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job_id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, COUNT(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last_name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FROM   employees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GROUP BY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7" name="Line 12">
            <a:extLst>
              <a:ext uri="{FF2B5EF4-FFF2-40B4-BE49-F238E27FC236}">
                <a16:creationId xmlns="" xmlns:a16="http://schemas.microsoft.com/office/drawing/2014/main" id="{FF59C952-2254-4D4E-A624-1D928F8E7655}"/>
              </a:ext>
            </a:extLst>
          </p:cNvPr>
          <p:cNvSpPr>
            <a:spLocks noChangeShapeType="1"/>
          </p:cNvSpPr>
          <p:nvPr/>
        </p:nvSpPr>
        <p:spPr bwMode="gray">
          <a:xfrm>
            <a:off x="749300" y="6015681"/>
            <a:ext cx="177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8" name="Line 13">
            <a:extLst>
              <a:ext uri="{FF2B5EF4-FFF2-40B4-BE49-F238E27FC236}">
                <a16:creationId xmlns="" xmlns:a16="http://schemas.microsoft.com/office/drawing/2014/main" id="{85D3E421-D148-4B9F-8339-6D2702A18A21}"/>
              </a:ext>
            </a:extLst>
          </p:cNvPr>
          <p:cNvSpPr>
            <a:spLocks noChangeShapeType="1"/>
          </p:cNvSpPr>
          <p:nvPr/>
        </p:nvSpPr>
        <p:spPr bwMode="gray">
          <a:xfrm>
            <a:off x="749300" y="5329881"/>
            <a:ext cx="0" cy="685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9" name="Line 17">
            <a:extLst>
              <a:ext uri="{FF2B5EF4-FFF2-40B4-BE49-F238E27FC236}">
                <a16:creationId xmlns="" xmlns:a16="http://schemas.microsoft.com/office/drawing/2014/main" id="{F2104390-8CF4-438F-A23A-CD866B3AEEAC}"/>
              </a:ext>
            </a:extLst>
          </p:cNvPr>
          <p:cNvSpPr>
            <a:spLocks noChangeShapeType="1"/>
          </p:cNvSpPr>
          <p:nvPr/>
        </p:nvSpPr>
        <p:spPr bwMode="gray">
          <a:xfrm>
            <a:off x="762000" y="3577281"/>
            <a:ext cx="1555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" name="Line 18">
            <a:extLst>
              <a:ext uri="{FF2B5EF4-FFF2-40B4-BE49-F238E27FC236}">
                <a16:creationId xmlns="" xmlns:a16="http://schemas.microsoft.com/office/drawing/2014/main" id="{50D8EC82-2F43-4A47-8F4A-04FF78A981F9}"/>
              </a:ext>
            </a:extLst>
          </p:cNvPr>
          <p:cNvSpPr>
            <a:spLocks noChangeShapeType="1"/>
          </p:cNvSpPr>
          <p:nvPr/>
        </p:nvSpPr>
        <p:spPr bwMode="gray">
          <a:xfrm>
            <a:off x="762000" y="3272481"/>
            <a:ext cx="0" cy="304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1" name="Text Box 19">
            <a:extLst>
              <a:ext uri="{FF2B5EF4-FFF2-40B4-BE49-F238E27FC236}">
                <a16:creationId xmlns="" xmlns:a16="http://schemas.microsoft.com/office/drawing/2014/main" id="{78E7DA41-3BAD-41F9-8292-54104FE41573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4343400" y="3347094"/>
            <a:ext cx="4343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600" dirty="0" smtClean="0">
                <a:solidFill>
                  <a:schemeClr val="hlink"/>
                </a:solidFill>
              </a:rPr>
              <a:t>Для подсчета фамилий для каждого </a:t>
            </a:r>
            <a:r>
              <a:rPr lang="ru-RU" altLang="ru-RU" sz="1600" dirty="0" err="1" smtClean="0">
                <a:solidFill>
                  <a:schemeClr val="hlink"/>
                </a:solidFill>
              </a:rPr>
              <a:t>department_id</a:t>
            </a:r>
            <a:r>
              <a:rPr lang="ru-RU" altLang="ru-RU" sz="1600" dirty="0" smtClean="0">
                <a:solidFill>
                  <a:schemeClr val="hlink"/>
                </a:solidFill>
              </a:rPr>
              <a:t> необходимо добавить выражение GROUP BY.</a:t>
            </a:r>
            <a:endParaRPr lang="en-US" altLang="ru-RU" sz="1600" dirty="0">
              <a:solidFill>
                <a:schemeClr val="hlink"/>
              </a:solidFill>
            </a:endParaRPr>
          </a:p>
        </p:txBody>
      </p:sp>
      <p:sp>
        <p:nvSpPr>
          <p:cNvPr id="12" name="Text Box 20">
            <a:extLst>
              <a:ext uri="{FF2B5EF4-FFF2-40B4-BE49-F238E27FC236}">
                <a16:creationId xmlns="" xmlns:a16="http://schemas.microsoft.com/office/drawing/2014/main" id="{1A2BF431-B12E-4B45-BD20-5813BBE03BB3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881438" y="5482281"/>
            <a:ext cx="44958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600" dirty="0" smtClean="0">
                <a:solidFill>
                  <a:schemeClr val="hlink"/>
                </a:solidFill>
              </a:rPr>
              <a:t>Либо добавьте </a:t>
            </a:r>
            <a:r>
              <a:rPr lang="ru-RU" altLang="ru-RU" sz="1600" dirty="0" err="1" smtClean="0">
                <a:solidFill>
                  <a:schemeClr val="hlink"/>
                </a:solidFill>
              </a:rPr>
              <a:t>job_id</a:t>
            </a:r>
            <a:r>
              <a:rPr lang="ru-RU" altLang="ru-RU" sz="1600" dirty="0" smtClean="0">
                <a:solidFill>
                  <a:schemeClr val="hlink"/>
                </a:solidFill>
              </a:rPr>
              <a:t> в GROUP BY, либо удалите столбец </a:t>
            </a:r>
            <a:r>
              <a:rPr lang="ru-RU" altLang="ru-RU" sz="1600" dirty="0" err="1" smtClean="0">
                <a:solidFill>
                  <a:schemeClr val="hlink"/>
                </a:solidFill>
              </a:rPr>
              <a:t>job_id</a:t>
            </a:r>
            <a:r>
              <a:rPr lang="ru-RU" altLang="ru-RU" sz="1600" dirty="0" smtClean="0">
                <a:solidFill>
                  <a:schemeClr val="hlink"/>
                </a:solidFill>
              </a:rPr>
              <a:t> из списка SELECT.</a:t>
            </a:r>
            <a:endParaRPr lang="en-US" altLang="ru-RU" sz="1600" dirty="0">
              <a:solidFill>
                <a:schemeClr val="hlink"/>
              </a:solidFill>
            </a:endParaRPr>
          </a:p>
        </p:txBody>
      </p:sp>
      <p:pic>
        <p:nvPicPr>
          <p:cNvPr id="13" name="Picture 25" descr="C:\salome_official\projects\11gR2_SQL 1\screenshots\les5_19s_a1.gif">
            <a:extLst>
              <a:ext uri="{FF2B5EF4-FFF2-40B4-BE49-F238E27FC236}">
                <a16:creationId xmlns="" xmlns:a16="http://schemas.microsoft.com/office/drawing/2014/main" id="{57DA453B-EF89-4EF5-BAE1-958E5EE21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3399481"/>
            <a:ext cx="3371850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6" descr="C:\salome_official\projects\11gR2_SQL 1\screenshots\les5_19s_b1.gif">
            <a:extLst>
              <a:ext uri="{FF2B5EF4-FFF2-40B4-BE49-F238E27FC236}">
                <a16:creationId xmlns="" xmlns:a16="http://schemas.microsoft.com/office/drawing/2014/main" id="{12AC0502-B4FE-49C0-A901-6D7F47F9A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25" y="5823594"/>
            <a:ext cx="2914650" cy="38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15990401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24B7F9-6579-4157-B1E2-9C4400EF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ru-RU" sz="3200" dirty="0" smtClean="0"/>
              <a:t>Некорректные запросы на применение функций группировки</a:t>
            </a:r>
            <a:endParaRPr lang="ru-RU" sz="3200" dirty="0"/>
          </a:p>
        </p:txBody>
      </p:sp>
      <p:sp>
        <p:nvSpPr>
          <p:cNvPr id="4" name="Rectangle 8">
            <a:extLst>
              <a:ext uri="{FF2B5EF4-FFF2-40B4-BE49-F238E27FC236}">
                <a16:creationId xmlns="" xmlns:a16="http://schemas.microsoft.com/office/drawing/2014/main" id="{9E930702-CB5F-4295-9DE1-BB3B464002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2342" y="1770517"/>
            <a:ext cx="7918450" cy="1751013"/>
          </a:xfrm>
        </p:spPr>
        <p:txBody>
          <a:bodyPr>
            <a:normAutofit/>
          </a:bodyPr>
          <a:lstStyle/>
          <a:p>
            <a:pPr lvl="1"/>
            <a:r>
              <a:rPr lang="ru-RU" altLang="ru-RU" sz="1600" dirty="0" smtClean="0"/>
              <a:t>Вы не можете использовать предложение WHERE для ограничения групп.</a:t>
            </a:r>
          </a:p>
          <a:p>
            <a:pPr lvl="1"/>
            <a:r>
              <a:rPr lang="ru-RU" altLang="ru-RU" sz="1600" dirty="0" smtClean="0"/>
              <a:t>Для ограничения групп используется предложение </a:t>
            </a:r>
            <a:r>
              <a:rPr lang="ru-RU" altLang="ru-RU" sz="1600" b="1" dirty="0" smtClean="0"/>
              <a:t>HAVING</a:t>
            </a:r>
            <a:r>
              <a:rPr lang="ru-RU" altLang="ru-RU" sz="1600" dirty="0" smtClean="0"/>
              <a:t>.</a:t>
            </a:r>
          </a:p>
          <a:p>
            <a:pPr lvl="1"/>
            <a:r>
              <a:rPr lang="ru-RU" altLang="ru-RU" sz="1600" dirty="0" smtClean="0"/>
              <a:t>Вы не можете использовать групповые функции в предложении WHERE.</a:t>
            </a:r>
            <a:endParaRPr lang="en-US" altLang="ru-RU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DA79AEBB-DE0C-46FD-91CE-0DF9E512F860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866775" y="2935289"/>
            <a:ext cx="7286625" cy="11684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682625" algn="l"/>
                <a:tab pos="18335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SELECT  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, AVG(salary)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FROM     employees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WHERE    AVG(salary) &gt; 8000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GROUP BY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="" xmlns:a16="http://schemas.microsoft.com/office/drawing/2014/main" id="{5895D8D2-5FD4-4F99-80B9-401372D1A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433889"/>
            <a:ext cx="2997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600" dirty="0" smtClean="0">
                <a:solidFill>
                  <a:srgbClr val="FF3300"/>
                </a:solidFill>
              </a:rPr>
              <a:t>Невозможно использовать предложение WHERE для ограничения групп.</a:t>
            </a:r>
            <a:endParaRPr lang="en-US" altLang="ru-RU" sz="1600" dirty="0">
              <a:solidFill>
                <a:srgbClr val="FF3300"/>
              </a:solidFill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="" xmlns:a16="http://schemas.microsoft.com/office/drawing/2014/main" id="{8340B8EB-0A56-4533-B1EE-56217C82C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575" y="4357689"/>
            <a:ext cx="41370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2985286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60017"/>
          </a:xfrm>
          <a:prstGeom prst="rect">
            <a:avLst/>
          </a:prstGeom>
        </p:spPr>
        <p:txBody>
          <a:bodyPr vert="horz" wrap="square" lIns="0" tIns="181140" rIns="0" bIns="0" rtlCol="0">
            <a:spAutoFit/>
          </a:bodyPr>
          <a:lstStyle/>
          <a:p>
            <a:pPr marL="39052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GROUP</a:t>
            </a:r>
            <a:r>
              <a:rPr spc="-90" dirty="0"/>
              <a:t> </a:t>
            </a:r>
            <a:r>
              <a:rPr spc="-70" dirty="0"/>
              <a:t>BY:</a:t>
            </a:r>
            <a:r>
              <a:rPr spc="-90" dirty="0"/>
              <a:t> </a:t>
            </a:r>
            <a:r>
              <a:rPr dirty="0"/>
              <a:t>пример</a:t>
            </a:r>
            <a:r>
              <a:rPr spc="-85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3575" y="1928212"/>
            <a:ext cx="339471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500" spc="-25" dirty="0">
                <a:solidFill>
                  <a:srgbClr val="434343"/>
                </a:solidFill>
                <a:latin typeface="Roboto"/>
                <a:cs typeface="Roboto"/>
              </a:rPr>
              <a:t>Подсчитать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общую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сумму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покупок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434343"/>
                </a:solidFill>
                <a:latin typeface="Roboto"/>
                <a:cs typeface="Roboto"/>
              </a:rPr>
              <a:t>по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каждой</a:t>
            </a:r>
            <a:r>
              <a:rPr sz="1500" spc="-2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категории</a:t>
            </a:r>
            <a:r>
              <a:rPr sz="1500" spc="-2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товаров.</a:t>
            </a:r>
            <a:endParaRPr sz="1500">
              <a:latin typeface="Roboto"/>
              <a:cs typeface="Robo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820812" y="1895616"/>
          <a:ext cx="4081780" cy="2265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6430"/>
                <a:gridCol w="1873885"/>
                <a:gridCol w="1561465"/>
              </a:tblGrid>
              <a:tr h="58674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900" b="1" spc="-25" dirty="0">
                          <a:latin typeface="Arial"/>
                          <a:cs typeface="Arial"/>
                        </a:rPr>
                        <a:t>ID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041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900" b="1" spc="-10" dirty="0">
                          <a:latin typeface="Arial"/>
                          <a:cs typeface="Arial"/>
                        </a:rPr>
                        <a:t>Product_category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041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900" b="1" spc="-10" dirty="0">
                          <a:latin typeface="Arial"/>
                          <a:cs typeface="Arial"/>
                        </a:rPr>
                        <a:t>Sales_amount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041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</a:tr>
              <a:tr h="52747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20" dirty="0">
                          <a:latin typeface="Microsoft Sans Serif"/>
                          <a:cs typeface="Microsoft Sans Serif"/>
                        </a:rPr>
                        <a:t>Food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10" dirty="0">
                          <a:latin typeface="Microsoft Sans Serif"/>
                          <a:cs typeface="Microsoft Sans Serif"/>
                        </a:rPr>
                        <a:t>10.45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2747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10" dirty="0">
                          <a:latin typeface="Microsoft Sans Serif"/>
                          <a:cs typeface="Microsoft Sans Serif"/>
                        </a:rPr>
                        <a:t>Beverages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25" dirty="0">
                          <a:latin typeface="Microsoft Sans Serif"/>
                          <a:cs typeface="Microsoft Sans Serif"/>
                        </a:rPr>
                        <a:t>250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2747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20" dirty="0">
                          <a:latin typeface="Microsoft Sans Serif"/>
                          <a:cs typeface="Microsoft Sans Serif"/>
                        </a:rPr>
                        <a:t>Food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10" dirty="0">
                          <a:latin typeface="Microsoft Sans Serif"/>
                          <a:cs typeface="Microsoft Sans Serif"/>
                        </a:rPr>
                        <a:t>67.20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56176" y="3544871"/>
            <a:ext cx="2658745" cy="70314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300" dirty="0">
                <a:solidFill>
                  <a:srgbClr val="0000FF"/>
                </a:solidFill>
                <a:latin typeface="Courier New"/>
                <a:cs typeface="Courier New"/>
              </a:rPr>
              <a:t>SELECT</a:t>
            </a:r>
            <a:r>
              <a:rPr sz="1300" spc="-1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800000"/>
                </a:solidFill>
                <a:latin typeface="Courier New"/>
                <a:cs typeface="Courier New"/>
              </a:rPr>
              <a:t>product_category</a:t>
            </a:r>
            <a:r>
              <a:rPr sz="1300" spc="-10" dirty="0">
                <a:solidFill>
                  <a:srgbClr val="C0C0C0"/>
                </a:solidFill>
                <a:latin typeface="Courier New"/>
                <a:cs typeface="Courier New"/>
              </a:rPr>
              <a:t>,</a:t>
            </a:r>
            <a:endParaRPr sz="1300">
              <a:latin typeface="Courier New"/>
              <a:cs typeface="Courier New"/>
            </a:endParaRPr>
          </a:p>
          <a:p>
            <a:pPr marL="12700" marR="5080" indent="680085">
              <a:lnSpc>
                <a:spcPct val="114999"/>
              </a:lnSpc>
            </a:pPr>
            <a:r>
              <a:rPr sz="1300" i="1" spc="-10" dirty="0">
                <a:solidFill>
                  <a:srgbClr val="FF00FF"/>
                </a:solidFill>
                <a:latin typeface="Courier New"/>
                <a:cs typeface="Courier New"/>
              </a:rPr>
              <a:t>Sum</a:t>
            </a:r>
            <a:r>
              <a:rPr sz="1300" spc="-10" dirty="0">
                <a:solidFill>
                  <a:srgbClr val="800000"/>
                </a:solidFill>
                <a:latin typeface="Courier New"/>
                <a:cs typeface="Courier New"/>
              </a:rPr>
              <a:t>(sales_amount)</a:t>
            </a:r>
            <a:r>
              <a:rPr sz="1300" spc="-13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300" spc="-25" dirty="0">
                <a:solidFill>
                  <a:srgbClr val="0000FF"/>
                </a:solidFill>
                <a:latin typeface="Courier New"/>
                <a:cs typeface="Courier New"/>
              </a:rPr>
              <a:t>AS </a:t>
            </a:r>
            <a:r>
              <a:rPr sz="1300" spc="-10" dirty="0">
                <a:solidFill>
                  <a:srgbClr val="800000"/>
                </a:solidFill>
                <a:latin typeface="Courier New"/>
                <a:cs typeface="Courier New"/>
              </a:rPr>
              <a:t>total_sales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6175" y="4456223"/>
            <a:ext cx="520700" cy="47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300" spc="-20" dirty="0">
                <a:solidFill>
                  <a:srgbClr val="0000FF"/>
                </a:solidFill>
                <a:latin typeface="Courier New"/>
                <a:cs typeface="Courier New"/>
              </a:rPr>
              <a:t>FROM </a:t>
            </a:r>
            <a:r>
              <a:rPr sz="1300" spc="-10" dirty="0">
                <a:solidFill>
                  <a:srgbClr val="0000FF"/>
                </a:solidFill>
                <a:latin typeface="Courier New"/>
                <a:cs typeface="Courier New"/>
              </a:rPr>
              <a:t>GROUP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6371" y="4456223"/>
            <a:ext cx="1971039" cy="468077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300" spc="-10" dirty="0">
                <a:solidFill>
                  <a:srgbClr val="800000"/>
                </a:solidFill>
                <a:latin typeface="Courier New"/>
                <a:cs typeface="Courier New"/>
              </a:rPr>
              <a:t>sales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300" dirty="0">
                <a:solidFill>
                  <a:srgbClr val="0000FF"/>
                </a:solidFill>
                <a:latin typeface="Courier New"/>
                <a:cs typeface="Courier New"/>
              </a:rPr>
              <a:t>BY</a:t>
            </a:r>
            <a:r>
              <a:rPr sz="1300" spc="-5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800000"/>
                </a:solidFill>
                <a:latin typeface="Courier New"/>
                <a:cs typeface="Courier New"/>
              </a:rPr>
              <a:t>product_category</a:t>
            </a:r>
            <a:r>
              <a:rPr sz="1300" spc="-10" dirty="0">
                <a:solidFill>
                  <a:srgbClr val="C0C0C0"/>
                </a:solidFill>
                <a:latin typeface="Courier New"/>
                <a:cs typeface="Courier New"/>
              </a:rPr>
              <a:t>;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60017"/>
          </a:xfrm>
          <a:prstGeom prst="rect">
            <a:avLst/>
          </a:prstGeom>
        </p:spPr>
        <p:txBody>
          <a:bodyPr vert="horz" wrap="square" lIns="0" tIns="181140" rIns="0" bIns="0" rtlCol="0">
            <a:spAutoFit/>
          </a:bodyPr>
          <a:lstStyle/>
          <a:p>
            <a:pPr marL="39052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GROUP</a:t>
            </a:r>
            <a:r>
              <a:rPr spc="-90" dirty="0"/>
              <a:t> </a:t>
            </a:r>
            <a:r>
              <a:rPr spc="-70" dirty="0"/>
              <a:t>BY:</a:t>
            </a:r>
            <a:r>
              <a:rPr spc="-90" dirty="0"/>
              <a:t> </a:t>
            </a:r>
            <a:r>
              <a:rPr dirty="0"/>
              <a:t>пример</a:t>
            </a:r>
            <a:r>
              <a:rPr spc="-85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3575" y="1928212"/>
            <a:ext cx="339471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500" spc="-25" dirty="0">
                <a:solidFill>
                  <a:srgbClr val="434343"/>
                </a:solidFill>
                <a:latin typeface="Roboto"/>
                <a:cs typeface="Roboto"/>
              </a:rPr>
              <a:t>Подсчитать</a:t>
            </a:r>
            <a:r>
              <a:rPr sz="1500" spc="-5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общую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сумму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покупок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434343"/>
                </a:solidFill>
                <a:latin typeface="Roboto"/>
                <a:cs typeface="Roboto"/>
              </a:rPr>
              <a:t>по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каждой</a:t>
            </a:r>
            <a:r>
              <a:rPr sz="1500" spc="-2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категории</a:t>
            </a:r>
            <a:r>
              <a:rPr sz="1500" spc="-2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товаров.</a:t>
            </a:r>
            <a:endParaRPr sz="1500">
              <a:latin typeface="Roboto"/>
              <a:cs typeface="Robo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820812" y="1895616"/>
          <a:ext cx="4081780" cy="2265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6430"/>
                <a:gridCol w="1873885"/>
                <a:gridCol w="1561465"/>
              </a:tblGrid>
              <a:tr h="58674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900" b="1" spc="-25" dirty="0">
                          <a:latin typeface="Arial"/>
                          <a:cs typeface="Arial"/>
                        </a:rPr>
                        <a:t>ID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041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900" b="1" spc="-10" dirty="0">
                          <a:latin typeface="Arial"/>
                          <a:cs typeface="Arial"/>
                        </a:rPr>
                        <a:t>Product_category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041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900" b="1" spc="-10" dirty="0">
                          <a:latin typeface="Arial"/>
                          <a:cs typeface="Arial"/>
                        </a:rPr>
                        <a:t>Sales_amount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041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</a:tr>
              <a:tr h="52747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20" dirty="0">
                          <a:latin typeface="Microsoft Sans Serif"/>
                          <a:cs typeface="Microsoft Sans Serif"/>
                        </a:rPr>
                        <a:t>Food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10" dirty="0">
                          <a:latin typeface="Microsoft Sans Serif"/>
                          <a:cs typeface="Microsoft Sans Serif"/>
                        </a:rPr>
                        <a:t>10.45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2747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10" dirty="0">
                          <a:latin typeface="Microsoft Sans Serif"/>
                          <a:cs typeface="Microsoft Sans Serif"/>
                        </a:rPr>
                        <a:t>Beverages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25" dirty="0">
                          <a:latin typeface="Microsoft Sans Serif"/>
                          <a:cs typeface="Microsoft Sans Serif"/>
                        </a:rPr>
                        <a:t>250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2747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20" dirty="0">
                          <a:latin typeface="Microsoft Sans Serif"/>
                          <a:cs typeface="Microsoft Sans Serif"/>
                        </a:rPr>
                        <a:t>Food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10" dirty="0">
                          <a:latin typeface="Microsoft Sans Serif"/>
                          <a:cs typeface="Microsoft Sans Serif"/>
                        </a:rPr>
                        <a:t>67.20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56176" y="3544871"/>
            <a:ext cx="2658745" cy="70314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300" dirty="0">
                <a:solidFill>
                  <a:srgbClr val="0000FF"/>
                </a:solidFill>
                <a:latin typeface="Courier New"/>
                <a:cs typeface="Courier New"/>
              </a:rPr>
              <a:t>SELECT</a:t>
            </a:r>
            <a:r>
              <a:rPr sz="1300" spc="-1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800000"/>
                </a:solidFill>
                <a:latin typeface="Courier New"/>
                <a:cs typeface="Courier New"/>
              </a:rPr>
              <a:t>product_category</a:t>
            </a:r>
            <a:r>
              <a:rPr sz="1300" spc="-10" dirty="0">
                <a:solidFill>
                  <a:srgbClr val="C0C0C0"/>
                </a:solidFill>
                <a:latin typeface="Courier New"/>
                <a:cs typeface="Courier New"/>
              </a:rPr>
              <a:t>,</a:t>
            </a:r>
            <a:endParaRPr sz="1300">
              <a:latin typeface="Courier New"/>
              <a:cs typeface="Courier New"/>
            </a:endParaRPr>
          </a:p>
          <a:p>
            <a:pPr marL="12700" marR="5080" indent="680085">
              <a:lnSpc>
                <a:spcPct val="114999"/>
              </a:lnSpc>
            </a:pPr>
            <a:r>
              <a:rPr sz="1300" i="1" spc="-10" dirty="0">
                <a:solidFill>
                  <a:srgbClr val="FF00FF"/>
                </a:solidFill>
                <a:latin typeface="Courier New"/>
                <a:cs typeface="Courier New"/>
              </a:rPr>
              <a:t>Sum</a:t>
            </a:r>
            <a:r>
              <a:rPr sz="1300" spc="-10" dirty="0">
                <a:solidFill>
                  <a:srgbClr val="800000"/>
                </a:solidFill>
                <a:latin typeface="Courier New"/>
                <a:cs typeface="Courier New"/>
              </a:rPr>
              <a:t>(sales_amount)</a:t>
            </a:r>
            <a:r>
              <a:rPr sz="1300" spc="-13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300" spc="-25" dirty="0">
                <a:solidFill>
                  <a:srgbClr val="0000FF"/>
                </a:solidFill>
                <a:latin typeface="Courier New"/>
                <a:cs typeface="Courier New"/>
              </a:rPr>
              <a:t>AS </a:t>
            </a:r>
            <a:r>
              <a:rPr sz="1300" spc="-10" dirty="0">
                <a:solidFill>
                  <a:srgbClr val="800000"/>
                </a:solidFill>
                <a:latin typeface="Courier New"/>
                <a:cs typeface="Courier New"/>
              </a:rPr>
              <a:t>total_sales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6175" y="4456223"/>
            <a:ext cx="520700" cy="47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300" spc="-20" dirty="0">
                <a:solidFill>
                  <a:srgbClr val="0000FF"/>
                </a:solidFill>
                <a:latin typeface="Courier New"/>
                <a:cs typeface="Courier New"/>
              </a:rPr>
              <a:t>FROM </a:t>
            </a:r>
            <a:r>
              <a:rPr sz="1300" spc="-10" dirty="0">
                <a:solidFill>
                  <a:srgbClr val="0000FF"/>
                </a:solidFill>
                <a:latin typeface="Courier New"/>
                <a:cs typeface="Courier New"/>
              </a:rPr>
              <a:t>GROUP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6371" y="4456223"/>
            <a:ext cx="1971039" cy="468077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300" spc="-10" dirty="0">
                <a:solidFill>
                  <a:srgbClr val="800000"/>
                </a:solidFill>
                <a:latin typeface="Courier New"/>
                <a:cs typeface="Courier New"/>
              </a:rPr>
              <a:t>sales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300" dirty="0">
                <a:solidFill>
                  <a:srgbClr val="0000FF"/>
                </a:solidFill>
                <a:latin typeface="Courier New"/>
                <a:cs typeface="Courier New"/>
              </a:rPr>
              <a:t>BY</a:t>
            </a:r>
            <a:r>
              <a:rPr sz="1300" spc="-5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800000"/>
                </a:solidFill>
                <a:latin typeface="Courier New"/>
                <a:cs typeface="Courier New"/>
              </a:rPr>
              <a:t>product_category</a:t>
            </a:r>
            <a:r>
              <a:rPr sz="1300" spc="-10" dirty="0">
                <a:solidFill>
                  <a:srgbClr val="C0C0C0"/>
                </a:solidFill>
                <a:latin typeface="Courier New"/>
                <a:cs typeface="Courier New"/>
              </a:rPr>
              <a:t>;</a:t>
            </a:r>
            <a:endParaRPr sz="1300">
              <a:latin typeface="Courier New"/>
              <a:cs typeface="Courier New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038387" y="4421217"/>
          <a:ext cx="3459478" cy="17390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9739"/>
                <a:gridCol w="1729739"/>
              </a:tblGrid>
              <a:tr h="527473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b="1" spc="-10" dirty="0">
                          <a:latin typeface="Arial"/>
                          <a:cs typeface="Arial"/>
                        </a:rPr>
                        <a:t>Product_category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b="1" spc="-10" dirty="0">
                          <a:latin typeface="Arial"/>
                          <a:cs typeface="Arial"/>
                        </a:rPr>
                        <a:t>total_sales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</a:tr>
              <a:tr h="527473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900" spc="-20" dirty="0">
                          <a:latin typeface="Microsoft Sans Serif"/>
                          <a:cs typeface="Microsoft Sans Serif"/>
                        </a:rPr>
                        <a:t>Food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1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900" spc="-10" dirty="0">
                          <a:latin typeface="Microsoft Sans Serif"/>
                          <a:cs typeface="Microsoft Sans Serif"/>
                        </a:rPr>
                        <a:t>77.65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1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27473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10" dirty="0">
                          <a:latin typeface="Microsoft Sans Serif"/>
                          <a:cs typeface="Microsoft Sans Serif"/>
                        </a:rPr>
                        <a:t>Beverages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25" dirty="0">
                          <a:latin typeface="Microsoft Sans Serif"/>
                          <a:cs typeface="Microsoft Sans Serif"/>
                        </a:rPr>
                        <a:t>250</a:t>
                      </a:r>
                      <a:endParaRPr sz="19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60169"/>
          </a:xfrm>
          <a:prstGeom prst="rect">
            <a:avLst/>
          </a:prstGeom>
        </p:spPr>
        <p:txBody>
          <a:bodyPr vert="horz" wrap="square" lIns="0" tIns="181290" rIns="0" bIns="0" rtlCol="0">
            <a:spAutoFit/>
          </a:bodyPr>
          <a:lstStyle/>
          <a:p>
            <a:pPr marL="39052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GROUP</a:t>
            </a:r>
            <a:r>
              <a:rPr spc="-90" dirty="0"/>
              <a:t> </a:t>
            </a:r>
            <a:r>
              <a:rPr spc="-70" dirty="0"/>
              <a:t>BY:</a:t>
            </a:r>
            <a:r>
              <a:rPr spc="-90" dirty="0"/>
              <a:t> </a:t>
            </a:r>
            <a:r>
              <a:rPr dirty="0"/>
              <a:t>пример</a:t>
            </a:r>
            <a:r>
              <a:rPr spc="-85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3375" y="1989172"/>
            <a:ext cx="2974975" cy="13721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Какой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30" dirty="0">
                <a:solidFill>
                  <a:srgbClr val="434343"/>
                </a:solidFill>
                <a:latin typeface="Roboto"/>
                <a:cs typeface="Roboto"/>
              </a:rPr>
              <a:t>результат</a:t>
            </a:r>
            <a:r>
              <a:rPr sz="15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434343"/>
                </a:solidFill>
                <a:latin typeface="Roboto"/>
                <a:cs typeface="Roboto"/>
              </a:rPr>
              <a:t>выдаст</a:t>
            </a:r>
            <a:r>
              <a:rPr sz="15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запрос?</a:t>
            </a:r>
            <a:endParaRPr sz="15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solidFill>
                  <a:srgbClr val="0000FF"/>
                </a:solidFill>
                <a:latin typeface="Courier New"/>
                <a:cs typeface="Courier New"/>
              </a:rPr>
              <a:t>SELECT</a:t>
            </a:r>
            <a:r>
              <a:rPr sz="1500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800000"/>
                </a:solidFill>
                <a:latin typeface="Courier New"/>
                <a:cs typeface="Courier New"/>
              </a:rPr>
              <a:t>client</a:t>
            </a:r>
            <a:r>
              <a:rPr sz="1500" spc="-10" dirty="0">
                <a:solidFill>
                  <a:srgbClr val="C0C0C0"/>
                </a:solidFill>
                <a:latin typeface="Courier New"/>
                <a:cs typeface="Courier New"/>
              </a:rPr>
              <a:t>,</a:t>
            </a:r>
            <a:endParaRPr sz="1500">
              <a:latin typeface="Courier New"/>
              <a:cs typeface="Courier New"/>
            </a:endParaRPr>
          </a:p>
          <a:p>
            <a:pPr marL="812800">
              <a:lnSpc>
                <a:spcPct val="100000"/>
              </a:lnSpc>
              <a:spcBef>
                <a:spcPts val="270"/>
              </a:spcBef>
            </a:pPr>
            <a:r>
              <a:rPr sz="1500" spc="-10" dirty="0">
                <a:solidFill>
                  <a:srgbClr val="800000"/>
                </a:solidFill>
                <a:latin typeface="Courier New"/>
                <a:cs typeface="Courier New"/>
              </a:rPr>
              <a:t>date</a:t>
            </a:r>
            <a:r>
              <a:rPr sz="1500" spc="-10" dirty="0">
                <a:solidFill>
                  <a:srgbClr val="C0C0C0"/>
                </a:solidFill>
                <a:latin typeface="Courier New"/>
                <a:cs typeface="Courier New"/>
              </a:rPr>
              <a:t>,</a:t>
            </a:r>
            <a:endParaRPr sz="1500">
              <a:latin typeface="Courier New"/>
              <a:cs typeface="Courier New"/>
            </a:endParaRPr>
          </a:p>
          <a:p>
            <a:pPr marL="812800">
              <a:lnSpc>
                <a:spcPct val="100000"/>
              </a:lnSpc>
              <a:spcBef>
                <a:spcPts val="270"/>
              </a:spcBef>
            </a:pPr>
            <a:r>
              <a:rPr sz="1500" i="1" spc="-10" dirty="0">
                <a:solidFill>
                  <a:srgbClr val="FF00FF"/>
                </a:solidFill>
                <a:latin typeface="Courier New"/>
                <a:cs typeface="Courier New"/>
              </a:rPr>
              <a:t>Sum</a:t>
            </a:r>
            <a:r>
              <a:rPr sz="1500" spc="-10" dirty="0">
                <a:solidFill>
                  <a:srgbClr val="800000"/>
                </a:solidFill>
                <a:latin typeface="Courier New"/>
                <a:cs typeface="Courier New"/>
              </a:rPr>
              <a:t>(sales_amount)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3374" y="3726532"/>
            <a:ext cx="596900" cy="6222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700"/>
              </a:lnSpc>
              <a:spcBef>
                <a:spcPts val="100"/>
              </a:spcBef>
            </a:pPr>
            <a:r>
              <a:rPr sz="1500" spc="-20" dirty="0">
                <a:solidFill>
                  <a:srgbClr val="0000FF"/>
                </a:solidFill>
                <a:latin typeface="Courier New"/>
                <a:cs typeface="Courier New"/>
              </a:rPr>
              <a:t>FROM </a:t>
            </a:r>
            <a:r>
              <a:rPr sz="1500" spc="-10" dirty="0">
                <a:solidFill>
                  <a:srgbClr val="0000FF"/>
                </a:solidFill>
                <a:latin typeface="Courier New"/>
                <a:cs typeface="Courier New"/>
              </a:rPr>
              <a:t>GROUP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3606" y="3726532"/>
            <a:ext cx="1169035" cy="62453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500" spc="-10" dirty="0">
                <a:solidFill>
                  <a:srgbClr val="800000"/>
                </a:solidFill>
                <a:latin typeface="Courier New"/>
                <a:cs typeface="Courier New"/>
              </a:rPr>
              <a:t>sales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500" dirty="0">
                <a:solidFill>
                  <a:srgbClr val="0000FF"/>
                </a:solidFill>
                <a:latin typeface="Courier New"/>
                <a:cs typeface="Courier New"/>
              </a:rPr>
              <a:t>BY</a:t>
            </a:r>
            <a:r>
              <a:rPr sz="1500" spc="-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800000"/>
                </a:solidFill>
                <a:latin typeface="Courier New"/>
                <a:cs typeface="Courier New"/>
              </a:rPr>
              <a:t>client</a:t>
            </a:r>
            <a:r>
              <a:rPr sz="1500" spc="-10" dirty="0">
                <a:solidFill>
                  <a:srgbClr val="C0C0C0"/>
                </a:solidFill>
                <a:latin typeface="Courier New"/>
                <a:cs typeface="Courier New"/>
              </a:rPr>
              <a:t>;</a:t>
            </a:r>
            <a:endParaRPr sz="15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519562" y="1895816"/>
          <a:ext cx="4258944" cy="3561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7680"/>
                <a:gridCol w="1414145"/>
                <a:gridCol w="1336039"/>
                <a:gridCol w="1021080"/>
              </a:tblGrid>
              <a:tr h="58674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b="1" spc="-25" dirty="0">
                          <a:latin typeface="Arial"/>
                          <a:cs typeface="Arial"/>
                        </a:rPr>
                        <a:t>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client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sales_amount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b="1" spc="-20" dirty="0">
                          <a:latin typeface="Arial"/>
                          <a:cs typeface="Arial"/>
                        </a:rPr>
                        <a:t>date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</a:tr>
              <a:tr h="513927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0" dirty="0">
                          <a:latin typeface="Microsoft Sans Serif"/>
                          <a:cs typeface="Microsoft Sans Serif"/>
                        </a:rPr>
                        <a:t>Петр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102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2012-10-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23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13927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Василий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47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2012-10-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27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723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Мария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18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</a:t>
                      </a:r>
                      <a:r>
                        <a:rPr sz="1600" spc="-40" dirty="0">
                          <a:latin typeface="Microsoft Sans Serif"/>
                          <a:cs typeface="Microsoft Sans Serif"/>
                        </a:rPr>
                        <a:t>11-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05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723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Мария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20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</a:t>
                      </a:r>
                      <a:r>
                        <a:rPr sz="1600" spc="-40" dirty="0">
                          <a:latin typeface="Microsoft Sans Serif"/>
                          <a:cs typeface="Microsoft Sans Serif"/>
                        </a:rPr>
                        <a:t>11-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14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723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0" dirty="0">
                          <a:latin typeface="Microsoft Sans Serif"/>
                          <a:cs typeface="Microsoft Sans Serif"/>
                        </a:rPr>
                        <a:t>Петр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160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2012-12-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03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33" y="1901975"/>
            <a:ext cx="620721" cy="82762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60169"/>
          </a:xfrm>
          <a:prstGeom prst="rect">
            <a:avLst/>
          </a:prstGeom>
        </p:spPr>
        <p:txBody>
          <a:bodyPr vert="horz" wrap="square" lIns="0" tIns="181290" rIns="0" bIns="0" rtlCol="0">
            <a:spAutoFit/>
          </a:bodyPr>
          <a:lstStyle/>
          <a:p>
            <a:pPr marL="39052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GROUP</a:t>
            </a:r>
            <a:r>
              <a:rPr spc="-90" dirty="0"/>
              <a:t> </a:t>
            </a:r>
            <a:r>
              <a:rPr spc="-70" dirty="0"/>
              <a:t>BY:</a:t>
            </a:r>
            <a:r>
              <a:rPr spc="-90" dirty="0"/>
              <a:t> </a:t>
            </a:r>
            <a:r>
              <a:rPr dirty="0"/>
              <a:t>пример</a:t>
            </a:r>
            <a:r>
              <a:rPr spc="-85" dirty="0"/>
              <a:t> </a:t>
            </a:r>
            <a:r>
              <a:rPr spc="-50"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6725" y="1928212"/>
            <a:ext cx="3374390" cy="19569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1635">
              <a:lnSpc>
                <a:spcPct val="120000"/>
              </a:lnSpc>
              <a:spcBef>
                <a:spcPts val="100"/>
              </a:spcBef>
            </a:pP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Как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434343"/>
                </a:solidFill>
                <a:latin typeface="Roboto"/>
                <a:cs typeface="Roboto"/>
              </a:rPr>
              <a:t>будет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выглядеть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следующий запрос?</a:t>
            </a:r>
            <a:endParaRPr sz="15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500">
              <a:latin typeface="Roboto"/>
              <a:cs typeface="Roboto"/>
            </a:endParaRPr>
          </a:p>
          <a:p>
            <a:pPr marL="12700" marR="5080">
              <a:lnSpc>
                <a:spcPct val="120000"/>
              </a:lnSpc>
              <a:spcBef>
                <a:spcPts val="5"/>
              </a:spcBef>
            </a:pPr>
            <a:r>
              <a:rPr sz="1500" b="1" i="1" spc="65" dirty="0">
                <a:solidFill>
                  <a:srgbClr val="434343"/>
                </a:solidFill>
                <a:latin typeface="Roboto Cn"/>
                <a:cs typeface="Roboto Cn"/>
              </a:rPr>
              <a:t>Подсчитать</a:t>
            </a:r>
            <a:r>
              <a:rPr sz="1500" b="1" i="1" spc="55" dirty="0">
                <a:solidFill>
                  <a:srgbClr val="434343"/>
                </a:solidFill>
                <a:latin typeface="Roboto Cn"/>
                <a:cs typeface="Roboto Cn"/>
              </a:rPr>
              <a:t> </a:t>
            </a:r>
            <a:r>
              <a:rPr sz="1500" b="1" i="1" spc="70" dirty="0">
                <a:solidFill>
                  <a:srgbClr val="434343"/>
                </a:solidFill>
                <a:latin typeface="Roboto Cn"/>
                <a:cs typeface="Roboto Cn"/>
              </a:rPr>
              <a:t>количество</a:t>
            </a:r>
            <a:r>
              <a:rPr sz="1500" b="1" i="1" spc="60" dirty="0">
                <a:solidFill>
                  <a:srgbClr val="434343"/>
                </a:solidFill>
                <a:latin typeface="Roboto Cn"/>
                <a:cs typeface="Roboto Cn"/>
              </a:rPr>
              <a:t> </a:t>
            </a:r>
            <a:r>
              <a:rPr sz="1500" b="1" i="1" spc="75" dirty="0">
                <a:solidFill>
                  <a:srgbClr val="434343"/>
                </a:solidFill>
                <a:latin typeface="Roboto Cn"/>
                <a:cs typeface="Roboto Cn"/>
              </a:rPr>
              <a:t>покупок</a:t>
            </a:r>
            <a:r>
              <a:rPr sz="1500" b="1" i="1" spc="60" dirty="0">
                <a:solidFill>
                  <a:srgbClr val="434343"/>
                </a:solidFill>
                <a:latin typeface="Roboto Cn"/>
                <a:cs typeface="Roboto Cn"/>
              </a:rPr>
              <a:t> </a:t>
            </a:r>
            <a:r>
              <a:rPr sz="1500" b="1" i="1" spc="55" dirty="0">
                <a:solidFill>
                  <a:srgbClr val="434343"/>
                </a:solidFill>
                <a:latin typeface="Roboto Cn"/>
                <a:cs typeface="Roboto Cn"/>
              </a:rPr>
              <a:t>по </a:t>
            </a:r>
            <a:r>
              <a:rPr sz="1500" b="1" i="1" spc="75" dirty="0">
                <a:solidFill>
                  <a:srgbClr val="434343"/>
                </a:solidFill>
                <a:latin typeface="Roboto Cn"/>
                <a:cs typeface="Roboto Cn"/>
              </a:rPr>
              <a:t>каждому</a:t>
            </a:r>
            <a:r>
              <a:rPr sz="1500" b="1" i="1" spc="50" dirty="0">
                <a:solidFill>
                  <a:srgbClr val="434343"/>
                </a:solidFill>
                <a:latin typeface="Roboto Cn"/>
                <a:cs typeface="Roboto Cn"/>
              </a:rPr>
              <a:t> клиенту,</a:t>
            </a:r>
            <a:r>
              <a:rPr sz="1500" b="1" i="1" spc="55" dirty="0">
                <a:solidFill>
                  <a:srgbClr val="434343"/>
                </a:solidFill>
                <a:latin typeface="Roboto Cn"/>
                <a:cs typeface="Roboto Cn"/>
              </a:rPr>
              <a:t> </a:t>
            </a:r>
            <a:r>
              <a:rPr sz="1500" b="1" i="1" spc="65" dirty="0">
                <a:solidFill>
                  <a:srgbClr val="434343"/>
                </a:solidFill>
                <a:latin typeface="Roboto Cn"/>
                <a:cs typeface="Roboto Cn"/>
              </a:rPr>
              <a:t>который</a:t>
            </a:r>
            <a:r>
              <a:rPr sz="1500" b="1" i="1" spc="50" dirty="0">
                <a:solidFill>
                  <a:srgbClr val="434343"/>
                </a:solidFill>
                <a:latin typeface="Roboto Cn"/>
                <a:cs typeface="Roboto Cn"/>
              </a:rPr>
              <a:t> </a:t>
            </a:r>
            <a:r>
              <a:rPr sz="1500" b="1" i="1" spc="75" dirty="0">
                <a:solidFill>
                  <a:srgbClr val="434343"/>
                </a:solidFill>
                <a:latin typeface="Roboto Cn"/>
                <a:cs typeface="Roboto Cn"/>
              </a:rPr>
              <a:t>совершил </a:t>
            </a:r>
            <a:r>
              <a:rPr sz="1500" b="1" i="1" spc="60" dirty="0">
                <a:solidFill>
                  <a:srgbClr val="434343"/>
                </a:solidFill>
                <a:latin typeface="Roboto Cn"/>
                <a:cs typeface="Roboto Cn"/>
              </a:rPr>
              <a:t>как </a:t>
            </a:r>
            <a:r>
              <a:rPr sz="1500" b="1" i="1" spc="85" dirty="0">
                <a:solidFill>
                  <a:srgbClr val="434343"/>
                </a:solidFill>
                <a:latin typeface="Roboto Cn"/>
                <a:cs typeface="Roboto Cn"/>
              </a:rPr>
              <a:t>минимум</a:t>
            </a:r>
            <a:r>
              <a:rPr sz="1500" b="1" i="1" spc="60" dirty="0">
                <a:solidFill>
                  <a:srgbClr val="434343"/>
                </a:solidFill>
                <a:latin typeface="Roboto Cn"/>
                <a:cs typeface="Roboto Cn"/>
              </a:rPr>
              <a:t> </a:t>
            </a:r>
            <a:r>
              <a:rPr sz="1500" b="1" i="1" dirty="0">
                <a:solidFill>
                  <a:srgbClr val="434343"/>
                </a:solidFill>
                <a:latin typeface="Roboto Cn"/>
                <a:cs typeface="Roboto Cn"/>
              </a:rPr>
              <a:t>2</a:t>
            </a:r>
            <a:r>
              <a:rPr sz="1500" b="1" i="1" spc="65" dirty="0">
                <a:solidFill>
                  <a:srgbClr val="434343"/>
                </a:solidFill>
                <a:latin typeface="Roboto Cn"/>
                <a:cs typeface="Roboto Cn"/>
              </a:rPr>
              <a:t> </a:t>
            </a:r>
            <a:r>
              <a:rPr sz="1500" b="1" i="1" spc="50" dirty="0">
                <a:solidFill>
                  <a:srgbClr val="434343"/>
                </a:solidFill>
                <a:latin typeface="Roboto Cn"/>
                <a:cs typeface="Roboto Cn"/>
              </a:rPr>
              <a:t>покупки.</a:t>
            </a:r>
            <a:endParaRPr sz="1500">
              <a:latin typeface="Roboto Cn"/>
              <a:cs typeface="Roboto C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33" y="1901975"/>
            <a:ext cx="620721" cy="827624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19562" y="1895816"/>
          <a:ext cx="4258944" cy="3561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7680"/>
                <a:gridCol w="1414145"/>
                <a:gridCol w="1336039"/>
                <a:gridCol w="1021080"/>
              </a:tblGrid>
              <a:tr h="58674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b="1" spc="-25" dirty="0">
                          <a:latin typeface="Arial"/>
                          <a:cs typeface="Arial"/>
                        </a:rPr>
                        <a:t>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client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sales_amount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b="1" spc="-20" dirty="0">
                          <a:latin typeface="Arial"/>
                          <a:cs typeface="Arial"/>
                        </a:rPr>
                        <a:t>date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</a:tr>
              <a:tr h="513927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0" dirty="0">
                          <a:latin typeface="Microsoft Sans Serif"/>
                          <a:cs typeface="Microsoft Sans Serif"/>
                        </a:rPr>
                        <a:t>Петр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102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2012-10-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23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13927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Василий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47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2012-10-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27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723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Мария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18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</a:t>
                      </a:r>
                      <a:r>
                        <a:rPr sz="1600" spc="-40" dirty="0">
                          <a:latin typeface="Microsoft Sans Serif"/>
                          <a:cs typeface="Microsoft Sans Serif"/>
                        </a:rPr>
                        <a:t>11-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05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723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Мария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20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</a:t>
                      </a:r>
                      <a:r>
                        <a:rPr sz="1600" spc="-40" dirty="0">
                          <a:latin typeface="Microsoft Sans Serif"/>
                          <a:cs typeface="Microsoft Sans Serif"/>
                        </a:rPr>
                        <a:t>11-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14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723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0" dirty="0">
                          <a:latin typeface="Microsoft Sans Serif"/>
                          <a:cs typeface="Microsoft Sans Serif"/>
                        </a:rPr>
                        <a:t>Петр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160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2012-12-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03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957775" y="5990984"/>
            <a:ext cx="39814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u="heavy" spc="-55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Roboto"/>
                <a:cs typeface="Roboto"/>
                <a:hlinkClick r:id="rId3"/>
              </a:rPr>
              <a:t>https://www.db-</a:t>
            </a:r>
            <a:r>
              <a:rPr sz="1400" u="heavy" spc="-10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Roboto"/>
                <a:cs typeface="Roboto"/>
                <a:hlinkClick r:id="rId3"/>
              </a:rPr>
              <a:t>fiddle.com/f/kVSgXux6384wV7LU</a:t>
            </a:r>
            <a:r>
              <a:rPr sz="1400" spc="-10" dirty="0">
                <a:solidFill>
                  <a:srgbClr val="F06292"/>
                </a:solidFill>
                <a:latin typeface="Roboto"/>
                <a:cs typeface="Roboto"/>
              </a:rPr>
              <a:t> </a:t>
            </a:r>
            <a:r>
              <a:rPr sz="1400" u="heavy" spc="-10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Roboto"/>
                <a:cs typeface="Roboto"/>
                <a:hlinkClick r:id="rId3"/>
              </a:rPr>
              <a:t>ZJwnQn/9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24B7F9-6579-4157-B1E2-9C4400EF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ru-RU" sz="3600" dirty="0" smtClean="0"/>
              <a:t>Ограничение результатов группировки</a:t>
            </a:r>
            <a:endParaRPr lang="ru-RU" sz="3600" dirty="0"/>
          </a:p>
        </p:txBody>
      </p:sp>
      <p:pic>
        <p:nvPicPr>
          <p:cNvPr id="5" name="Picture 28" descr="C:\salome_official\projects\11gR2\screenshots\les5_13s_a.gif">
            <a:extLst>
              <a:ext uri="{FF2B5EF4-FFF2-40B4-BE49-F238E27FC236}">
                <a16:creationId xmlns="" xmlns:a16="http://schemas.microsoft.com/office/drawing/2014/main" id="{C12C983E-8D1E-40B0-8AD8-19FCEB7B2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88" y="2078209"/>
            <a:ext cx="2628900" cy="3200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9" descr="C:\salome_official\projects\11gR2\screenshots\les5_13_b.gif">
            <a:extLst>
              <a:ext uri="{FF2B5EF4-FFF2-40B4-BE49-F238E27FC236}">
                <a16:creationId xmlns="" xmlns:a16="http://schemas.microsoft.com/office/drawing/2014/main" id="{6AC526CE-1826-43B6-9FA5-FFF149A71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150" y="5562771"/>
            <a:ext cx="2628900" cy="685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37A12039-4096-4647-97FF-1005560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517821"/>
            <a:ext cx="14128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>
                <a:latin typeface="Courier New" panose="02070309020205020404" pitchFamily="49" charset="0"/>
              </a:rPr>
              <a:t>EMPLOYEES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="" xmlns:a16="http://schemas.microsoft.com/office/drawing/2014/main" id="{E8440D0A-B26A-4AAF-9FB8-681A8F1C8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1075" y="5150021"/>
            <a:ext cx="366713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lIns="12700" tIns="12700" rIns="12700" bIns="12700">
            <a:spAutoFit/>
          </a:bodyPr>
          <a:lstStyle>
            <a:lvl1pPr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23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2232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r>
              <a:rPr lang="en-US" altLang="ru-RU" sz="2400"/>
              <a:t>…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="" xmlns:a16="http://schemas.microsoft.com/office/drawing/2014/main" id="{058A245E-1655-443C-B0B0-184AA9E9FC98}"/>
              </a:ext>
            </a:extLst>
          </p:cNvPr>
          <p:cNvSpPr>
            <a:spLocks noChangeArrowheads="1"/>
          </p:cNvSpPr>
          <p:nvPr/>
        </p:nvSpPr>
        <p:spPr bwMode="gray">
          <a:xfrm>
            <a:off x="2955925" y="2546521"/>
            <a:ext cx="765175" cy="1873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sp>
        <p:nvSpPr>
          <p:cNvPr id="15" name="Rectangle 12">
            <a:extLst>
              <a:ext uri="{FF2B5EF4-FFF2-40B4-BE49-F238E27FC236}">
                <a16:creationId xmlns="" xmlns:a16="http://schemas.microsoft.com/office/drawing/2014/main" id="{A7DD4E5F-CF29-42D2-8472-46DB5E2C1272}"/>
              </a:ext>
            </a:extLst>
          </p:cNvPr>
          <p:cNvSpPr>
            <a:spLocks noChangeArrowheads="1"/>
          </p:cNvSpPr>
          <p:nvPr/>
        </p:nvSpPr>
        <p:spPr bwMode="gray">
          <a:xfrm>
            <a:off x="2970213" y="4803946"/>
            <a:ext cx="730250" cy="2286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sp>
        <p:nvSpPr>
          <p:cNvPr id="17" name="Rectangle 13">
            <a:extLst>
              <a:ext uri="{FF2B5EF4-FFF2-40B4-BE49-F238E27FC236}">
                <a16:creationId xmlns="" xmlns:a16="http://schemas.microsoft.com/office/drawing/2014/main" id="{12A5D4FA-CBFD-4909-85CF-F3833AF36F3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55688" y="4803946"/>
            <a:ext cx="2646362" cy="46831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sp>
        <p:nvSpPr>
          <p:cNvPr id="19" name="Freeform 17">
            <a:extLst>
              <a:ext uri="{FF2B5EF4-FFF2-40B4-BE49-F238E27FC236}">
                <a16:creationId xmlns="" xmlns:a16="http://schemas.microsoft.com/office/drawing/2014/main" id="{BD650F6F-00B2-413E-83DB-C078550F7503}"/>
              </a:ext>
            </a:extLst>
          </p:cNvPr>
          <p:cNvSpPr>
            <a:spLocks/>
          </p:cNvSpPr>
          <p:nvPr/>
        </p:nvSpPr>
        <p:spPr bwMode="gray">
          <a:xfrm>
            <a:off x="3713163" y="2062334"/>
            <a:ext cx="990600" cy="4232275"/>
          </a:xfrm>
          <a:custGeom>
            <a:avLst/>
            <a:gdLst>
              <a:gd name="T0" fmla="*/ 0 w 1687"/>
              <a:gd name="T1" fmla="*/ 2147483647 h 2722"/>
              <a:gd name="T2" fmla="*/ 0 w 1687"/>
              <a:gd name="T3" fmla="*/ 0 h 2722"/>
              <a:gd name="T4" fmla="*/ 2147483647 w 1687"/>
              <a:gd name="T5" fmla="*/ 2147483647 h 2722"/>
              <a:gd name="T6" fmla="*/ 2147483647 w 1687"/>
              <a:gd name="T7" fmla="*/ 2147483647 h 2722"/>
              <a:gd name="T8" fmla="*/ 0 w 1687"/>
              <a:gd name="T9" fmla="*/ 2147483647 h 27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7"/>
              <a:gd name="T16" fmla="*/ 0 h 2722"/>
              <a:gd name="T17" fmla="*/ 1687 w 1687"/>
              <a:gd name="T18" fmla="*/ 2722 h 27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7" h="2722">
                <a:moveTo>
                  <a:pt x="0" y="2721"/>
                </a:moveTo>
                <a:lnTo>
                  <a:pt x="0" y="0"/>
                </a:lnTo>
                <a:lnTo>
                  <a:pt x="1686" y="1016"/>
                </a:lnTo>
                <a:lnTo>
                  <a:pt x="1686" y="1705"/>
                </a:lnTo>
                <a:lnTo>
                  <a:pt x="0" y="2721"/>
                </a:lnTo>
              </a:path>
            </a:pathLst>
          </a:custGeom>
          <a:solidFill>
            <a:srgbClr val="FFCC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1" name="Rectangle 18">
            <a:extLst>
              <a:ext uri="{FF2B5EF4-FFF2-40B4-BE49-F238E27FC236}">
                <a16:creationId xmlns="" xmlns:a16="http://schemas.microsoft.com/office/drawing/2014/main" id="{9FA9F5B2-2044-43AE-9248-DB5B2F4F7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6288" y="2449684"/>
            <a:ext cx="29718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ru-RU" altLang="ru-RU" dirty="0" smtClean="0"/>
              <a:t>Максимальная зарплата на отдел, когда она больше </a:t>
            </a:r>
            <a:r>
              <a:rPr lang="en-US" altLang="ru-RU" dirty="0" smtClean="0"/>
              <a:t>$</a:t>
            </a:r>
            <a:r>
              <a:rPr lang="en-US" altLang="ru-RU" dirty="0"/>
              <a:t>10,000</a:t>
            </a:r>
          </a:p>
        </p:txBody>
      </p:sp>
      <p:sp>
        <p:nvSpPr>
          <p:cNvPr id="23" name="Rectangle 23">
            <a:extLst>
              <a:ext uri="{FF2B5EF4-FFF2-40B4-BE49-F238E27FC236}">
                <a16:creationId xmlns="" xmlns:a16="http://schemas.microsoft.com/office/drawing/2014/main" id="{0C74C75C-D62C-41BD-88B0-A25A6EDC9178}"/>
              </a:ext>
            </a:extLst>
          </p:cNvPr>
          <p:cNvSpPr>
            <a:spLocks noChangeArrowheads="1"/>
          </p:cNvSpPr>
          <p:nvPr/>
        </p:nvSpPr>
        <p:spPr bwMode="gray">
          <a:xfrm>
            <a:off x="2982913" y="5804071"/>
            <a:ext cx="730250" cy="21907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sp>
        <p:nvSpPr>
          <p:cNvPr id="25" name="Rectangle 26">
            <a:extLst>
              <a:ext uri="{FF2B5EF4-FFF2-40B4-BE49-F238E27FC236}">
                <a16:creationId xmlns="" xmlns:a16="http://schemas.microsoft.com/office/drawing/2014/main" id="{2D043F0E-D273-47E9-899D-66AF52755D7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79500" y="2549696"/>
            <a:ext cx="2636838" cy="4572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sp>
        <p:nvSpPr>
          <p:cNvPr id="27" name="Rectangle 14">
            <a:extLst>
              <a:ext uri="{FF2B5EF4-FFF2-40B4-BE49-F238E27FC236}">
                <a16:creationId xmlns="" xmlns:a16="http://schemas.microsoft.com/office/drawing/2014/main" id="{8B0E9162-0053-4B43-8377-A99035F0AB3D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65213" y="5562771"/>
            <a:ext cx="2643187" cy="4572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pic>
        <p:nvPicPr>
          <p:cNvPr id="29" name="Picture 30" descr="C:\salome_official\projects\11gR2\screenshots\les5_21s_c.gif">
            <a:extLst>
              <a:ext uri="{FF2B5EF4-FFF2-40B4-BE49-F238E27FC236}">
                <a16:creationId xmlns="" xmlns:a16="http://schemas.microsoft.com/office/drawing/2014/main" id="{A7DF6029-5621-449F-99B3-21CD2B96A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3592684"/>
            <a:ext cx="2697163" cy="11541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898168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24B7F9-6579-4157-B1E2-9C4400EF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ru-RU" sz="3200" dirty="0" smtClean="0"/>
              <a:t>Ограничение результатов группы с помощью предложения HAVING</a:t>
            </a:r>
            <a:endParaRPr lang="ru-RU" sz="3200"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6CCAF776-5064-41DD-BE41-A34063940B58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866775" y="3824289"/>
            <a:ext cx="7272338" cy="172878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SELECT    </a:t>
            </a:r>
            <a:r>
              <a:rPr lang="en-US" altLang="ru-RU" i="1">
                <a:solidFill>
                  <a:srgbClr val="000000"/>
                </a:solidFill>
                <a:latin typeface="Courier New" panose="02070309020205020404" pitchFamily="49" charset="0"/>
              </a:rPr>
              <a:t>column</a:t>
            </a: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ru-RU" i="1">
                <a:solidFill>
                  <a:srgbClr val="000000"/>
                </a:solidFill>
                <a:latin typeface="Courier New" panose="02070309020205020404" pitchFamily="49" charset="0"/>
              </a:rPr>
              <a:t>group_function</a:t>
            </a:r>
            <a:endParaRPr lang="en-US" altLang="ru-RU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FROM      </a:t>
            </a:r>
            <a:r>
              <a:rPr lang="en-US" altLang="ru-RU" i="1">
                <a:solidFill>
                  <a:srgbClr val="000000"/>
                </a:solidFill>
                <a:latin typeface="Courier New" panose="02070309020205020404" pitchFamily="49" charset="0"/>
              </a:rPr>
              <a:t>table</a:t>
            </a:r>
            <a:endParaRPr lang="en-US" altLang="ru-RU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[WHERE    </a:t>
            </a:r>
            <a:r>
              <a:rPr lang="en-US" altLang="ru-RU" i="1">
                <a:solidFill>
                  <a:srgbClr val="000000"/>
                </a:solidFill>
                <a:latin typeface="Courier New" panose="02070309020205020404" pitchFamily="49" charset="0"/>
              </a:rPr>
              <a:t>condition</a:t>
            </a: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[GROUP BY </a:t>
            </a:r>
            <a:r>
              <a:rPr lang="en-US" altLang="ru-RU" i="1">
                <a:solidFill>
                  <a:srgbClr val="000000"/>
                </a:solidFill>
                <a:latin typeface="Courier New" panose="02070309020205020404" pitchFamily="49" charset="0"/>
              </a:rPr>
              <a:t>group_by_expression</a:t>
            </a: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  <a:endParaRPr lang="en-US" altLang="ru-RU" i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[HAVING   </a:t>
            </a:r>
            <a:r>
              <a:rPr lang="en-US" altLang="ru-RU" i="1">
                <a:solidFill>
                  <a:srgbClr val="000000"/>
                </a:solidFill>
                <a:latin typeface="Courier New" panose="02070309020205020404" pitchFamily="49" charset="0"/>
              </a:rPr>
              <a:t>group_condition</a:t>
            </a: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[ORDER BY </a:t>
            </a:r>
            <a:r>
              <a:rPr lang="en-US" altLang="ru-RU" i="1">
                <a:solidFill>
                  <a:srgbClr val="000000"/>
                </a:solidFill>
                <a:latin typeface="Courier New" panose="02070309020205020404" pitchFamily="49" charset="0"/>
              </a:rPr>
              <a:t>column</a:t>
            </a:r>
            <a:r>
              <a:rPr lang="en-US" altLang="ru-RU">
                <a:solidFill>
                  <a:srgbClr val="000000"/>
                </a:solidFill>
                <a:latin typeface="Courier New" panose="02070309020205020404" pitchFamily="49" charset="0"/>
              </a:rPr>
              <a:t>];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C7C24A1C-A4F0-4D77-9917-8C2F8FC760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690689"/>
            <a:ext cx="7918450" cy="1751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altLang="ru-RU" sz="1800" dirty="0" smtClean="0"/>
              <a:t>При использовании выражения HAVING - сервер Базы Данных ограничивает группы следующим образом:</a:t>
            </a:r>
            <a:endParaRPr lang="en-US" altLang="ru-RU" sz="1800" dirty="0" smtClean="0"/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ru-RU" altLang="ru-RU" sz="1800" dirty="0" smtClean="0"/>
              <a:t>Строки сгруппированы.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ru-RU" altLang="ru-RU" sz="1800" dirty="0" smtClean="0"/>
              <a:t>Применяется функция группировки.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ru-RU" altLang="ru-RU" sz="1800" dirty="0" smtClean="0"/>
              <a:t>Отображаются группы, соответствующие предложению HAVING.</a:t>
            </a:r>
            <a:endParaRPr lang="en-US" altLang="ru-RU" sz="1800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772C6E95-7919-4A22-89D9-9065AF5754EA}"/>
              </a:ext>
            </a:extLst>
          </p:cNvPr>
          <p:cNvSpPr>
            <a:spLocks noChangeArrowheads="1"/>
          </p:cNvSpPr>
          <p:nvPr/>
        </p:nvSpPr>
        <p:spPr bwMode="gray">
          <a:xfrm>
            <a:off x="912813" y="4978402"/>
            <a:ext cx="4138612" cy="2667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</p:spTree>
    <p:extLst>
      <p:ext uri="{BB962C8B-B14F-4D97-AF65-F5344CB8AC3E}">
        <p14:creationId xmlns="" xmlns:p14="http://schemas.microsoft.com/office/powerpoint/2010/main" val="29452576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24B7F9-6579-4157-B1E2-9C4400EF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ru-RU" sz="3600" dirty="0" smtClean="0"/>
              <a:t>Применение выражения </a:t>
            </a:r>
            <a:r>
              <a:rPr lang="en-US" altLang="ru-RU" sz="3600" dirty="0" smtClean="0">
                <a:latin typeface="Courier New" panose="02070309020205020404" pitchFamily="49" charset="0"/>
              </a:rPr>
              <a:t>HAVING</a:t>
            </a:r>
            <a:endParaRPr lang="ru-RU" sz="3600" dirty="0"/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8E759D5E-B3A5-4D4B-9E9F-654098A8099C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866775" y="1828800"/>
            <a:ext cx="7300913" cy="12239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SELECT  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, MAX(salary)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FROM     employees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GROUP BY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endParaRPr lang="en-US" altLang="ru-RU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HAVING   MAX(salary)&gt;10000 ;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8264ED04-B98F-472A-B8D0-9C012119B92D}"/>
              </a:ext>
            </a:extLst>
          </p:cNvPr>
          <p:cNvSpPr>
            <a:spLocks noChangeArrowheads="1"/>
          </p:cNvSpPr>
          <p:nvPr/>
        </p:nvSpPr>
        <p:spPr bwMode="gray">
          <a:xfrm>
            <a:off x="904875" y="2717800"/>
            <a:ext cx="3686175" cy="2667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pic>
        <p:nvPicPr>
          <p:cNvPr id="9" name="Picture 6">
            <a:extLst>
              <a:ext uri="{FF2B5EF4-FFF2-40B4-BE49-F238E27FC236}">
                <a16:creationId xmlns="" xmlns:a16="http://schemas.microsoft.com/office/drawing/2014/main" id="{33EFE11F-EBEC-4EA4-8516-CFBA5DD0D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505200"/>
            <a:ext cx="3506788" cy="13731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3841859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24B7F9-6579-4157-B1E2-9C4400EF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ru-RU" sz="3600" dirty="0" smtClean="0"/>
              <a:t>Применение выражения </a:t>
            </a:r>
            <a:r>
              <a:rPr lang="en-US" altLang="ru-RU" sz="3600" dirty="0" smtClean="0">
                <a:latin typeface="Courier New" panose="02070309020205020404" pitchFamily="49" charset="0"/>
              </a:rPr>
              <a:t>HAVING</a:t>
            </a:r>
            <a:endParaRPr lang="ru-RU" sz="3600" dirty="0"/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6DA87943-44B8-4265-B306-EDF888E9F7F9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838200" y="1828800"/>
            <a:ext cx="7300913" cy="17113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SELECT  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job_id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, SUM(salary) PAYROLL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FROM     employees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WHERE   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job_id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 NOT LIKE '%REP%'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GROUP BY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job_id</a:t>
            </a:r>
            <a:endParaRPr lang="en-US" altLang="ru-RU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HAVING   SUM(salary) &gt; 13000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ORDER BY SUM(salary);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612D4399-9506-4E11-8782-5BE0C8BEE0B2}"/>
              </a:ext>
            </a:extLst>
          </p:cNvPr>
          <p:cNvSpPr>
            <a:spLocks noChangeArrowheads="1"/>
          </p:cNvSpPr>
          <p:nvPr/>
        </p:nvSpPr>
        <p:spPr bwMode="gray">
          <a:xfrm>
            <a:off x="915988" y="2986088"/>
            <a:ext cx="3971925" cy="2667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pic>
        <p:nvPicPr>
          <p:cNvPr id="9" name="Picture 6">
            <a:extLst>
              <a:ext uri="{FF2B5EF4-FFF2-40B4-BE49-F238E27FC236}">
                <a16:creationId xmlns="" xmlns:a16="http://schemas.microsoft.com/office/drawing/2014/main" id="{FADE83B8-2A3F-478E-9074-1A61E580E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038600"/>
            <a:ext cx="2119313" cy="9286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9670444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60169"/>
          </a:xfrm>
          <a:prstGeom prst="rect">
            <a:avLst/>
          </a:prstGeom>
        </p:spPr>
        <p:txBody>
          <a:bodyPr vert="horz" wrap="square" lIns="0" tIns="181290" rIns="0" bIns="0" rtlCol="0">
            <a:spAutoFit/>
          </a:bodyPr>
          <a:lstStyle/>
          <a:p>
            <a:pPr marL="39052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GROUP</a:t>
            </a:r>
            <a:r>
              <a:rPr spc="-80" dirty="0"/>
              <a:t> BY</a:t>
            </a:r>
            <a:r>
              <a:rPr spc="-85" dirty="0"/>
              <a:t> </a:t>
            </a:r>
            <a:r>
              <a:rPr dirty="0"/>
              <a:t>+</a:t>
            </a:r>
            <a:r>
              <a:rPr spc="-80" dirty="0"/>
              <a:t> </a:t>
            </a:r>
            <a:r>
              <a:rPr spc="-10" dirty="0"/>
              <a:t>HAVING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6725" y="1928212"/>
            <a:ext cx="3699075" cy="22390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1635">
              <a:lnSpc>
                <a:spcPct val="120000"/>
              </a:lnSpc>
              <a:spcBef>
                <a:spcPts val="100"/>
              </a:spcBef>
            </a:pP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Как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434343"/>
                </a:solidFill>
                <a:latin typeface="Roboto"/>
                <a:cs typeface="Roboto"/>
              </a:rPr>
              <a:t>будет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 выглядеть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следующий запрос?</a:t>
            </a:r>
            <a:endParaRPr sz="15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500">
              <a:latin typeface="Roboto"/>
              <a:cs typeface="Roboto"/>
            </a:endParaRPr>
          </a:p>
          <a:p>
            <a:pPr marL="12700" marR="5080">
              <a:lnSpc>
                <a:spcPct val="120000"/>
              </a:lnSpc>
              <a:spcBef>
                <a:spcPts val="5"/>
              </a:spcBef>
            </a:pPr>
            <a:r>
              <a:rPr sz="1500" b="1" i="1" spc="65" dirty="0">
                <a:solidFill>
                  <a:srgbClr val="434343"/>
                </a:solidFill>
                <a:latin typeface="Roboto Cn"/>
                <a:cs typeface="Roboto Cn"/>
              </a:rPr>
              <a:t>Подсчитать</a:t>
            </a:r>
            <a:r>
              <a:rPr sz="1500" b="1" i="1" spc="55" dirty="0">
                <a:solidFill>
                  <a:srgbClr val="434343"/>
                </a:solidFill>
                <a:latin typeface="Roboto Cn"/>
                <a:cs typeface="Roboto Cn"/>
              </a:rPr>
              <a:t> </a:t>
            </a:r>
            <a:r>
              <a:rPr sz="1500" b="1" i="1" spc="70" dirty="0">
                <a:solidFill>
                  <a:srgbClr val="434343"/>
                </a:solidFill>
                <a:latin typeface="Roboto Cn"/>
                <a:cs typeface="Roboto Cn"/>
              </a:rPr>
              <a:t>количество</a:t>
            </a:r>
            <a:r>
              <a:rPr sz="1500" b="1" i="1" spc="60" dirty="0">
                <a:solidFill>
                  <a:srgbClr val="434343"/>
                </a:solidFill>
                <a:latin typeface="Roboto Cn"/>
                <a:cs typeface="Roboto Cn"/>
              </a:rPr>
              <a:t> </a:t>
            </a:r>
            <a:r>
              <a:rPr sz="1500" b="1" i="1" spc="75" dirty="0">
                <a:solidFill>
                  <a:srgbClr val="434343"/>
                </a:solidFill>
                <a:latin typeface="Roboto Cn"/>
                <a:cs typeface="Roboto Cn"/>
              </a:rPr>
              <a:t>покупок</a:t>
            </a:r>
            <a:r>
              <a:rPr sz="1500" b="1" i="1" spc="60" dirty="0">
                <a:solidFill>
                  <a:srgbClr val="434343"/>
                </a:solidFill>
                <a:latin typeface="Roboto Cn"/>
                <a:cs typeface="Roboto Cn"/>
              </a:rPr>
              <a:t> </a:t>
            </a:r>
            <a:r>
              <a:rPr sz="1500" b="1" i="1" spc="55" dirty="0">
                <a:solidFill>
                  <a:srgbClr val="434343"/>
                </a:solidFill>
                <a:latin typeface="Roboto Cn"/>
                <a:cs typeface="Roboto Cn"/>
              </a:rPr>
              <a:t>по </a:t>
            </a:r>
            <a:r>
              <a:rPr sz="1500" b="1" i="1" spc="75" dirty="0">
                <a:solidFill>
                  <a:srgbClr val="434343"/>
                </a:solidFill>
                <a:latin typeface="Roboto Cn"/>
                <a:cs typeface="Roboto Cn"/>
              </a:rPr>
              <a:t>каждому</a:t>
            </a:r>
            <a:r>
              <a:rPr sz="1500" b="1" i="1" spc="50" dirty="0">
                <a:solidFill>
                  <a:srgbClr val="434343"/>
                </a:solidFill>
                <a:latin typeface="Roboto Cn"/>
                <a:cs typeface="Roboto Cn"/>
              </a:rPr>
              <a:t> клиенту,</a:t>
            </a:r>
            <a:r>
              <a:rPr sz="1500" b="1" i="1" spc="55" dirty="0">
                <a:solidFill>
                  <a:srgbClr val="434343"/>
                </a:solidFill>
                <a:latin typeface="Roboto Cn"/>
                <a:cs typeface="Roboto Cn"/>
              </a:rPr>
              <a:t> </a:t>
            </a:r>
            <a:r>
              <a:rPr sz="1500" b="1" i="1" spc="65" dirty="0">
                <a:solidFill>
                  <a:srgbClr val="434343"/>
                </a:solidFill>
                <a:latin typeface="Roboto Cn"/>
                <a:cs typeface="Roboto Cn"/>
              </a:rPr>
              <a:t>который</a:t>
            </a:r>
            <a:r>
              <a:rPr sz="1500" b="1" i="1" spc="50" dirty="0">
                <a:solidFill>
                  <a:srgbClr val="434343"/>
                </a:solidFill>
                <a:latin typeface="Roboto Cn"/>
                <a:cs typeface="Roboto Cn"/>
              </a:rPr>
              <a:t> </a:t>
            </a:r>
            <a:r>
              <a:rPr sz="1500" b="1" i="1" spc="75" dirty="0">
                <a:solidFill>
                  <a:srgbClr val="434343"/>
                </a:solidFill>
                <a:latin typeface="Roboto Cn"/>
                <a:cs typeface="Roboto Cn"/>
              </a:rPr>
              <a:t>совершил </a:t>
            </a:r>
            <a:r>
              <a:rPr sz="1500" b="1" i="1" spc="60" dirty="0">
                <a:solidFill>
                  <a:srgbClr val="434343"/>
                </a:solidFill>
                <a:latin typeface="Roboto Cn"/>
                <a:cs typeface="Roboto Cn"/>
              </a:rPr>
              <a:t>как </a:t>
            </a:r>
            <a:r>
              <a:rPr sz="1500" b="1" i="1" spc="85" dirty="0">
                <a:solidFill>
                  <a:srgbClr val="434343"/>
                </a:solidFill>
                <a:latin typeface="Roboto Cn"/>
                <a:cs typeface="Roboto Cn"/>
              </a:rPr>
              <a:t>минимум</a:t>
            </a:r>
            <a:r>
              <a:rPr sz="1500" b="1" i="1" spc="60" dirty="0">
                <a:solidFill>
                  <a:srgbClr val="434343"/>
                </a:solidFill>
                <a:latin typeface="Roboto Cn"/>
                <a:cs typeface="Roboto Cn"/>
              </a:rPr>
              <a:t> </a:t>
            </a:r>
            <a:r>
              <a:rPr sz="1500" b="1" i="1" dirty="0">
                <a:solidFill>
                  <a:srgbClr val="434343"/>
                </a:solidFill>
                <a:latin typeface="Roboto Cn"/>
                <a:cs typeface="Roboto Cn"/>
              </a:rPr>
              <a:t>2</a:t>
            </a:r>
            <a:r>
              <a:rPr sz="1500" b="1" i="1" spc="65" dirty="0">
                <a:solidFill>
                  <a:srgbClr val="434343"/>
                </a:solidFill>
                <a:latin typeface="Roboto Cn"/>
                <a:cs typeface="Roboto Cn"/>
              </a:rPr>
              <a:t> </a:t>
            </a:r>
            <a:r>
              <a:rPr sz="1500" b="1" i="1" spc="50" dirty="0">
                <a:solidFill>
                  <a:srgbClr val="434343"/>
                </a:solidFill>
                <a:latin typeface="Roboto Cn"/>
                <a:cs typeface="Roboto Cn"/>
              </a:rPr>
              <a:t>покупки.</a:t>
            </a:r>
            <a:endParaRPr sz="1500">
              <a:latin typeface="Roboto Cn"/>
              <a:cs typeface="Roboto Cn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500">
              <a:latin typeface="Roboto Cn"/>
              <a:cs typeface="Roboto Cn"/>
            </a:endParaRPr>
          </a:p>
          <a:p>
            <a:pPr marL="12700">
              <a:lnSpc>
                <a:spcPct val="100000"/>
              </a:lnSpc>
            </a:pPr>
            <a:endParaRPr sz="13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6725" y="5169592"/>
            <a:ext cx="520700" cy="47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300" spc="-20" dirty="0">
                <a:solidFill>
                  <a:srgbClr val="0000FF"/>
                </a:solidFill>
                <a:latin typeface="Courier New"/>
                <a:cs typeface="Courier New"/>
              </a:rPr>
              <a:t>FROM </a:t>
            </a:r>
            <a:r>
              <a:rPr sz="1300" spc="-10" dirty="0">
                <a:solidFill>
                  <a:srgbClr val="0000FF"/>
                </a:solidFill>
                <a:latin typeface="Courier New"/>
                <a:cs typeface="Courier New"/>
              </a:rPr>
              <a:t>GROUP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1600" y="5156200"/>
            <a:ext cx="911860" cy="468077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300" spc="-10" dirty="0">
                <a:solidFill>
                  <a:srgbClr val="800000"/>
                </a:solidFill>
                <a:latin typeface="Courier New"/>
                <a:cs typeface="Courier New"/>
              </a:rPr>
              <a:t>sales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300" dirty="0">
                <a:solidFill>
                  <a:srgbClr val="0000FF"/>
                </a:solidFill>
                <a:latin typeface="Courier New"/>
                <a:cs typeface="Courier New"/>
              </a:rPr>
              <a:t>BY</a:t>
            </a:r>
            <a:r>
              <a:rPr sz="1300" spc="-5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800000"/>
                </a:solidFill>
                <a:latin typeface="Courier New"/>
                <a:cs typeface="Courier New"/>
              </a:rPr>
              <a:t>client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6725" y="5867583"/>
            <a:ext cx="235966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0000FF"/>
                </a:solidFill>
                <a:latin typeface="Courier New"/>
                <a:cs typeface="Courier New"/>
              </a:rPr>
              <a:t>HAVING</a:t>
            </a:r>
            <a:r>
              <a:rPr sz="1300" spc="-9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800000"/>
                </a:solidFill>
                <a:latin typeface="Courier New"/>
                <a:cs typeface="Courier New"/>
              </a:rPr>
              <a:t>order_count</a:t>
            </a:r>
            <a:r>
              <a:rPr sz="1300" spc="-175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sz="1300">
                <a:solidFill>
                  <a:srgbClr val="C0C0C0"/>
                </a:solidFill>
                <a:latin typeface="Courier New"/>
                <a:cs typeface="Courier New"/>
              </a:rPr>
              <a:t>&gt;=</a:t>
            </a:r>
            <a:r>
              <a:rPr sz="1300" spc="-15">
                <a:solidFill>
                  <a:srgbClr val="C0C0C0"/>
                </a:solidFill>
                <a:latin typeface="Courier New"/>
                <a:cs typeface="Courier New"/>
              </a:rPr>
              <a:t> </a:t>
            </a:r>
            <a:r>
              <a:rPr lang="en-US" sz="1300" spc="-25" dirty="0" smtClean="0">
                <a:solidFill>
                  <a:srgbClr val="434343"/>
                </a:solidFill>
                <a:latin typeface="Courier New"/>
                <a:cs typeface="Courier New"/>
              </a:rPr>
              <a:t>2</a:t>
            </a:r>
            <a:r>
              <a:rPr sz="1300" spc="-25" smtClean="0">
                <a:solidFill>
                  <a:srgbClr val="C0C0C0"/>
                </a:solidFill>
                <a:latin typeface="Courier New"/>
                <a:cs typeface="Courier New"/>
              </a:rPr>
              <a:t>;</a:t>
            </a:r>
            <a:endParaRPr sz="1300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33" y="1901975"/>
            <a:ext cx="620721" cy="827624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519562" y="1895816"/>
          <a:ext cx="4258944" cy="3561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7680"/>
                <a:gridCol w="1414145"/>
                <a:gridCol w="1336039"/>
                <a:gridCol w="1021080"/>
              </a:tblGrid>
              <a:tr h="58674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b="1" spc="-25" dirty="0">
                          <a:latin typeface="Arial"/>
                          <a:cs typeface="Arial"/>
                        </a:rPr>
                        <a:t>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client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sales_amount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b="1" spc="-20" dirty="0">
                          <a:latin typeface="Arial"/>
                          <a:cs typeface="Arial"/>
                        </a:rPr>
                        <a:t>date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D13368"/>
                    </a:solidFill>
                  </a:tcPr>
                </a:tc>
              </a:tr>
              <a:tr h="513927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0" dirty="0">
                          <a:latin typeface="Microsoft Sans Serif"/>
                          <a:cs typeface="Microsoft Sans Serif"/>
                        </a:rPr>
                        <a:t>Петр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102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2012-10-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23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13927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Василий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47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2012-10-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27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723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Мария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18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</a:t>
                      </a:r>
                      <a:r>
                        <a:rPr sz="1600" spc="-40" dirty="0">
                          <a:latin typeface="Microsoft Sans Serif"/>
                          <a:cs typeface="Microsoft Sans Serif"/>
                        </a:rPr>
                        <a:t>11-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05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723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Мария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20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</a:t>
                      </a:r>
                      <a:r>
                        <a:rPr sz="1600" spc="-40" dirty="0">
                          <a:latin typeface="Microsoft Sans Serif"/>
                          <a:cs typeface="Microsoft Sans Serif"/>
                        </a:rPr>
                        <a:t>11-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14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7234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0" dirty="0">
                          <a:latin typeface="Microsoft Sans Serif"/>
                          <a:cs typeface="Microsoft Sans Serif"/>
                        </a:rPr>
                        <a:t>Петр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160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2012-12-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03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5833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685800" y="4851401"/>
            <a:ext cx="37338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/>
            <a:r>
              <a:rPr lang="en-US" sz="1200" dirty="0" smtClean="0">
                <a:solidFill>
                  <a:srgbClr val="0000FF"/>
                </a:solidFill>
                <a:latin typeface="Courier New"/>
                <a:cs typeface="Courier New"/>
              </a:rPr>
              <a:t>SELECT</a:t>
            </a:r>
            <a:r>
              <a:rPr lang="en-US" sz="1200" spc="-130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sz="1200" spc="-10" dirty="0" smtClean="0">
                <a:solidFill>
                  <a:srgbClr val="800000"/>
                </a:solidFill>
                <a:latin typeface="Courier New"/>
                <a:cs typeface="Courier New"/>
              </a:rPr>
              <a:t>client</a:t>
            </a:r>
            <a:r>
              <a:rPr lang="en-US" sz="1200" spc="-10" dirty="0" smtClean="0">
                <a:solidFill>
                  <a:srgbClr val="C0C0C0"/>
                </a:solidFill>
                <a:latin typeface="Courier New"/>
                <a:cs typeface="Courier New"/>
              </a:rPr>
              <a:t>,</a:t>
            </a:r>
            <a:r>
              <a:rPr lang="en-US" sz="1200" i="1" dirty="0" smtClean="0">
                <a:solidFill>
                  <a:srgbClr val="FF00FF"/>
                </a:solidFill>
                <a:latin typeface="Courier New"/>
                <a:cs typeface="Courier New"/>
              </a:rPr>
              <a:t> Count</a:t>
            </a:r>
            <a:r>
              <a:rPr lang="en-US" sz="1200" dirty="0" smtClean="0">
                <a:solidFill>
                  <a:srgbClr val="800000"/>
                </a:solidFill>
                <a:latin typeface="Courier New"/>
                <a:cs typeface="Courier New"/>
              </a:rPr>
              <a:t>(</a:t>
            </a:r>
            <a:r>
              <a:rPr lang="en-US" sz="1200" dirty="0" smtClean="0">
                <a:solidFill>
                  <a:srgbClr val="C0C0C0"/>
                </a:solidFill>
                <a:latin typeface="Courier New"/>
                <a:cs typeface="Courier New"/>
              </a:rPr>
              <a:t>*</a:t>
            </a:r>
            <a:r>
              <a:rPr lang="en-US" sz="1200" dirty="0" smtClean="0">
                <a:solidFill>
                  <a:srgbClr val="800000"/>
                </a:solidFill>
                <a:latin typeface="Courier New"/>
                <a:cs typeface="Courier New"/>
              </a:rPr>
              <a:t>)</a:t>
            </a:r>
            <a:r>
              <a:rPr lang="en-US" sz="1200" spc="-65" dirty="0" smtClean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urier New"/>
                <a:cs typeface="Courier New"/>
              </a:rPr>
              <a:t>AS</a:t>
            </a:r>
            <a:r>
              <a:rPr lang="en-US" sz="1200" spc="-70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sz="1200" spc="-10" dirty="0" err="1" smtClean="0">
                <a:solidFill>
                  <a:srgbClr val="800000"/>
                </a:solidFill>
                <a:latin typeface="Courier New"/>
                <a:cs typeface="Courier New"/>
              </a:rPr>
              <a:t>order_count</a:t>
            </a:r>
            <a:endParaRPr lang="en-US" sz="1200" dirty="0" smtClean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860169"/>
          </a:xfrm>
          <a:prstGeom prst="rect">
            <a:avLst/>
          </a:prstGeom>
        </p:spPr>
        <p:txBody>
          <a:bodyPr vert="horz" wrap="square" lIns="0" tIns="181290" rIns="0" bIns="0" rtlCol="0">
            <a:spAutoFit/>
          </a:bodyPr>
          <a:lstStyle/>
          <a:p>
            <a:pPr marL="39052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GROUP</a:t>
            </a:r>
            <a:r>
              <a:rPr spc="-80" dirty="0"/>
              <a:t> BY</a:t>
            </a:r>
            <a:r>
              <a:rPr spc="-85" dirty="0"/>
              <a:t> </a:t>
            </a:r>
            <a:r>
              <a:rPr dirty="0"/>
              <a:t>+</a:t>
            </a:r>
            <a:r>
              <a:rPr spc="-80" dirty="0"/>
              <a:t> </a:t>
            </a:r>
            <a:r>
              <a:rPr spc="-10" dirty="0"/>
              <a:t>HAVING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3575" y="1928204"/>
            <a:ext cx="7512684" cy="11951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500" b="1" dirty="0">
                <a:solidFill>
                  <a:srgbClr val="434343"/>
                </a:solidFill>
                <a:latin typeface="Roboto"/>
                <a:cs typeface="Roboto"/>
              </a:rPr>
              <a:t>HAVING</a:t>
            </a:r>
            <a:r>
              <a:rPr sz="1500" b="1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фильтрует</a:t>
            </a:r>
            <a:r>
              <a:rPr sz="15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строки</a:t>
            </a:r>
            <a:r>
              <a:rPr sz="15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внутри</a:t>
            </a:r>
            <a:r>
              <a:rPr sz="15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каждой</a:t>
            </a:r>
            <a:r>
              <a:rPr sz="15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группы</a:t>
            </a:r>
            <a:r>
              <a:rPr sz="15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GROUP</a:t>
            </a:r>
            <a:r>
              <a:rPr sz="15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95" dirty="0">
                <a:solidFill>
                  <a:srgbClr val="434343"/>
                </a:solidFill>
                <a:latin typeface="Roboto"/>
                <a:cs typeface="Roboto"/>
              </a:rPr>
              <a:t>BY.</a:t>
            </a:r>
            <a:r>
              <a:rPr sz="1500" spc="-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Строки</a:t>
            </a:r>
            <a:r>
              <a:rPr sz="15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фильтруются</a:t>
            </a:r>
            <a:r>
              <a:rPr sz="1500" spc="-4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50" dirty="0">
                <a:solidFill>
                  <a:srgbClr val="434343"/>
                </a:solidFill>
                <a:latin typeface="Roboto"/>
                <a:cs typeface="Roboto"/>
              </a:rPr>
              <a:t>в 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соответствии</a:t>
            </a:r>
            <a:r>
              <a:rPr sz="15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с</a:t>
            </a:r>
            <a:r>
              <a:rPr sz="15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условием</a:t>
            </a:r>
            <a:r>
              <a:rPr sz="15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к</a:t>
            </a:r>
            <a:r>
              <a:rPr sz="15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агрегированному</a:t>
            </a:r>
            <a:r>
              <a:rPr sz="15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значению</a:t>
            </a:r>
            <a:r>
              <a:rPr sz="150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(sum,</a:t>
            </a:r>
            <a:r>
              <a:rPr sz="15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count,</a:t>
            </a:r>
            <a:r>
              <a:rPr sz="15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20" dirty="0">
                <a:solidFill>
                  <a:srgbClr val="434343"/>
                </a:solidFill>
                <a:latin typeface="Roboto"/>
                <a:cs typeface="Roboto"/>
              </a:rPr>
              <a:t>avg)</a:t>
            </a:r>
            <a:endParaRPr sz="15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Без</a:t>
            </a:r>
            <a:r>
              <a:rPr sz="1500" spc="-35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HAVING</a:t>
            </a:r>
            <a:r>
              <a:rPr sz="15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нужно</a:t>
            </a:r>
            <a:r>
              <a:rPr sz="15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было</a:t>
            </a:r>
            <a:r>
              <a:rPr sz="15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бы</a:t>
            </a:r>
            <a:r>
              <a:rPr sz="15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написать</a:t>
            </a:r>
            <a:r>
              <a:rPr sz="15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434343"/>
                </a:solidFill>
                <a:latin typeface="Roboto"/>
                <a:cs typeface="Roboto"/>
              </a:rPr>
              <a:t>несколько</a:t>
            </a:r>
            <a:r>
              <a:rPr sz="1500" spc="-3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434343"/>
                </a:solidFill>
                <a:latin typeface="Roboto"/>
                <a:cs typeface="Roboto"/>
              </a:rPr>
              <a:t>запросов.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1649" y="1963667"/>
            <a:ext cx="99060" cy="789093"/>
          </a:xfrm>
          <a:custGeom>
            <a:avLst/>
            <a:gdLst/>
            <a:ahLst/>
            <a:cxnLst/>
            <a:rect l="l" t="t" r="r" b="b"/>
            <a:pathLst>
              <a:path w="99059" h="591819">
                <a:moveTo>
                  <a:pt x="98999" y="591299"/>
                </a:moveTo>
                <a:lnTo>
                  <a:pt x="0" y="591299"/>
                </a:lnTo>
                <a:lnTo>
                  <a:pt x="0" y="0"/>
                </a:lnTo>
                <a:lnTo>
                  <a:pt x="98999" y="0"/>
                </a:lnTo>
                <a:lnTo>
                  <a:pt x="98999" y="591299"/>
                </a:lnTo>
                <a:close/>
              </a:path>
            </a:pathLst>
          </a:custGeom>
          <a:solidFill>
            <a:srgbClr val="D1336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050" y="3764907"/>
            <a:ext cx="7261655" cy="2917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24B7F9-6579-4157-B1E2-9C4400EF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Вложенные функции агрегации</a:t>
            </a:r>
            <a:endParaRPr lang="ru-RU" sz="3600" dirty="0"/>
          </a:p>
        </p:txBody>
      </p:sp>
      <p:sp>
        <p:nvSpPr>
          <p:cNvPr id="4" name="Rectangle 1026">
            <a:extLst>
              <a:ext uri="{FF2B5EF4-FFF2-40B4-BE49-F238E27FC236}">
                <a16:creationId xmlns="" xmlns:a16="http://schemas.microsoft.com/office/drawing/2014/main" id="{7115B31A-D030-4F66-9571-F7568BC4122B}"/>
              </a:ext>
            </a:extLst>
          </p:cNvPr>
          <p:cNvSpPr>
            <a:spLocks noChangeArrowheads="1"/>
          </p:cNvSpPr>
          <p:nvPr/>
        </p:nvSpPr>
        <p:spPr bwMode="blackGray">
          <a:xfrm>
            <a:off x="866775" y="2590791"/>
            <a:ext cx="7300913" cy="965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lvl1pPr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tabLst>
                <a:tab pos="12001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SELECT   MAX(AVG(salary))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FROM     employees</a:t>
            </a: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GROUP BY </a:t>
            </a:r>
            <a:r>
              <a:rPr lang="en-US" altLang="ru-RU" dirty="0" err="1">
                <a:solidFill>
                  <a:srgbClr val="000000"/>
                </a:solidFill>
                <a:latin typeface="Courier New" panose="02070309020205020404" pitchFamily="49" charset="0"/>
              </a:rPr>
              <a:t>department_id</a:t>
            </a:r>
            <a:r>
              <a:rPr lang="en-US" alt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5" name="Rectangle 1032">
            <a:extLst>
              <a:ext uri="{FF2B5EF4-FFF2-40B4-BE49-F238E27FC236}">
                <a16:creationId xmlns="" xmlns:a16="http://schemas.microsoft.com/office/drawing/2014/main" id="{F2742B5A-A844-40B9-851F-F54A43D730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658258"/>
            <a:ext cx="7918450" cy="1751013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ru-RU" altLang="ru-RU" sz="2400" dirty="0" smtClean="0"/>
              <a:t>Отобрази максимальную среднюю зарплату среди отделов</a:t>
            </a:r>
            <a:r>
              <a:rPr lang="en-US" altLang="ru-RU" sz="2400" dirty="0" smtClean="0"/>
              <a:t>:</a:t>
            </a:r>
            <a:endParaRPr lang="en-US" altLang="ru-RU" sz="2400" dirty="0"/>
          </a:p>
        </p:txBody>
      </p:sp>
      <p:sp>
        <p:nvSpPr>
          <p:cNvPr id="6" name="Rectangle 1029">
            <a:extLst>
              <a:ext uri="{FF2B5EF4-FFF2-40B4-BE49-F238E27FC236}">
                <a16:creationId xmlns="" xmlns:a16="http://schemas.microsoft.com/office/drawing/2014/main" id="{057A830C-76EA-448F-853D-5623C42CC6E3}"/>
              </a:ext>
            </a:extLst>
          </p:cNvPr>
          <p:cNvSpPr>
            <a:spLocks noChangeArrowheads="1"/>
          </p:cNvSpPr>
          <p:nvPr/>
        </p:nvSpPr>
        <p:spPr bwMode="gray">
          <a:xfrm>
            <a:off x="2100263" y="2662229"/>
            <a:ext cx="2273300" cy="2667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ru-RU"/>
          </a:p>
        </p:txBody>
      </p:sp>
      <p:pic>
        <p:nvPicPr>
          <p:cNvPr id="7" name="Picture 1034" descr="C:\salome_official\projects\11gR2\screenshots\les5_26s_a.gif">
            <a:extLst>
              <a:ext uri="{FF2B5EF4-FFF2-40B4-BE49-F238E27FC236}">
                <a16:creationId xmlns="" xmlns:a16="http://schemas.microsoft.com/office/drawing/2014/main" id="{1DA018F2-D38A-45B3-826D-0579F6E5C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25" y="3775066"/>
            <a:ext cx="3406775" cy="4683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36591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24B7F9-6579-4157-B1E2-9C4400EF3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 smtClean="0"/>
              <a:t>Вопрос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01A3BC8-43A5-4737-88A0-CA428997B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ru-RU" altLang="ru-RU" dirty="0" smtClean="0"/>
              <a:t>Выберите два корректных правила для выражения </a:t>
            </a:r>
            <a:r>
              <a:rPr lang="en-US" altLang="ru-RU" dirty="0" smtClean="0">
                <a:latin typeface="Courier New" panose="02070309020205020404" pitchFamily="49" charset="0"/>
              </a:rPr>
              <a:t>GROUP</a:t>
            </a:r>
            <a:r>
              <a:rPr lang="en-US" altLang="ru-RU" dirty="0" smtClean="0"/>
              <a:t> </a:t>
            </a:r>
            <a:r>
              <a:rPr lang="en-US" altLang="ru-RU" dirty="0" smtClean="0">
                <a:latin typeface="Courier New" panose="02070309020205020404" pitchFamily="49" charset="0"/>
              </a:rPr>
              <a:t>BY</a:t>
            </a:r>
            <a:r>
              <a:rPr lang="ru-RU" altLang="ru-RU" dirty="0" smtClean="0">
                <a:latin typeface="Courier New" panose="02070309020205020404" pitchFamily="49" charset="0"/>
              </a:rPr>
              <a:t>:</a:t>
            </a:r>
            <a:endParaRPr lang="en-US" altLang="ru-RU" dirty="0"/>
          </a:p>
          <a:p>
            <a:pPr marL="571500" lvl="1" indent="-457200">
              <a:buFont typeface="Arial" panose="020B0604020202020204" pitchFamily="34" charset="0"/>
              <a:buAutoNum type="alphaLcPeriod"/>
            </a:pPr>
            <a:r>
              <a:rPr lang="ru-RU" altLang="ru-RU" sz="2000" dirty="0" smtClean="0"/>
              <a:t>Вы не можете использовать псевдоним столбца в выражении GROUP BY.</a:t>
            </a:r>
          </a:p>
          <a:p>
            <a:pPr marL="571500" lvl="1" indent="-457200">
              <a:buFont typeface="Arial" panose="020B0604020202020204" pitchFamily="34" charset="0"/>
              <a:buAutoNum type="alphaLcPeriod"/>
            </a:pPr>
            <a:r>
              <a:rPr lang="ru-RU" altLang="ru-RU" sz="2000" dirty="0" smtClean="0"/>
              <a:t>Столбец GROUP BY должен быть в выражении SELECT.</a:t>
            </a:r>
          </a:p>
          <a:p>
            <a:pPr marL="571500" lvl="1" indent="-457200">
              <a:buFont typeface="Arial" panose="020B0604020202020204" pitchFamily="34" charset="0"/>
              <a:buAutoNum type="alphaLcPeriod"/>
            </a:pPr>
            <a:r>
              <a:rPr lang="ru-RU" altLang="ru-RU" sz="2000" dirty="0" smtClean="0"/>
              <a:t>Используя выражение WHERE, вы можете исключить строки перед разделением их на группы.</a:t>
            </a:r>
          </a:p>
          <a:p>
            <a:pPr marL="571500" lvl="1" indent="-457200">
              <a:buFont typeface="Arial" panose="020B0604020202020204" pitchFamily="34" charset="0"/>
              <a:buAutoNum type="alphaLcPeriod"/>
            </a:pPr>
            <a:r>
              <a:rPr lang="ru-RU" altLang="ru-RU" sz="2000" dirty="0" smtClean="0"/>
              <a:t>выражение GROUP BY группирует строки и обеспечивает порядок набора результатов.</a:t>
            </a:r>
          </a:p>
          <a:p>
            <a:pPr marL="571500" lvl="1" indent="-457200">
              <a:buFont typeface="Arial" panose="020B0604020202020204" pitchFamily="34" charset="0"/>
              <a:buAutoNum type="alphaLcPeriod"/>
            </a:pPr>
            <a:r>
              <a:rPr lang="ru-RU" altLang="ru-RU" sz="2000" dirty="0" smtClean="0"/>
              <a:t>Если вы включаете групповую функцию в выражение SELECT, вы должны применять выражение GROUP BY.</a:t>
            </a:r>
            <a:endParaRPr lang="ru-RU" sz="2000" dirty="0"/>
          </a:p>
        </p:txBody>
      </p:sp>
    </p:spTree>
    <p:extLst>
      <p:ext uri="{BB962C8B-B14F-4D97-AF65-F5344CB8AC3E}">
        <p14:creationId xmlns="" xmlns:p14="http://schemas.microsoft.com/office/powerpoint/2010/main" val="27738188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39973" y="152187"/>
            <a:ext cx="473075" cy="618067"/>
            <a:chOff x="8539972" y="114140"/>
            <a:chExt cx="473075" cy="463550"/>
          </a:xfrm>
        </p:grpSpPr>
        <p:sp>
          <p:nvSpPr>
            <p:cNvPr id="3" name="object 3"/>
            <p:cNvSpPr/>
            <p:nvPr/>
          </p:nvSpPr>
          <p:spPr>
            <a:xfrm>
              <a:off x="8539972" y="114140"/>
              <a:ext cx="473075" cy="463550"/>
            </a:xfrm>
            <a:custGeom>
              <a:avLst/>
              <a:gdLst/>
              <a:ahLst/>
              <a:cxnLst/>
              <a:rect l="l" t="t" r="r" b="b"/>
              <a:pathLst>
                <a:path w="473075" h="463550">
                  <a:moveTo>
                    <a:pt x="236292" y="463405"/>
                  </a:moveTo>
                  <a:lnTo>
                    <a:pt x="188671" y="458698"/>
                  </a:lnTo>
                  <a:lnTo>
                    <a:pt x="144316" y="445197"/>
                  </a:lnTo>
                  <a:lnTo>
                    <a:pt x="104179" y="423834"/>
                  </a:lnTo>
                  <a:lnTo>
                    <a:pt x="69208" y="395541"/>
                  </a:lnTo>
                  <a:lnTo>
                    <a:pt x="40354" y="361249"/>
                  </a:lnTo>
                  <a:lnTo>
                    <a:pt x="18568" y="321891"/>
                  </a:lnTo>
                  <a:lnTo>
                    <a:pt x="4800" y="278398"/>
                  </a:lnTo>
                  <a:lnTo>
                    <a:pt x="0" y="231702"/>
                  </a:lnTo>
                  <a:lnTo>
                    <a:pt x="4800" y="185006"/>
                  </a:lnTo>
                  <a:lnTo>
                    <a:pt x="18568" y="141513"/>
                  </a:lnTo>
                  <a:lnTo>
                    <a:pt x="40354" y="102155"/>
                  </a:lnTo>
                  <a:lnTo>
                    <a:pt x="69208" y="67864"/>
                  </a:lnTo>
                  <a:lnTo>
                    <a:pt x="104179" y="39571"/>
                  </a:lnTo>
                  <a:lnTo>
                    <a:pt x="144316" y="18208"/>
                  </a:lnTo>
                  <a:lnTo>
                    <a:pt x="188671" y="4707"/>
                  </a:lnTo>
                  <a:lnTo>
                    <a:pt x="236292" y="0"/>
                  </a:lnTo>
                  <a:lnTo>
                    <a:pt x="282605" y="4493"/>
                  </a:lnTo>
                  <a:lnTo>
                    <a:pt x="326716" y="17637"/>
                  </a:lnTo>
                  <a:lnTo>
                    <a:pt x="367387" y="38928"/>
                  </a:lnTo>
                  <a:lnTo>
                    <a:pt x="403375" y="67864"/>
                  </a:lnTo>
                  <a:lnTo>
                    <a:pt x="432884" y="103153"/>
                  </a:lnTo>
                  <a:lnTo>
                    <a:pt x="454597" y="143033"/>
                  </a:lnTo>
                  <a:lnTo>
                    <a:pt x="468002" y="186288"/>
                  </a:lnTo>
                  <a:lnTo>
                    <a:pt x="472584" y="231702"/>
                  </a:lnTo>
                  <a:lnTo>
                    <a:pt x="467783" y="278398"/>
                  </a:lnTo>
                  <a:lnTo>
                    <a:pt x="454015" y="321891"/>
                  </a:lnTo>
                  <a:lnTo>
                    <a:pt x="432229" y="361249"/>
                  </a:lnTo>
                  <a:lnTo>
                    <a:pt x="403375" y="395541"/>
                  </a:lnTo>
                  <a:lnTo>
                    <a:pt x="368405" y="423834"/>
                  </a:lnTo>
                  <a:lnTo>
                    <a:pt x="328267" y="445197"/>
                  </a:lnTo>
                  <a:lnTo>
                    <a:pt x="283913" y="458698"/>
                  </a:lnTo>
                  <a:lnTo>
                    <a:pt x="236292" y="463405"/>
                  </a:lnTo>
                  <a:close/>
                </a:path>
              </a:pathLst>
            </a:custGeom>
            <a:solidFill>
              <a:srgbClr val="98D11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01865" y="176031"/>
              <a:ext cx="348739" cy="3396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6084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F7F7F"/>
                </a:solidFill>
                <a:latin typeface="Times New Roman"/>
                <a:cs typeface="Times New Roman"/>
              </a:rPr>
              <a:t>Функции</a:t>
            </a:r>
            <a:r>
              <a:rPr sz="1800" b="1" spc="4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7F7F7F"/>
                </a:solidFill>
                <a:latin typeface="Times New Roman"/>
                <a:cs typeface="Times New Roman"/>
              </a:rPr>
              <a:t>агрегирования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3197" y="275843"/>
            <a:ext cx="33900" cy="4451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7101" y="1174167"/>
            <a:ext cx="7587449" cy="29673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86226" y="4513251"/>
            <a:ext cx="5997575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Важно!</a:t>
            </a:r>
            <a:endParaRPr sz="1400">
              <a:latin typeface="Arial"/>
              <a:cs typeface="Arial"/>
            </a:endParaRPr>
          </a:p>
          <a:p>
            <a:pPr marL="208915" indent="-196215">
              <a:lnSpc>
                <a:spcPct val="100000"/>
              </a:lnSpc>
              <a:buAutoNum type="arabicPeriod"/>
              <a:tabLst>
                <a:tab pos="208915" algn="l"/>
              </a:tabLst>
            </a:pPr>
            <a:r>
              <a:rPr sz="1400" spc="-30" dirty="0">
                <a:latin typeface="Microsoft Sans Serif"/>
                <a:cs typeface="Microsoft Sans Serif"/>
              </a:rPr>
              <a:t>Функции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агрегирования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не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работают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со</a:t>
            </a:r>
            <a:r>
              <a:rPr sz="1400" spc="-20" dirty="0">
                <a:latin typeface="Microsoft Sans Serif"/>
                <a:cs typeface="Microsoft Sans Serif"/>
              </a:rPr>
              <a:t> значениями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NULL.</a:t>
            </a:r>
            <a:endParaRPr sz="1400">
              <a:latin typeface="Microsoft Sans Serif"/>
              <a:cs typeface="Microsoft Sans Serif"/>
            </a:endParaRPr>
          </a:p>
          <a:p>
            <a:pPr marL="208915" indent="-196215">
              <a:lnSpc>
                <a:spcPct val="100000"/>
              </a:lnSpc>
              <a:buAutoNum type="arabicPeriod"/>
              <a:tabLst>
                <a:tab pos="208915" algn="l"/>
              </a:tabLst>
            </a:pPr>
            <a:r>
              <a:rPr sz="1400" spc="-25" dirty="0">
                <a:latin typeface="Microsoft Sans Serif"/>
                <a:cs typeface="Microsoft Sans Serif"/>
              </a:rPr>
              <a:t>Раздел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WHERE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не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допускает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использования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функций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агрегирования.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293224"/>
            <a:ext cx="261429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F7F7F"/>
                </a:solidFill>
                <a:latin typeface="Times New Roman"/>
                <a:cs typeface="Times New Roman"/>
              </a:rPr>
              <a:t>Функции</a:t>
            </a:r>
            <a:r>
              <a:rPr sz="1800" b="1" spc="4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7F7F7F"/>
                </a:solidFill>
                <a:latin typeface="Times New Roman"/>
                <a:cs typeface="Times New Roman"/>
              </a:rPr>
              <a:t>агрегирования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197" y="275843"/>
            <a:ext cx="33900" cy="445196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08438" y="1049983"/>
          <a:ext cx="8274685" cy="4512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8305"/>
                <a:gridCol w="6596380"/>
              </a:tblGrid>
              <a:tr h="52747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10" dirty="0">
                          <a:latin typeface="+mn-lt"/>
                          <a:cs typeface="Microsoft Sans Serif"/>
                        </a:rPr>
                        <a:t>AVG(&lt;поле&gt;)</a:t>
                      </a:r>
                      <a:endParaRPr sz="1900">
                        <a:latin typeface="+mn-lt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dirty="0">
                          <a:latin typeface="+mn-lt"/>
                          <a:cs typeface="Microsoft Sans Serif"/>
                        </a:rPr>
                        <a:t>Среднее</a:t>
                      </a:r>
                      <a:r>
                        <a:rPr sz="1900" spc="-35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10" dirty="0">
                          <a:latin typeface="+mn-lt"/>
                          <a:cs typeface="Microsoft Sans Serif"/>
                        </a:rPr>
                        <a:t>значение</a:t>
                      </a:r>
                      <a:r>
                        <a:rPr sz="1900" spc="-3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dirty="0">
                          <a:latin typeface="+mn-lt"/>
                          <a:cs typeface="Microsoft Sans Serif"/>
                        </a:rPr>
                        <a:t>для</a:t>
                      </a:r>
                      <a:r>
                        <a:rPr sz="1900" spc="-3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20" dirty="0">
                          <a:latin typeface="+mn-lt"/>
                          <a:cs typeface="Microsoft Sans Serif"/>
                        </a:rPr>
                        <a:t>указанного</a:t>
                      </a:r>
                      <a:r>
                        <a:rPr sz="1900" spc="-3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dirty="0">
                          <a:latin typeface="+mn-lt"/>
                          <a:cs typeface="Microsoft Sans Serif"/>
                        </a:rPr>
                        <a:t>столбца</a:t>
                      </a:r>
                      <a:r>
                        <a:rPr sz="1900" spc="-3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dirty="0">
                          <a:latin typeface="+mn-lt"/>
                          <a:cs typeface="Microsoft Sans Serif"/>
                        </a:rPr>
                        <a:t>или</a:t>
                      </a:r>
                      <a:r>
                        <a:rPr sz="1900" spc="-3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10" dirty="0">
                          <a:latin typeface="+mn-lt"/>
                          <a:cs typeface="Microsoft Sans Serif"/>
                        </a:rPr>
                        <a:t>выражения</a:t>
                      </a:r>
                      <a:endParaRPr sz="1900">
                        <a:latin typeface="+mn-lt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81195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900" spc="-10" dirty="0">
                          <a:latin typeface="+mn-lt"/>
                          <a:cs typeface="Microsoft Sans Serif"/>
                        </a:rPr>
                        <a:t>COUNT(&lt;поле&gt;)</a:t>
                      </a:r>
                      <a:endParaRPr sz="1900">
                        <a:latin typeface="+mn-lt"/>
                        <a:cs typeface="Microsoft Sans Serif"/>
                      </a:endParaRPr>
                    </a:p>
                  </a:txBody>
                  <a:tcPr marL="0" marR="0" marT="1041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900" spc="-20" dirty="0">
                          <a:latin typeface="+mn-lt"/>
                          <a:cs typeface="Microsoft Sans Serif"/>
                        </a:rPr>
                        <a:t>Количество </a:t>
                      </a:r>
                      <a:r>
                        <a:rPr sz="1900" spc="-10" dirty="0">
                          <a:latin typeface="+mn-lt"/>
                          <a:cs typeface="Microsoft Sans Serif"/>
                        </a:rPr>
                        <a:t>строк,</a:t>
                      </a:r>
                      <a:r>
                        <a:rPr sz="1900" spc="-25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10" dirty="0">
                          <a:latin typeface="+mn-lt"/>
                          <a:cs typeface="Microsoft Sans Serif"/>
                        </a:rPr>
                        <a:t>исключая</a:t>
                      </a:r>
                      <a:r>
                        <a:rPr sz="1900" spc="-15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20" dirty="0">
                          <a:latin typeface="+mn-lt"/>
                          <a:cs typeface="Microsoft Sans Serif"/>
                        </a:rPr>
                        <a:t>NULL-</a:t>
                      </a:r>
                      <a:r>
                        <a:rPr sz="1900" dirty="0">
                          <a:latin typeface="+mn-lt"/>
                          <a:cs typeface="Microsoft Sans Serif"/>
                        </a:rPr>
                        <a:t>строки</a:t>
                      </a:r>
                      <a:r>
                        <a:rPr sz="1900" spc="-2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dirty="0">
                          <a:latin typeface="+mn-lt"/>
                          <a:cs typeface="Microsoft Sans Serif"/>
                        </a:rPr>
                        <a:t>в</a:t>
                      </a:r>
                      <a:r>
                        <a:rPr sz="1900" spc="-15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20" dirty="0">
                          <a:latin typeface="+mn-lt"/>
                          <a:cs typeface="Microsoft Sans Serif"/>
                        </a:rPr>
                        <a:t>указанном </a:t>
                      </a:r>
                      <a:r>
                        <a:rPr sz="1900" spc="-10" dirty="0">
                          <a:latin typeface="+mn-lt"/>
                          <a:cs typeface="Microsoft Sans Serif"/>
                        </a:rPr>
                        <a:t>столбце</a:t>
                      </a:r>
                      <a:endParaRPr sz="1900">
                        <a:latin typeface="+mn-lt"/>
                        <a:cs typeface="Microsoft Sans Serif"/>
                      </a:endParaRPr>
                    </a:p>
                  </a:txBody>
                  <a:tcPr marL="0" marR="0" marT="1041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2747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900" spc="-10" dirty="0">
                          <a:latin typeface="+mn-lt"/>
                          <a:cs typeface="Microsoft Sans Serif"/>
                        </a:rPr>
                        <a:t>COUNT(*)</a:t>
                      </a:r>
                      <a:endParaRPr sz="1900">
                        <a:latin typeface="+mn-lt"/>
                        <a:cs typeface="Microsoft Sans Serif"/>
                      </a:endParaRPr>
                    </a:p>
                  </a:txBody>
                  <a:tcPr marL="0" marR="0" marT="1041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900" dirty="0">
                          <a:latin typeface="+mn-lt"/>
                          <a:cs typeface="Microsoft Sans Serif"/>
                        </a:rPr>
                        <a:t>Общее</a:t>
                      </a:r>
                      <a:r>
                        <a:rPr sz="1900" spc="-3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10" dirty="0">
                          <a:latin typeface="+mn-lt"/>
                          <a:cs typeface="Microsoft Sans Serif"/>
                        </a:rPr>
                        <a:t>количество</a:t>
                      </a:r>
                      <a:r>
                        <a:rPr sz="1900" spc="-25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10" dirty="0">
                          <a:latin typeface="+mn-lt"/>
                          <a:cs typeface="Microsoft Sans Serif"/>
                        </a:rPr>
                        <a:t>строк,</a:t>
                      </a:r>
                      <a:r>
                        <a:rPr sz="1900" spc="-3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10" dirty="0">
                          <a:latin typeface="+mn-lt"/>
                          <a:cs typeface="Microsoft Sans Serif"/>
                        </a:rPr>
                        <a:t>включая</a:t>
                      </a:r>
                      <a:r>
                        <a:rPr sz="1900" spc="-25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20" dirty="0">
                          <a:latin typeface="+mn-lt"/>
                          <a:cs typeface="Microsoft Sans Serif"/>
                        </a:rPr>
                        <a:t>NULL-</a:t>
                      </a:r>
                      <a:r>
                        <a:rPr sz="1900" spc="-10" dirty="0">
                          <a:latin typeface="+mn-lt"/>
                          <a:cs typeface="Microsoft Sans Serif"/>
                        </a:rPr>
                        <a:t>строки</a:t>
                      </a:r>
                      <a:endParaRPr sz="1900">
                        <a:latin typeface="+mn-lt"/>
                        <a:cs typeface="Microsoft Sans Serif"/>
                      </a:endParaRPr>
                    </a:p>
                  </a:txBody>
                  <a:tcPr marL="0" marR="0" marT="1041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2747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10" dirty="0">
                          <a:latin typeface="+mn-lt"/>
                          <a:cs typeface="Microsoft Sans Serif"/>
                        </a:rPr>
                        <a:t>MAX(&lt;поле&gt;)</a:t>
                      </a:r>
                      <a:endParaRPr sz="1900">
                        <a:latin typeface="+mn-lt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10" dirty="0">
                          <a:latin typeface="+mn-lt"/>
                          <a:cs typeface="Microsoft Sans Serif"/>
                        </a:rPr>
                        <a:t>Максимальное</a:t>
                      </a:r>
                      <a:r>
                        <a:rPr sz="1900" spc="-35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10" dirty="0">
                          <a:latin typeface="+mn-lt"/>
                          <a:cs typeface="Microsoft Sans Serif"/>
                        </a:rPr>
                        <a:t>значение</a:t>
                      </a:r>
                      <a:r>
                        <a:rPr sz="1900" spc="-3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dirty="0">
                          <a:latin typeface="+mn-lt"/>
                          <a:cs typeface="Microsoft Sans Serif"/>
                        </a:rPr>
                        <a:t>в</a:t>
                      </a:r>
                      <a:r>
                        <a:rPr sz="1900" spc="-3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20" dirty="0">
                          <a:latin typeface="+mn-lt"/>
                          <a:cs typeface="Microsoft Sans Serif"/>
                        </a:rPr>
                        <a:t>указанном</a:t>
                      </a:r>
                      <a:r>
                        <a:rPr sz="1900" spc="-3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10" dirty="0">
                          <a:latin typeface="+mn-lt"/>
                          <a:cs typeface="Microsoft Sans Serif"/>
                        </a:rPr>
                        <a:t>столбце</a:t>
                      </a:r>
                      <a:endParaRPr sz="1900">
                        <a:latin typeface="+mn-lt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2747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10" dirty="0">
                          <a:latin typeface="+mn-lt"/>
                          <a:cs typeface="Microsoft Sans Serif"/>
                        </a:rPr>
                        <a:t>MIN(&lt;поле&gt;)</a:t>
                      </a:r>
                      <a:endParaRPr sz="1900">
                        <a:latin typeface="+mn-lt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10" dirty="0">
                          <a:latin typeface="+mn-lt"/>
                          <a:cs typeface="Microsoft Sans Serif"/>
                        </a:rPr>
                        <a:t>Минимальное</a:t>
                      </a:r>
                      <a:r>
                        <a:rPr sz="1900" spc="-25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10" dirty="0">
                          <a:latin typeface="+mn-lt"/>
                          <a:cs typeface="Microsoft Sans Serif"/>
                        </a:rPr>
                        <a:t>значение</a:t>
                      </a:r>
                      <a:r>
                        <a:rPr sz="1900" spc="-25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dirty="0">
                          <a:latin typeface="+mn-lt"/>
                          <a:cs typeface="Microsoft Sans Serif"/>
                        </a:rPr>
                        <a:t>в</a:t>
                      </a:r>
                      <a:r>
                        <a:rPr sz="1900" spc="-25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20" dirty="0">
                          <a:latin typeface="+mn-lt"/>
                          <a:cs typeface="Microsoft Sans Serif"/>
                        </a:rPr>
                        <a:t>указанном</a:t>
                      </a:r>
                      <a:r>
                        <a:rPr sz="1900" spc="-25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10" dirty="0">
                          <a:latin typeface="+mn-lt"/>
                          <a:cs typeface="Microsoft Sans Serif"/>
                        </a:rPr>
                        <a:t>столбце</a:t>
                      </a:r>
                      <a:endParaRPr sz="1900">
                        <a:latin typeface="+mn-lt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31707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10" dirty="0">
                          <a:latin typeface="+mn-lt"/>
                          <a:cs typeface="Microsoft Sans Serif"/>
                        </a:rPr>
                        <a:t>SUM(&lt;поле&gt;)</a:t>
                      </a:r>
                      <a:endParaRPr sz="1900">
                        <a:latin typeface="+mn-lt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10" dirty="0">
                          <a:latin typeface="+mn-lt"/>
                          <a:cs typeface="Microsoft Sans Serif"/>
                        </a:rPr>
                        <a:t>Сумма</a:t>
                      </a:r>
                      <a:r>
                        <a:rPr sz="1900" spc="-4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dirty="0">
                          <a:latin typeface="+mn-lt"/>
                          <a:cs typeface="Microsoft Sans Serif"/>
                        </a:rPr>
                        <a:t>всех</a:t>
                      </a:r>
                      <a:r>
                        <a:rPr sz="1900" spc="-35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10" dirty="0">
                          <a:latin typeface="+mn-lt"/>
                          <a:cs typeface="Microsoft Sans Serif"/>
                        </a:rPr>
                        <a:t>значений</a:t>
                      </a:r>
                      <a:r>
                        <a:rPr sz="1900" spc="-4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dirty="0">
                          <a:latin typeface="+mn-lt"/>
                          <a:cs typeface="Microsoft Sans Serif"/>
                        </a:rPr>
                        <a:t>в</a:t>
                      </a:r>
                      <a:r>
                        <a:rPr sz="1900" spc="-35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20" dirty="0">
                          <a:latin typeface="+mn-lt"/>
                          <a:cs typeface="Microsoft Sans Serif"/>
                        </a:rPr>
                        <a:t>указанном</a:t>
                      </a:r>
                      <a:r>
                        <a:rPr sz="1900" spc="-4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10" dirty="0">
                          <a:latin typeface="+mn-lt"/>
                          <a:cs typeface="Microsoft Sans Serif"/>
                        </a:rPr>
                        <a:t>столбце</a:t>
                      </a:r>
                      <a:endParaRPr sz="1900">
                        <a:latin typeface="+mn-lt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27473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10" dirty="0">
                          <a:latin typeface="+mn-lt"/>
                          <a:cs typeface="Microsoft Sans Serif"/>
                        </a:rPr>
                        <a:t>STDEV(&lt;поле&gt;)</a:t>
                      </a:r>
                      <a:endParaRPr sz="1900">
                        <a:latin typeface="+mn-lt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10" dirty="0">
                          <a:latin typeface="+mn-lt"/>
                          <a:cs typeface="Microsoft Sans Serif"/>
                        </a:rPr>
                        <a:t>Статистическое</a:t>
                      </a:r>
                      <a:r>
                        <a:rPr sz="1900" spc="-4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dirty="0">
                          <a:latin typeface="+mn-lt"/>
                          <a:cs typeface="Microsoft Sans Serif"/>
                        </a:rPr>
                        <a:t>стандартное</a:t>
                      </a:r>
                      <a:r>
                        <a:rPr sz="1900" spc="-4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10" dirty="0">
                          <a:latin typeface="+mn-lt"/>
                          <a:cs typeface="Microsoft Sans Serif"/>
                        </a:rPr>
                        <a:t>отклонение</a:t>
                      </a:r>
                      <a:r>
                        <a:rPr sz="1900" spc="-4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dirty="0">
                          <a:latin typeface="+mn-lt"/>
                          <a:cs typeface="Microsoft Sans Serif"/>
                        </a:rPr>
                        <a:t>для</a:t>
                      </a:r>
                      <a:r>
                        <a:rPr sz="1900" spc="-4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10" dirty="0">
                          <a:latin typeface="+mn-lt"/>
                          <a:cs typeface="Microsoft Sans Serif"/>
                        </a:rPr>
                        <a:t>значений</a:t>
                      </a:r>
                      <a:r>
                        <a:rPr sz="1900" spc="-4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10" dirty="0">
                          <a:latin typeface="+mn-lt"/>
                          <a:cs typeface="Microsoft Sans Serif"/>
                        </a:rPr>
                        <a:t>столбца</a:t>
                      </a:r>
                      <a:endParaRPr sz="1900">
                        <a:latin typeface="+mn-lt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531707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10" dirty="0">
                          <a:latin typeface="+mn-lt"/>
                          <a:cs typeface="Microsoft Sans Serif"/>
                        </a:rPr>
                        <a:t>VAR(&lt;поле&gt;)</a:t>
                      </a:r>
                      <a:endParaRPr sz="1900">
                        <a:latin typeface="+mn-lt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10" dirty="0">
                          <a:latin typeface="+mn-lt"/>
                          <a:cs typeface="Microsoft Sans Serif"/>
                        </a:rPr>
                        <a:t>Несмещенная</a:t>
                      </a:r>
                      <a:r>
                        <a:rPr sz="1900" spc="-4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dirty="0">
                          <a:latin typeface="+mn-lt"/>
                          <a:cs typeface="Microsoft Sans Serif"/>
                        </a:rPr>
                        <a:t>оценка</a:t>
                      </a:r>
                      <a:r>
                        <a:rPr sz="1900" spc="-4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10" dirty="0">
                          <a:latin typeface="+mn-lt"/>
                          <a:cs typeface="Microsoft Sans Serif"/>
                        </a:rPr>
                        <a:t>дисперсии</a:t>
                      </a:r>
                      <a:r>
                        <a:rPr sz="1900" spc="-4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10" dirty="0">
                          <a:latin typeface="+mn-lt"/>
                          <a:cs typeface="Microsoft Sans Serif"/>
                        </a:rPr>
                        <a:t>величин</a:t>
                      </a:r>
                      <a:r>
                        <a:rPr sz="1900" spc="-4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20" dirty="0">
                          <a:latin typeface="+mn-lt"/>
                          <a:cs typeface="Microsoft Sans Serif"/>
                        </a:rPr>
                        <a:t>указанного</a:t>
                      </a:r>
                      <a:r>
                        <a:rPr sz="1900" spc="-40" dirty="0">
                          <a:latin typeface="+mn-lt"/>
                          <a:cs typeface="Microsoft Sans Serif"/>
                        </a:rPr>
                        <a:t> </a:t>
                      </a:r>
                      <a:r>
                        <a:rPr sz="1900" spc="-10" dirty="0">
                          <a:latin typeface="+mn-lt"/>
                          <a:cs typeface="Microsoft Sans Serif"/>
                        </a:rPr>
                        <a:t>столбца</a:t>
                      </a:r>
                      <a:endParaRPr sz="1900">
                        <a:latin typeface="+mn-lt"/>
                        <a:cs typeface="Microsoft Sans Serif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500136" y="6201980"/>
            <a:ext cx="39814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u="heavy" spc="-5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Roboto"/>
                <a:cs typeface="Roboto"/>
                <a:hlinkClick r:id="rId3"/>
              </a:rPr>
              <a:t>https://www.db-</a:t>
            </a:r>
            <a:r>
              <a:rPr sz="14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Roboto"/>
                <a:cs typeface="Roboto"/>
                <a:hlinkClick r:id="rId3"/>
              </a:rPr>
              <a:t>fiddle.com/f/kVSgXux6384wV7LU</a:t>
            </a:r>
            <a:r>
              <a:rPr sz="1400" spc="-10" dirty="0">
                <a:solidFill>
                  <a:srgbClr val="0563C1"/>
                </a:solidFill>
                <a:latin typeface="Roboto"/>
                <a:cs typeface="Roboto"/>
              </a:rPr>
              <a:t> </a:t>
            </a:r>
            <a:r>
              <a:rPr sz="14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Roboto"/>
                <a:cs typeface="Roboto"/>
                <a:hlinkClick r:id="rId4"/>
              </a:rPr>
              <a:t>ZJwnQn/10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3377</TotalTime>
  <Words>1280</Words>
  <Application>Microsoft Office PowerPoint</Application>
  <PresentationFormat>Экран (4:3)</PresentationFormat>
  <Paragraphs>362</Paragraphs>
  <Slides>36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37" baseType="lpstr">
      <vt:lpstr>Office Theme</vt:lpstr>
      <vt:lpstr>Слайд 1</vt:lpstr>
      <vt:lpstr>Темы презентации</vt:lpstr>
      <vt:lpstr>What Are Group Functions?</vt:lpstr>
      <vt:lpstr>Types of Group Functions</vt:lpstr>
      <vt:lpstr>Агрегатные функции</vt:lpstr>
      <vt:lpstr>Group Functions: Syntax</vt:lpstr>
      <vt:lpstr>Агрегатные функции: пример</vt:lpstr>
      <vt:lpstr>Применение AVG и SUM функций</vt:lpstr>
      <vt:lpstr>Применение MIN и MAX функций</vt:lpstr>
      <vt:lpstr>Функция COUNT</vt:lpstr>
      <vt:lpstr>Применение оператора DISTINCT и COUNT</vt:lpstr>
      <vt:lpstr>Функции группировки и нулевые значения</vt:lpstr>
      <vt:lpstr>Слайд 13</vt:lpstr>
      <vt:lpstr>Слайд 14</vt:lpstr>
      <vt:lpstr>Создание группы данных</vt:lpstr>
      <vt:lpstr>Группировка данных: синтаксис оператора GROUP BY</vt:lpstr>
      <vt:lpstr>Применение выражения GROUP BY</vt:lpstr>
      <vt:lpstr>Применение выражения GROUP BY</vt:lpstr>
      <vt:lpstr>Группировка по более чем одной колонке</vt:lpstr>
      <vt:lpstr>Применение GROUP BY выражения для нескольких колонок</vt:lpstr>
      <vt:lpstr>Некорректные запросы на применение функций группировки</vt:lpstr>
      <vt:lpstr>Некорректные запросы на применение функций группировки</vt:lpstr>
      <vt:lpstr>GROUP BY: пример 1</vt:lpstr>
      <vt:lpstr>GROUP BY: пример 1</vt:lpstr>
      <vt:lpstr>GROUP BY: пример 2</vt:lpstr>
      <vt:lpstr>GROUP BY: пример 3</vt:lpstr>
      <vt:lpstr>Ограничение результатов группировки</vt:lpstr>
      <vt:lpstr>Ограничение результатов группы с помощью предложения HAVING</vt:lpstr>
      <vt:lpstr>Применение выражения HAVING</vt:lpstr>
      <vt:lpstr>Применение выражения HAVING</vt:lpstr>
      <vt:lpstr>GROUP BY + HAVING</vt:lpstr>
      <vt:lpstr>GROUP BY + HAVING</vt:lpstr>
      <vt:lpstr>Вложенные функции агрегации</vt:lpstr>
      <vt:lpstr>Вопрос</vt:lpstr>
      <vt:lpstr>Функции агрегирования</vt:lpstr>
      <vt:lpstr>Слайд 36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Suboch, Kirill</dc:creator>
  <cp:lastModifiedBy>andrey</cp:lastModifiedBy>
  <cp:revision>150</cp:revision>
  <dcterms:created xsi:type="dcterms:W3CDTF">2020-10-05T08:41:16Z</dcterms:created>
  <dcterms:modified xsi:type="dcterms:W3CDTF">2025-09-08T06:36:45Z</dcterms:modified>
</cp:coreProperties>
</file>